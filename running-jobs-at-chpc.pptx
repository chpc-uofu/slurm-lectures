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trictFirstAndLastChars="0" saveSubsetFonts="1">
  <p:sldMasterIdLst>
    <p:sldMasterId id="2147483818" r:id="rId1"/>
  </p:sldMasterIdLst>
  <p:notesMasterIdLst>
    <p:notesMasterId r:id="rId57"/>
  </p:notesMasterIdLst>
  <p:handoutMasterIdLst>
    <p:handoutMasterId r:id="rId58"/>
  </p:handoutMasterIdLst>
  <p:sldIdLst>
    <p:sldId id="298" r:id="rId2"/>
    <p:sldId id="356" r:id="rId3"/>
    <p:sldId id="456" r:id="rId4"/>
    <p:sldId id="394" r:id="rId5"/>
    <p:sldId id="403" r:id="rId6"/>
    <p:sldId id="398" r:id="rId7"/>
    <p:sldId id="399" r:id="rId8"/>
    <p:sldId id="400" r:id="rId9"/>
    <p:sldId id="457" r:id="rId10"/>
    <p:sldId id="368" r:id="rId11"/>
    <p:sldId id="483" r:id="rId12"/>
    <p:sldId id="484" r:id="rId13"/>
    <p:sldId id="485" r:id="rId14"/>
    <p:sldId id="486" r:id="rId15"/>
    <p:sldId id="487" r:id="rId16"/>
    <p:sldId id="488" r:id="rId17"/>
    <p:sldId id="489" r:id="rId18"/>
    <p:sldId id="490" r:id="rId19"/>
    <p:sldId id="491" r:id="rId20"/>
    <p:sldId id="492" r:id="rId21"/>
    <p:sldId id="425" r:id="rId22"/>
    <p:sldId id="371" r:id="rId23"/>
    <p:sldId id="428" r:id="rId24"/>
    <p:sldId id="493" r:id="rId25"/>
    <p:sldId id="494" r:id="rId26"/>
    <p:sldId id="495" r:id="rId27"/>
    <p:sldId id="496" r:id="rId28"/>
    <p:sldId id="497" r:id="rId29"/>
    <p:sldId id="296" r:id="rId30"/>
    <p:sldId id="436" r:id="rId31"/>
    <p:sldId id="435" r:id="rId32"/>
    <p:sldId id="458" r:id="rId33"/>
    <p:sldId id="455" r:id="rId34"/>
    <p:sldId id="459" r:id="rId35"/>
    <p:sldId id="481" r:id="rId36"/>
    <p:sldId id="466" r:id="rId37"/>
    <p:sldId id="460" r:id="rId38"/>
    <p:sldId id="461" r:id="rId39"/>
    <p:sldId id="467" r:id="rId40"/>
    <p:sldId id="462" r:id="rId41"/>
    <p:sldId id="471" r:id="rId42"/>
    <p:sldId id="480" r:id="rId43"/>
    <p:sldId id="464" r:id="rId44"/>
    <p:sldId id="365" r:id="rId45"/>
    <p:sldId id="445" r:id="rId46"/>
    <p:sldId id="473" r:id="rId47"/>
    <p:sldId id="474" r:id="rId48"/>
    <p:sldId id="479" r:id="rId49"/>
    <p:sldId id="465" r:id="rId50"/>
    <p:sldId id="475" r:id="rId51"/>
    <p:sldId id="476" r:id="rId52"/>
    <p:sldId id="478" r:id="rId53"/>
    <p:sldId id="482" r:id="rId54"/>
    <p:sldId id="363" r:id="rId55"/>
    <p:sldId id="332" r:id="rId56"/>
  </p:sldIdLst>
  <p:sldSz cx="9144000" cy="6858000" type="screen4x3"/>
  <p:notesSz cx="6985000" cy="9271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26" charset="0"/>
        <a:ea typeface="ＭＳ Ｐゴシック" pitchFamily="26" charset="-128"/>
        <a:cs typeface="ＭＳ Ｐゴシック" pitchFamily="26" charset="-128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26" charset="0"/>
        <a:ea typeface="ＭＳ Ｐゴシック" pitchFamily="26" charset="-128"/>
        <a:cs typeface="ＭＳ Ｐゴシック" pitchFamily="26" charset="-128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26" charset="0"/>
        <a:ea typeface="ＭＳ Ｐゴシック" pitchFamily="26" charset="-128"/>
        <a:cs typeface="ＭＳ Ｐゴシック" pitchFamily="26" charset="-128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26" charset="0"/>
        <a:ea typeface="ＭＳ Ｐゴシック" pitchFamily="26" charset="-128"/>
        <a:cs typeface="ＭＳ Ｐゴシック" pitchFamily="26" charset="-128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26" charset="0"/>
        <a:ea typeface="ＭＳ Ｐゴシック" pitchFamily="26" charset="-128"/>
        <a:cs typeface="ＭＳ Ｐゴシック" pitchFamily="26" charset="-128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Arial" pitchFamily="26" charset="0"/>
        <a:ea typeface="ＭＳ Ｐゴシック" pitchFamily="26" charset="-128"/>
        <a:cs typeface="ＭＳ Ｐゴシック" pitchFamily="26" charset="-128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Arial" pitchFamily="26" charset="0"/>
        <a:ea typeface="ＭＳ Ｐゴシック" pitchFamily="26" charset="-128"/>
        <a:cs typeface="ＭＳ Ｐゴシック" pitchFamily="26" charset="-128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Arial" pitchFamily="26" charset="0"/>
        <a:ea typeface="ＭＳ Ｐゴシック" pitchFamily="26" charset="-128"/>
        <a:cs typeface="ＭＳ Ｐゴシック" pitchFamily="26" charset="-128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Arial" pitchFamily="26" charset="0"/>
        <a:ea typeface="ＭＳ Ｐゴシック" pitchFamily="26" charset="-128"/>
        <a:cs typeface="ＭＳ Ｐゴシック" pitchFamily="26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3" frameSlides="1"/>
  <p:showPr showNarration="1"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000"/>
    <a:srgbClr val="FFCC99"/>
    <a:srgbClr val="CC6633"/>
    <a:srgbClr val="7A2310"/>
    <a:srgbClr val="7D1F0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546" autoAdjust="0"/>
    <p:restoredTop sz="94898" autoAdjust="0"/>
  </p:normalViewPr>
  <p:slideViewPr>
    <p:cSldViewPr>
      <p:cViewPr varScale="1">
        <p:scale>
          <a:sx n="74" d="100"/>
          <a:sy n="74" d="100"/>
        </p:scale>
        <p:origin x="184" y="10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4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27363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60" tIns="46431" rIns="92860" bIns="46431" numCol="1" anchor="t" anchorCtr="0" compatLnSpc="1">
            <a:prstTxWarp prst="textNoShape">
              <a:avLst/>
            </a:prstTxWarp>
            <a:spAutoFit/>
          </a:bodyPr>
          <a:lstStyle>
            <a:lvl1pPr defTabSz="928688" eaLnBrk="0" hangingPunct="0">
              <a:spcBef>
                <a:spcPct val="50000"/>
              </a:spcBef>
              <a:defRPr sz="1200">
                <a:latin typeface="Times" pitchFamily="26" charset="0"/>
              </a:defRPr>
            </a:lvl1pPr>
          </a:lstStyle>
          <a:p>
            <a:r>
              <a:rPr lang="en-US"/>
              <a:t>http://www.chpc.utah.edu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57638" y="0"/>
            <a:ext cx="3027362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60" tIns="46431" rIns="92860" bIns="46431" numCol="1" anchor="t" anchorCtr="0" compatLnSpc="1">
            <a:prstTxWarp prst="textNoShape">
              <a:avLst/>
            </a:prstTxWarp>
            <a:spAutoFit/>
          </a:bodyPr>
          <a:lstStyle>
            <a:lvl1pPr algn="r" defTabSz="928688" eaLnBrk="0" hangingPunct="0">
              <a:spcBef>
                <a:spcPct val="50000"/>
              </a:spcBef>
              <a:defRPr sz="1200">
                <a:latin typeface="Times" pitchFamily="26" charset="0"/>
              </a:defRPr>
            </a:lvl1pPr>
          </a:lstStyle>
          <a:p>
            <a:fld id="{62E2CED9-D5BD-3644-8475-2841E9D82073}" type="datetime1">
              <a:rPr lang="en-US" smtClean="0"/>
              <a:t>1/14/25</a:t>
            </a:fld>
            <a:endParaRPr lang="en-US"/>
          </a:p>
        </p:txBody>
      </p:sp>
      <p:sp>
        <p:nvSpPr>
          <p:cNvPr id="92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96363"/>
            <a:ext cx="3027363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60" tIns="46431" rIns="92860" bIns="46431" numCol="1" anchor="b" anchorCtr="0" compatLnSpc="1">
            <a:prstTxWarp prst="textNoShape">
              <a:avLst/>
            </a:prstTxWarp>
            <a:spAutoFit/>
          </a:bodyPr>
          <a:lstStyle>
            <a:lvl1pPr defTabSz="928688" eaLnBrk="0" hangingPunct="0">
              <a:spcBef>
                <a:spcPct val="50000"/>
              </a:spcBef>
              <a:defRPr sz="1200">
                <a:latin typeface="Times" pitchFamily="26" charset="0"/>
              </a:defRPr>
            </a:lvl1pPr>
          </a:lstStyle>
          <a:p>
            <a:endParaRPr lang="en-US"/>
          </a:p>
        </p:txBody>
      </p:sp>
      <p:sp>
        <p:nvSpPr>
          <p:cNvPr id="92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57638" y="8996363"/>
            <a:ext cx="3027362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60" tIns="46431" rIns="92860" bIns="46431" numCol="1" anchor="b" anchorCtr="0" compatLnSpc="1">
            <a:prstTxWarp prst="textNoShape">
              <a:avLst/>
            </a:prstTxWarp>
            <a:spAutoFit/>
          </a:bodyPr>
          <a:lstStyle>
            <a:lvl1pPr algn="r" defTabSz="928688" eaLnBrk="0" hangingPunct="0">
              <a:spcBef>
                <a:spcPct val="50000"/>
              </a:spcBef>
              <a:defRPr sz="1200">
                <a:latin typeface="Times" pitchFamily="26" charset="0"/>
              </a:defRPr>
            </a:lvl1pPr>
          </a:lstStyle>
          <a:p>
            <a:fld id="{78EFBCC7-8BF4-9A48-B009-E4CAB00FB0F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20158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27363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60" tIns="46431" rIns="92860" bIns="46431" numCol="1" anchor="t" anchorCtr="0" compatLnSpc="1">
            <a:prstTxWarp prst="textNoShape">
              <a:avLst/>
            </a:prstTxWarp>
            <a:spAutoFit/>
          </a:bodyPr>
          <a:lstStyle>
            <a:lvl1pPr defTabSz="928688" eaLnBrk="0" hangingPunct="0">
              <a:spcBef>
                <a:spcPct val="50000"/>
              </a:spcBef>
              <a:defRPr sz="1200">
                <a:latin typeface="Times" pitchFamily="26" charset="0"/>
              </a:defRPr>
            </a:lvl1pPr>
          </a:lstStyle>
          <a:p>
            <a:r>
              <a:rPr lang="en-US"/>
              <a:t>http://www.chpc.utah.edu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57638" y="0"/>
            <a:ext cx="3027362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60" tIns="46431" rIns="92860" bIns="46431" numCol="1" anchor="t" anchorCtr="0" compatLnSpc="1">
            <a:prstTxWarp prst="textNoShape">
              <a:avLst/>
            </a:prstTxWarp>
            <a:spAutoFit/>
          </a:bodyPr>
          <a:lstStyle>
            <a:lvl1pPr algn="r" defTabSz="928688" eaLnBrk="0" hangingPunct="0">
              <a:spcBef>
                <a:spcPct val="50000"/>
              </a:spcBef>
              <a:defRPr sz="1200">
                <a:latin typeface="Times" pitchFamily="26" charset="0"/>
              </a:defRPr>
            </a:lvl1pPr>
          </a:lstStyle>
          <a:p>
            <a:fld id="{31221515-87E2-7C40-8A70-6FFA423A8160}" type="datetime1">
              <a:rPr lang="en-US" smtClean="0"/>
              <a:t>1/14/25</a:t>
            </a:fld>
            <a:endParaRPr lang="en-US"/>
          </a:p>
        </p:txBody>
      </p:sp>
      <p:sp>
        <p:nvSpPr>
          <p:cNvPr id="163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74750" y="695325"/>
            <a:ext cx="4635500" cy="34766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1863" y="4403725"/>
            <a:ext cx="5121275" cy="1227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60" tIns="46431" rIns="92860" bIns="46431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96363"/>
            <a:ext cx="3027363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60" tIns="46431" rIns="92860" bIns="46431" numCol="1" anchor="b" anchorCtr="0" compatLnSpc="1">
            <a:prstTxWarp prst="textNoShape">
              <a:avLst/>
            </a:prstTxWarp>
            <a:spAutoFit/>
          </a:bodyPr>
          <a:lstStyle>
            <a:lvl1pPr defTabSz="928688" eaLnBrk="0" hangingPunct="0">
              <a:spcBef>
                <a:spcPct val="50000"/>
              </a:spcBef>
              <a:defRPr sz="1200">
                <a:latin typeface="Times" pitchFamily="26" charset="0"/>
              </a:defRPr>
            </a:lvl1pPr>
          </a:lstStyle>
          <a:p>
            <a:endParaRPr 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57638" y="8996363"/>
            <a:ext cx="3027362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60" tIns="46431" rIns="92860" bIns="46431" numCol="1" anchor="b" anchorCtr="0" compatLnSpc="1">
            <a:prstTxWarp prst="textNoShape">
              <a:avLst/>
            </a:prstTxWarp>
            <a:spAutoFit/>
          </a:bodyPr>
          <a:lstStyle>
            <a:lvl1pPr algn="r" defTabSz="928688" eaLnBrk="0" hangingPunct="0">
              <a:spcBef>
                <a:spcPct val="50000"/>
              </a:spcBef>
              <a:defRPr sz="1200">
                <a:latin typeface="Times" pitchFamily="26" charset="0"/>
              </a:defRPr>
            </a:lvl1pPr>
          </a:lstStyle>
          <a:p>
            <a:fld id="{AA3895A6-670A-7448-8EB0-8F027188479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164399"/>
      </p:ext>
    </p:extLst>
  </p:cSld>
  <p:clrMap bg1="lt1" tx1="dk1" bg2="lt2" tx2="dk2" accent1="accent1" accent2="accent2" accent3="accent3" accent4="accent4" accent5="accent5" accent6="accent6" hlink="hlink" folHlink="folHlink"/>
  <p:hf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>
            <a:spLocks noGrp="1" noRot="1" noChangeAspect="1"/>
          </p:cNvSpPr>
          <p:nvPr>
            <p:ph type="sldImg" idx="2"/>
          </p:nvPr>
        </p:nvSpPr>
        <p:spPr>
          <a:xfrm>
            <a:off x="1174750" y="695325"/>
            <a:ext cx="4635500" cy="347662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" name="Shape 37"/>
          <p:cNvSpPr txBox="1">
            <a:spLocks noGrp="1"/>
          </p:cNvSpPr>
          <p:nvPr>
            <p:ph type="body" idx="1"/>
          </p:nvPr>
        </p:nvSpPr>
        <p:spPr>
          <a:xfrm>
            <a:off x="698501" y="4403725"/>
            <a:ext cx="5587999" cy="4171950"/>
          </a:xfrm>
          <a:prstGeom prst="rect">
            <a:avLst/>
          </a:prstGeom>
          <a:noFill/>
          <a:ln>
            <a:noFill/>
          </a:ln>
        </p:spPr>
        <p:txBody>
          <a:bodyPr lIns="92870" tIns="92870" rIns="92870" bIns="92870" anchor="t" anchorCtr="0">
            <a:noAutofit/>
          </a:bodyPr>
          <a:lstStyle/>
          <a:p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>
            <a:spLocks noGrp="1" noRot="1" noChangeAspect="1"/>
          </p:cNvSpPr>
          <p:nvPr>
            <p:ph type="sldImg" idx="2"/>
          </p:nvPr>
        </p:nvSpPr>
        <p:spPr>
          <a:xfrm>
            <a:off x="1174750" y="695325"/>
            <a:ext cx="4635500" cy="347662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" name="Shape 37"/>
          <p:cNvSpPr txBox="1">
            <a:spLocks noGrp="1"/>
          </p:cNvSpPr>
          <p:nvPr>
            <p:ph type="body" idx="1"/>
          </p:nvPr>
        </p:nvSpPr>
        <p:spPr>
          <a:xfrm>
            <a:off x="698501" y="4403725"/>
            <a:ext cx="5587999" cy="4171950"/>
          </a:xfrm>
          <a:prstGeom prst="rect">
            <a:avLst/>
          </a:prstGeom>
          <a:noFill/>
          <a:ln>
            <a:noFill/>
          </a:ln>
        </p:spPr>
        <p:txBody>
          <a:bodyPr lIns="92870" tIns="92870" rIns="92870" bIns="92870" anchor="t" anchorCtr="0">
            <a:noAutofit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99371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http://www.chpc.utah.edu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279B7796-27FF-2447-A144-C38BBB0049E9}" type="datetime1">
              <a:rPr lang="en-US" smtClean="0"/>
              <a:t>1/14/25</a:t>
            </a:fld>
            <a:endParaRPr lang="en-US"/>
          </a:p>
        </p:txBody>
      </p:sp>
      <p:sp>
        <p:nvSpPr>
          <p:cNvPr id="1946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92D9234-6126-A744-9630-0322AA72A86E}" type="slidenum">
              <a:rPr lang="en-US"/>
              <a:pPr/>
              <a:t>3</a:t>
            </a:fld>
            <a:endParaRPr lang="en-US"/>
          </a:p>
        </p:txBody>
      </p:sp>
      <p:sp>
        <p:nvSpPr>
          <p:cNvPr id="1946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03725"/>
            <a:ext cx="5121275" cy="274638"/>
          </a:xfrm>
          <a:noFill/>
          <a:ln/>
        </p:spPr>
        <p:txBody>
          <a:bodyPr/>
          <a:lstStyle/>
          <a:p>
            <a:pPr eaLnBrk="1" hangingPunct="1"/>
            <a:endParaRPr lang="en-US">
              <a:latin typeface="Times" pitchFamily="26" charset="0"/>
              <a:ea typeface="ＭＳ Ｐゴシック" pitchFamily="26" charset="-128"/>
              <a:cs typeface="ＭＳ Ｐゴシック" pitchFamily="26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407701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http://www.chpc.utah.edu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6D1C50CE-E2FB-F04B-AEA0-39B24230EA52}" type="datetime1">
              <a:rPr lang="en-US" smtClean="0"/>
              <a:t>1/14/25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895A6-670A-7448-8EB0-8F0271884791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7915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http://www.chpc.utah.edu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6D1C50CE-E2FB-F04B-AEA0-39B24230EA52}" type="datetime1">
              <a:rPr lang="en-US" smtClean="0"/>
              <a:t>1/14/25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895A6-670A-7448-8EB0-8F0271884791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6336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http://www.chpc.utah.edu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1221515-87E2-7C40-8A70-6FFA423A8160}" type="datetime1">
              <a:rPr lang="en-US" smtClean="0"/>
              <a:t>1/14/25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3895A6-670A-7448-8EB0-8F0271884791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1256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So, how do we go about asking SLURM to submit a job for us?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http://www.chpc.utah.edu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1221515-87E2-7C40-8A70-6FFA423A8160}" type="datetime1">
              <a:rPr lang="en-US" smtClean="0"/>
              <a:t>1/14/25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3895A6-670A-7448-8EB0-8F0271884791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7881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>
            <a:spLocks noGrp="1" noRot="1" noChangeAspect="1"/>
          </p:cNvSpPr>
          <p:nvPr>
            <p:ph type="sldImg" idx="2"/>
          </p:nvPr>
        </p:nvSpPr>
        <p:spPr>
          <a:xfrm>
            <a:off x="1174750" y="695325"/>
            <a:ext cx="4635500" cy="347662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" name="Shape 37"/>
          <p:cNvSpPr txBox="1">
            <a:spLocks noGrp="1"/>
          </p:cNvSpPr>
          <p:nvPr>
            <p:ph type="body" idx="1"/>
          </p:nvPr>
        </p:nvSpPr>
        <p:spPr>
          <a:xfrm>
            <a:off x="698501" y="4403725"/>
            <a:ext cx="5587999" cy="4171950"/>
          </a:xfrm>
          <a:prstGeom prst="rect">
            <a:avLst/>
          </a:prstGeom>
          <a:noFill/>
          <a:ln>
            <a:noFill/>
          </a:ln>
        </p:spPr>
        <p:txBody>
          <a:bodyPr lIns="92870" tIns="92870" rIns="92870" bIns="92870" anchor="t" anchorCtr="0">
            <a:noAutofit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272159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http://www.chpc.utah.edu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2BB4CB58-B347-5B4D-9C8E-5A887AD7F3E7}" type="datetime1">
              <a:rPr lang="en-US" smtClean="0"/>
              <a:t>1/14/25</a:t>
            </a:fld>
            <a:endParaRPr lang="en-US"/>
          </a:p>
        </p:txBody>
      </p:sp>
      <p:sp>
        <p:nvSpPr>
          <p:cNvPr id="1946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92D9234-6126-A744-9630-0322AA72A86E}" type="slidenum">
              <a:rPr lang="en-US"/>
              <a:pPr/>
              <a:t>9</a:t>
            </a:fld>
            <a:endParaRPr lang="en-US"/>
          </a:p>
        </p:txBody>
      </p:sp>
      <p:sp>
        <p:nvSpPr>
          <p:cNvPr id="1946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03725"/>
            <a:ext cx="5121275" cy="274638"/>
          </a:xfrm>
          <a:noFill/>
          <a:ln/>
        </p:spPr>
        <p:txBody>
          <a:bodyPr/>
          <a:lstStyle/>
          <a:p>
            <a:pPr eaLnBrk="1" hangingPunct="1"/>
            <a:r>
              <a:rPr lang="en-US" dirty="0">
                <a:latin typeface="Times" pitchFamily="26" charset="0"/>
                <a:ea typeface="ＭＳ Ｐゴシック" pitchFamily="26" charset="-128"/>
                <a:cs typeface="ＭＳ Ｐゴシック" pitchFamily="26" charset="-128"/>
              </a:rPr>
              <a:t>This is what a </a:t>
            </a:r>
            <a:r>
              <a:rPr lang="en-US" dirty="0" err="1">
                <a:latin typeface="Times" pitchFamily="26" charset="0"/>
                <a:ea typeface="ＭＳ Ｐゴシック" pitchFamily="26" charset="-128"/>
                <a:cs typeface="ＭＳ Ｐゴシック" pitchFamily="26" charset="-128"/>
              </a:rPr>
              <a:t>slurm</a:t>
            </a:r>
            <a:r>
              <a:rPr lang="en-US" dirty="0">
                <a:latin typeface="Times" pitchFamily="26" charset="0"/>
                <a:ea typeface="ＭＳ Ｐゴシック" pitchFamily="26" charset="-128"/>
                <a:cs typeface="ＭＳ Ｐゴシック" pitchFamily="26" charset="-128"/>
              </a:rPr>
              <a:t> script looks like all together. It looks like a lot of information at first, but lets break it down piece by piece.</a:t>
            </a:r>
          </a:p>
        </p:txBody>
      </p:sp>
    </p:spTree>
    <p:extLst>
      <p:ext uri="{BB962C8B-B14F-4D97-AF65-F5344CB8AC3E}">
        <p14:creationId xmlns:p14="http://schemas.microsoft.com/office/powerpoint/2010/main" val="23020625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http://www.chpc.utah.edu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2BB4CB58-B347-5B4D-9C8E-5A887AD7F3E7}" type="datetime1">
              <a:rPr lang="en-US" smtClean="0"/>
              <a:t>1/14/25</a:t>
            </a:fld>
            <a:endParaRPr lang="en-US"/>
          </a:p>
        </p:txBody>
      </p:sp>
      <p:sp>
        <p:nvSpPr>
          <p:cNvPr id="1946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92D9234-6126-A744-9630-0322AA72A86E}" type="slidenum">
              <a:rPr lang="en-US"/>
              <a:pPr/>
              <a:t>10</a:t>
            </a:fld>
            <a:endParaRPr lang="en-US"/>
          </a:p>
        </p:txBody>
      </p:sp>
      <p:sp>
        <p:nvSpPr>
          <p:cNvPr id="1946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03725"/>
            <a:ext cx="5121275" cy="274638"/>
          </a:xfrm>
          <a:noFill/>
          <a:ln/>
        </p:spPr>
        <p:txBody>
          <a:bodyPr/>
          <a:lstStyle/>
          <a:p>
            <a:pPr eaLnBrk="1" hangingPunct="1"/>
            <a:r>
              <a:rPr lang="en-US" dirty="0">
                <a:latin typeface="Times" pitchFamily="26" charset="0"/>
                <a:ea typeface="ＭＳ Ｐゴシック" pitchFamily="26" charset="-128"/>
                <a:cs typeface="ＭＳ Ｐゴシック" pitchFamily="26" charset="-128"/>
              </a:rPr>
              <a:t>The first thing you will need to fill out are the #SBATCH directives. Lets focus on the most important part – account and partition</a:t>
            </a:r>
          </a:p>
        </p:txBody>
      </p:sp>
    </p:spTree>
    <p:extLst>
      <p:ext uri="{BB962C8B-B14F-4D97-AF65-F5344CB8AC3E}">
        <p14:creationId xmlns:p14="http://schemas.microsoft.com/office/powerpoint/2010/main" val="27964205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Cluster, account, and partition are information you will need to submit a SLURM job.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http://www.chpc.utah.edu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6D1C50CE-E2FB-F04B-AEA0-39B24230EA52}" type="datetime1">
              <a:rPr lang="en-US" smtClean="0"/>
              <a:t>1/14/25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895A6-670A-7448-8EB0-8F0271884791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5729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http://www.chpc.utah.edu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2BB4CB58-B347-5B4D-9C8E-5A887AD7F3E7}" type="datetime1">
              <a:rPr lang="en-US" smtClean="0"/>
              <a:t>1/14/25</a:t>
            </a:fld>
            <a:endParaRPr lang="en-US"/>
          </a:p>
        </p:txBody>
      </p:sp>
      <p:sp>
        <p:nvSpPr>
          <p:cNvPr id="1946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92D9234-6126-A744-9630-0322AA72A86E}" type="slidenum">
              <a:rPr lang="en-US"/>
              <a:pPr/>
              <a:t>12</a:t>
            </a:fld>
            <a:endParaRPr lang="en-US"/>
          </a:p>
        </p:txBody>
      </p:sp>
      <p:sp>
        <p:nvSpPr>
          <p:cNvPr id="1946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03725"/>
            <a:ext cx="5121275" cy="274638"/>
          </a:xfrm>
          <a:noFill/>
          <a:ln/>
        </p:spPr>
        <p:txBody>
          <a:bodyPr/>
          <a:lstStyle/>
          <a:p>
            <a:pPr eaLnBrk="1" hangingPunct="1"/>
            <a:endParaRPr lang="en-US" dirty="0">
              <a:latin typeface="Times" pitchFamily="26" charset="0"/>
              <a:ea typeface="ＭＳ Ｐゴシック" pitchFamily="26" charset="-128"/>
              <a:cs typeface="ＭＳ Ｐゴシック" pitchFamily="26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801188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http://www.chpc.utah.edu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2BB4CB58-B347-5B4D-9C8E-5A887AD7F3E7}" type="datetime1">
              <a:rPr lang="en-US" smtClean="0"/>
              <a:t>1/14/25</a:t>
            </a:fld>
            <a:endParaRPr lang="en-US"/>
          </a:p>
        </p:txBody>
      </p:sp>
      <p:sp>
        <p:nvSpPr>
          <p:cNvPr id="1946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92D9234-6126-A744-9630-0322AA72A86E}" type="slidenum">
              <a:rPr lang="en-US"/>
              <a:pPr/>
              <a:t>13</a:t>
            </a:fld>
            <a:endParaRPr lang="en-US"/>
          </a:p>
        </p:txBody>
      </p:sp>
      <p:sp>
        <p:nvSpPr>
          <p:cNvPr id="1946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03725"/>
            <a:ext cx="5121275" cy="274638"/>
          </a:xfrm>
          <a:noFill/>
          <a:ln/>
        </p:spPr>
        <p:txBody>
          <a:bodyPr/>
          <a:lstStyle/>
          <a:p>
            <a:pPr eaLnBrk="1" hangingPunct="1"/>
            <a:endParaRPr lang="en-US" dirty="0">
              <a:latin typeface="Times" pitchFamily="26" charset="0"/>
              <a:ea typeface="ＭＳ Ｐゴシック" pitchFamily="26" charset="-128"/>
              <a:cs typeface="ＭＳ Ｐゴシック" pitchFamily="26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3156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http://www.chpc.utah.edu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2BB4CB58-B347-5B4D-9C8E-5A887AD7F3E7}" type="datetime1">
              <a:rPr lang="en-US" smtClean="0"/>
              <a:t>1/14/25</a:t>
            </a:fld>
            <a:endParaRPr lang="en-US"/>
          </a:p>
        </p:txBody>
      </p:sp>
      <p:sp>
        <p:nvSpPr>
          <p:cNvPr id="1946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92D9234-6126-A744-9630-0322AA72A86E}" type="slidenum">
              <a:rPr lang="en-US"/>
              <a:pPr/>
              <a:t>14</a:t>
            </a:fld>
            <a:endParaRPr lang="en-US"/>
          </a:p>
        </p:txBody>
      </p:sp>
      <p:sp>
        <p:nvSpPr>
          <p:cNvPr id="1946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03725"/>
            <a:ext cx="5121275" cy="274638"/>
          </a:xfrm>
          <a:noFill/>
          <a:ln/>
        </p:spPr>
        <p:txBody>
          <a:bodyPr/>
          <a:lstStyle/>
          <a:p>
            <a:pPr eaLnBrk="1" hangingPunct="1"/>
            <a:endParaRPr lang="en-US" dirty="0">
              <a:latin typeface="Times" pitchFamily="26" charset="0"/>
              <a:ea typeface="ＭＳ Ｐゴシック" pitchFamily="26" charset="-128"/>
              <a:cs typeface="ＭＳ Ｐゴシック" pitchFamily="26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828985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http://www.chpc.utah.edu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2BB4CB58-B347-5B4D-9C8E-5A887AD7F3E7}" type="datetime1">
              <a:rPr lang="en-US" smtClean="0"/>
              <a:t>1/14/25</a:t>
            </a:fld>
            <a:endParaRPr lang="en-US"/>
          </a:p>
        </p:txBody>
      </p:sp>
      <p:sp>
        <p:nvSpPr>
          <p:cNvPr id="1946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92D9234-6126-A744-9630-0322AA72A86E}" type="slidenum">
              <a:rPr lang="en-US"/>
              <a:pPr/>
              <a:t>15</a:t>
            </a:fld>
            <a:endParaRPr lang="en-US"/>
          </a:p>
        </p:txBody>
      </p:sp>
      <p:sp>
        <p:nvSpPr>
          <p:cNvPr id="1946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03725"/>
            <a:ext cx="5121275" cy="274638"/>
          </a:xfrm>
          <a:noFill/>
          <a:ln/>
        </p:spPr>
        <p:txBody>
          <a:bodyPr/>
          <a:lstStyle/>
          <a:p>
            <a:pPr eaLnBrk="1" hangingPunct="1"/>
            <a:endParaRPr lang="en-US" dirty="0">
              <a:latin typeface="Times" pitchFamily="26" charset="0"/>
              <a:ea typeface="ＭＳ Ｐゴシック" pitchFamily="26" charset="-128"/>
              <a:cs typeface="ＭＳ Ｐゴシック" pitchFamily="26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4438581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http://www.chpc.utah.edu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2BB4CB58-B347-5B4D-9C8E-5A887AD7F3E7}" type="datetime1">
              <a:rPr lang="en-US" smtClean="0"/>
              <a:t>1/14/25</a:t>
            </a:fld>
            <a:endParaRPr lang="en-US"/>
          </a:p>
        </p:txBody>
      </p:sp>
      <p:sp>
        <p:nvSpPr>
          <p:cNvPr id="1946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92D9234-6126-A744-9630-0322AA72A86E}" type="slidenum">
              <a:rPr lang="en-US"/>
              <a:pPr/>
              <a:t>16</a:t>
            </a:fld>
            <a:endParaRPr lang="en-US"/>
          </a:p>
        </p:txBody>
      </p:sp>
      <p:sp>
        <p:nvSpPr>
          <p:cNvPr id="1946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03725"/>
            <a:ext cx="5121275" cy="274638"/>
          </a:xfrm>
          <a:noFill/>
          <a:ln/>
        </p:spPr>
        <p:txBody>
          <a:bodyPr/>
          <a:lstStyle/>
          <a:p>
            <a:pPr eaLnBrk="1" hangingPunct="1"/>
            <a:endParaRPr lang="en-US" dirty="0">
              <a:latin typeface="Times" pitchFamily="26" charset="0"/>
              <a:ea typeface="ＭＳ Ｐゴシック" pitchFamily="26" charset="-128"/>
              <a:cs typeface="ＭＳ Ｐゴシック" pitchFamily="26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5904912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http://www.chpc.utah.edu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2BB4CB58-B347-5B4D-9C8E-5A887AD7F3E7}" type="datetime1">
              <a:rPr lang="en-US" smtClean="0"/>
              <a:t>1/14/25</a:t>
            </a:fld>
            <a:endParaRPr lang="en-US"/>
          </a:p>
        </p:txBody>
      </p:sp>
      <p:sp>
        <p:nvSpPr>
          <p:cNvPr id="1946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92D9234-6126-A744-9630-0322AA72A86E}" type="slidenum">
              <a:rPr lang="en-US"/>
              <a:pPr/>
              <a:t>17</a:t>
            </a:fld>
            <a:endParaRPr lang="en-US"/>
          </a:p>
        </p:txBody>
      </p:sp>
      <p:sp>
        <p:nvSpPr>
          <p:cNvPr id="1946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03725"/>
            <a:ext cx="5121275" cy="274638"/>
          </a:xfrm>
          <a:noFill/>
          <a:ln/>
        </p:spPr>
        <p:txBody>
          <a:bodyPr/>
          <a:lstStyle/>
          <a:p>
            <a:pPr eaLnBrk="1" hangingPunct="1"/>
            <a:endParaRPr lang="en-US" dirty="0">
              <a:latin typeface="Times" pitchFamily="26" charset="0"/>
              <a:ea typeface="ＭＳ Ｐゴシック" pitchFamily="26" charset="-128"/>
              <a:cs typeface="ＭＳ Ｐゴシック" pitchFamily="26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1069947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http://www.chpc.utah.edu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2BB4CB58-B347-5B4D-9C8E-5A887AD7F3E7}" type="datetime1">
              <a:rPr lang="en-US" smtClean="0"/>
              <a:t>1/14/25</a:t>
            </a:fld>
            <a:endParaRPr lang="en-US"/>
          </a:p>
        </p:txBody>
      </p:sp>
      <p:sp>
        <p:nvSpPr>
          <p:cNvPr id="1946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92D9234-6126-A744-9630-0322AA72A86E}" type="slidenum">
              <a:rPr lang="en-US"/>
              <a:pPr/>
              <a:t>18</a:t>
            </a:fld>
            <a:endParaRPr lang="en-US"/>
          </a:p>
        </p:txBody>
      </p:sp>
      <p:sp>
        <p:nvSpPr>
          <p:cNvPr id="1946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03725"/>
            <a:ext cx="5121275" cy="274638"/>
          </a:xfrm>
          <a:noFill/>
          <a:ln/>
        </p:spPr>
        <p:txBody>
          <a:bodyPr/>
          <a:lstStyle/>
          <a:p>
            <a:pPr eaLnBrk="1" hangingPunct="1"/>
            <a:endParaRPr lang="en-US" dirty="0">
              <a:latin typeface="Times" pitchFamily="26" charset="0"/>
              <a:ea typeface="ＭＳ Ｐゴシック" pitchFamily="26" charset="-128"/>
              <a:cs typeface="ＭＳ Ｐゴシック" pitchFamily="26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761861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http://www.chpc.utah.edu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2BB4CB58-B347-5B4D-9C8E-5A887AD7F3E7}" type="datetime1">
              <a:rPr lang="en-US" smtClean="0"/>
              <a:t>1/14/25</a:t>
            </a:fld>
            <a:endParaRPr lang="en-US"/>
          </a:p>
        </p:txBody>
      </p:sp>
      <p:sp>
        <p:nvSpPr>
          <p:cNvPr id="1946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92D9234-6126-A744-9630-0322AA72A86E}" type="slidenum">
              <a:rPr lang="en-US"/>
              <a:pPr/>
              <a:t>19</a:t>
            </a:fld>
            <a:endParaRPr lang="en-US"/>
          </a:p>
        </p:txBody>
      </p:sp>
      <p:sp>
        <p:nvSpPr>
          <p:cNvPr id="1946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03725"/>
            <a:ext cx="5121275" cy="274638"/>
          </a:xfrm>
          <a:noFill/>
          <a:ln/>
        </p:spPr>
        <p:txBody>
          <a:bodyPr/>
          <a:lstStyle/>
          <a:p>
            <a:pPr eaLnBrk="1" hangingPunct="1"/>
            <a:endParaRPr lang="en-US" dirty="0">
              <a:latin typeface="Times" pitchFamily="26" charset="0"/>
              <a:ea typeface="ＭＳ Ｐゴシック" pitchFamily="26" charset="-128"/>
              <a:cs typeface="ＭＳ Ｐゴシック" pitchFamily="26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5897793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http://www.chpc.utah.edu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2BB4CB58-B347-5B4D-9C8E-5A887AD7F3E7}" type="datetime1">
              <a:rPr lang="en-US" smtClean="0"/>
              <a:t>1/14/25</a:t>
            </a:fld>
            <a:endParaRPr lang="en-US"/>
          </a:p>
        </p:txBody>
      </p:sp>
      <p:sp>
        <p:nvSpPr>
          <p:cNvPr id="1946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92D9234-6126-A744-9630-0322AA72A86E}" type="slidenum">
              <a:rPr lang="en-US"/>
              <a:pPr/>
              <a:t>20</a:t>
            </a:fld>
            <a:endParaRPr lang="en-US"/>
          </a:p>
        </p:txBody>
      </p:sp>
      <p:sp>
        <p:nvSpPr>
          <p:cNvPr id="1946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03725"/>
            <a:ext cx="5121275" cy="274638"/>
          </a:xfrm>
          <a:noFill/>
          <a:ln/>
        </p:spPr>
        <p:txBody>
          <a:bodyPr/>
          <a:lstStyle/>
          <a:p>
            <a:pPr eaLnBrk="1" hangingPunct="1"/>
            <a:r>
              <a:rPr lang="en-US" dirty="0">
                <a:latin typeface="Times" pitchFamily="26" charset="0"/>
                <a:ea typeface="ＭＳ Ｐゴシック" pitchFamily="26" charset="-128"/>
                <a:cs typeface="ＭＳ Ｐゴシック" pitchFamily="26" charset="-128"/>
              </a:rPr>
              <a:t>This is what a </a:t>
            </a:r>
            <a:r>
              <a:rPr lang="en-US" dirty="0" err="1">
                <a:latin typeface="Times" pitchFamily="26" charset="0"/>
                <a:ea typeface="ＭＳ Ｐゴシック" pitchFamily="26" charset="-128"/>
                <a:cs typeface="ＭＳ Ｐゴシック" pitchFamily="26" charset="-128"/>
              </a:rPr>
              <a:t>slurm</a:t>
            </a:r>
            <a:r>
              <a:rPr lang="en-US" dirty="0">
                <a:latin typeface="Times" pitchFamily="26" charset="0"/>
                <a:ea typeface="ＭＳ Ｐゴシック" pitchFamily="26" charset="-128"/>
                <a:cs typeface="ＭＳ Ｐゴシック" pitchFamily="26" charset="-128"/>
              </a:rPr>
              <a:t> script looks like all together. It looks like a lot of information at first, but lets break it down piece by piece.</a:t>
            </a:r>
          </a:p>
        </p:txBody>
      </p:sp>
    </p:spTree>
    <p:extLst>
      <p:ext uri="{BB962C8B-B14F-4D97-AF65-F5344CB8AC3E}">
        <p14:creationId xmlns:p14="http://schemas.microsoft.com/office/powerpoint/2010/main" val="222910713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E9EA1-35E9-911A-8815-FF06C7A85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37C8A4EF-CB3B-5C02-45B1-FF130F92C7D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http://www.chpc.utah.edu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12EBEFFC-F4E9-801D-2320-933C0B816EC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731A72B3-DD96-E04B-8B14-D43AA4AE89BB}" type="datetime1">
              <a:rPr lang="en-US" smtClean="0"/>
              <a:t>1/14/25</a:t>
            </a:fld>
            <a:endParaRPr lang="en-US"/>
          </a:p>
        </p:txBody>
      </p:sp>
      <p:sp>
        <p:nvSpPr>
          <p:cNvPr id="19460" name="Rectangle 7">
            <a:extLst>
              <a:ext uri="{FF2B5EF4-FFF2-40B4-BE49-F238E27FC236}">
                <a16:creationId xmlns:a16="http://schemas.microsoft.com/office/drawing/2014/main" id="{C73D2A7A-AF8A-D0D3-3E71-55CE52379C3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92D9234-6126-A744-9630-0322AA72A86E}" type="slidenum">
              <a:rPr lang="en-US"/>
              <a:pPr/>
              <a:t>21</a:t>
            </a:fld>
            <a:endParaRPr lang="en-US"/>
          </a:p>
        </p:txBody>
      </p:sp>
      <p:sp>
        <p:nvSpPr>
          <p:cNvPr id="19461" name="Rectangle 2">
            <a:extLst>
              <a:ext uri="{FF2B5EF4-FFF2-40B4-BE49-F238E27FC236}">
                <a16:creationId xmlns:a16="http://schemas.microsoft.com/office/drawing/2014/main" id="{8E012176-27E3-1C89-7D8E-3F14BA2950D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2" name="Rectangle 3">
            <a:extLst>
              <a:ext uri="{FF2B5EF4-FFF2-40B4-BE49-F238E27FC236}">
                <a16:creationId xmlns:a16="http://schemas.microsoft.com/office/drawing/2014/main" id="{E7A1BB90-8182-92BE-6CF1-E428B21965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1863" y="4403725"/>
            <a:ext cx="5121275" cy="274638"/>
          </a:xfrm>
          <a:noFill/>
          <a:ln/>
        </p:spPr>
        <p:txBody>
          <a:bodyPr/>
          <a:lstStyle/>
          <a:p>
            <a:pPr eaLnBrk="1" hangingPunct="1"/>
            <a:r>
              <a:rPr lang="en-US" dirty="0">
                <a:latin typeface="Times" pitchFamily="26" charset="0"/>
                <a:ea typeface="ＭＳ Ｐゴシック" pitchFamily="26" charset="-128"/>
                <a:cs typeface="ＭＳ Ｐゴシック" pitchFamily="26" charset="-128"/>
              </a:rPr>
              <a:t>SLURM sets environmental variables for us that we can call in our script, including $SLURM_JOB_ID</a:t>
            </a:r>
          </a:p>
          <a:p>
            <a:pPr eaLnBrk="1" hangingPunct="1"/>
            <a:r>
              <a:rPr lang="en-US" dirty="0">
                <a:latin typeface="Times" pitchFamily="26" charset="0"/>
                <a:ea typeface="ＭＳ Ｐゴシック" pitchFamily="26" charset="-128"/>
                <a:cs typeface="ＭＳ Ｐゴシック" pitchFamily="26" charset="-128"/>
              </a:rPr>
              <a:t>There is a whole bunch of different vars that </a:t>
            </a:r>
            <a:r>
              <a:rPr lang="en-US" dirty="0" err="1">
                <a:latin typeface="Times" pitchFamily="26" charset="0"/>
                <a:ea typeface="ＭＳ Ｐゴシック" pitchFamily="26" charset="-128"/>
                <a:cs typeface="ＭＳ Ｐゴシック" pitchFamily="26" charset="-128"/>
              </a:rPr>
              <a:t>slurm</a:t>
            </a:r>
            <a:r>
              <a:rPr lang="en-US" dirty="0">
                <a:latin typeface="Times" pitchFamily="26" charset="0"/>
                <a:ea typeface="ＭＳ Ｐゴシック" pitchFamily="26" charset="-128"/>
                <a:cs typeface="ＭＳ Ｐゴシック" pitchFamily="26" charset="-128"/>
              </a:rPr>
              <a:t> sets, you can see a complete list at this link, available in the pdf of these slides.</a:t>
            </a:r>
          </a:p>
          <a:p>
            <a:pPr eaLnBrk="1" hangingPunct="1"/>
            <a:r>
              <a:rPr lang="en-US" dirty="0">
                <a:latin typeface="Times" pitchFamily="26" charset="0"/>
                <a:ea typeface="ＭＳ Ｐゴシック" pitchFamily="26" charset="-128"/>
                <a:cs typeface="ＭＳ Ｐゴシック" pitchFamily="26" charset="-128"/>
              </a:rPr>
              <a:t>Back to our regularly scheduled programming</a:t>
            </a:r>
          </a:p>
        </p:txBody>
      </p:sp>
    </p:spTree>
    <p:extLst>
      <p:ext uri="{BB962C8B-B14F-4D97-AF65-F5344CB8AC3E}">
        <p14:creationId xmlns:p14="http://schemas.microsoft.com/office/powerpoint/2010/main" val="352245547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http://www.chpc.utah.edu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2BB4CB58-B347-5B4D-9C8E-5A887AD7F3E7}" type="datetime1">
              <a:rPr lang="en-US" smtClean="0"/>
              <a:t>1/14/25</a:t>
            </a:fld>
            <a:endParaRPr lang="en-US"/>
          </a:p>
        </p:txBody>
      </p:sp>
      <p:sp>
        <p:nvSpPr>
          <p:cNvPr id="1946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92D9234-6126-A744-9630-0322AA72A86E}" type="slidenum">
              <a:rPr lang="en-US"/>
              <a:pPr/>
              <a:t>22</a:t>
            </a:fld>
            <a:endParaRPr lang="en-US"/>
          </a:p>
        </p:txBody>
      </p:sp>
      <p:sp>
        <p:nvSpPr>
          <p:cNvPr id="1946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03725"/>
            <a:ext cx="5121275" cy="274638"/>
          </a:xfrm>
          <a:noFill/>
          <a:ln/>
        </p:spPr>
        <p:txBody>
          <a:bodyPr/>
          <a:lstStyle/>
          <a:p>
            <a:pPr eaLnBrk="1" hangingPunct="1"/>
            <a:r>
              <a:rPr lang="en-US" dirty="0">
                <a:latin typeface="Times" pitchFamily="26" charset="0"/>
                <a:ea typeface="ＭＳ Ｐゴシック" pitchFamily="26" charset="-128"/>
                <a:cs typeface="ＭＳ Ｐゴシック" pitchFamily="26" charset="-128"/>
              </a:rPr>
              <a:t>Create environmental var</a:t>
            </a:r>
          </a:p>
          <a:p>
            <a:pPr eaLnBrk="1" hangingPunct="1"/>
            <a:r>
              <a:rPr lang="en-US" dirty="0">
                <a:latin typeface="Times" pitchFamily="26" charset="0"/>
                <a:ea typeface="ＭＳ Ｐゴシック" pitchFamily="26" charset="-128"/>
                <a:cs typeface="ＭＳ Ｐゴシック" pitchFamily="26" charset="-128"/>
              </a:rPr>
              <a:t>$USER</a:t>
            </a:r>
          </a:p>
          <a:p>
            <a:pPr eaLnBrk="1" hangingPunct="1"/>
            <a:r>
              <a:rPr lang="en-US" dirty="0">
                <a:latin typeface="Times" pitchFamily="26" charset="0"/>
                <a:ea typeface="ＭＳ Ｐゴシック" pitchFamily="26" charset="-128"/>
                <a:cs typeface="ＭＳ Ｐゴシック" pitchFamily="26" charset="-128"/>
              </a:rPr>
              <a:t>Notice $SLURM_JOB_ID – lets talk about this</a:t>
            </a:r>
          </a:p>
        </p:txBody>
      </p:sp>
    </p:spTree>
    <p:extLst>
      <p:ext uri="{BB962C8B-B14F-4D97-AF65-F5344CB8AC3E}">
        <p14:creationId xmlns:p14="http://schemas.microsoft.com/office/powerpoint/2010/main" val="207139463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http://www.chpc.utah.edu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2BB4CB58-B347-5B4D-9C8E-5A887AD7F3E7}" type="datetime1">
              <a:rPr lang="en-US" smtClean="0"/>
              <a:t>1/14/25</a:t>
            </a:fld>
            <a:endParaRPr lang="en-US"/>
          </a:p>
        </p:txBody>
      </p:sp>
      <p:sp>
        <p:nvSpPr>
          <p:cNvPr id="1946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92D9234-6126-A744-9630-0322AA72A86E}" type="slidenum">
              <a:rPr lang="en-US"/>
              <a:pPr/>
              <a:t>23</a:t>
            </a:fld>
            <a:endParaRPr lang="en-US"/>
          </a:p>
        </p:txBody>
      </p:sp>
      <p:sp>
        <p:nvSpPr>
          <p:cNvPr id="1946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03725"/>
            <a:ext cx="5121275" cy="274638"/>
          </a:xfrm>
          <a:noFill/>
          <a:ln/>
        </p:spPr>
        <p:txBody>
          <a:bodyPr/>
          <a:lstStyle/>
          <a:p>
            <a:pPr eaLnBrk="1" hangingPunct="1"/>
            <a:endParaRPr lang="en-US" dirty="0">
              <a:latin typeface="Times" pitchFamily="26" charset="0"/>
              <a:ea typeface="ＭＳ Ｐゴシック" pitchFamily="26" charset="-128"/>
              <a:cs typeface="ＭＳ Ｐゴシック" pitchFamily="26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6040543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http://www.chpc.utah.edu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2BB4CB58-B347-5B4D-9C8E-5A887AD7F3E7}" type="datetime1">
              <a:rPr lang="en-US" smtClean="0"/>
              <a:t>1/14/25</a:t>
            </a:fld>
            <a:endParaRPr lang="en-US"/>
          </a:p>
        </p:txBody>
      </p:sp>
      <p:sp>
        <p:nvSpPr>
          <p:cNvPr id="1946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92D9234-6126-A744-9630-0322AA72A86E}" type="slidenum">
              <a:rPr lang="en-US"/>
              <a:pPr/>
              <a:t>24</a:t>
            </a:fld>
            <a:endParaRPr lang="en-US"/>
          </a:p>
        </p:txBody>
      </p:sp>
      <p:sp>
        <p:nvSpPr>
          <p:cNvPr id="1946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03725"/>
            <a:ext cx="5121275" cy="274638"/>
          </a:xfrm>
          <a:noFill/>
          <a:ln/>
        </p:spPr>
        <p:txBody>
          <a:bodyPr/>
          <a:lstStyle/>
          <a:p>
            <a:pPr eaLnBrk="1" hangingPunct="1"/>
            <a:r>
              <a:rPr lang="en-US" dirty="0">
                <a:latin typeface="Times" pitchFamily="26" charset="0"/>
                <a:ea typeface="ＭＳ Ｐゴシック" pitchFamily="26" charset="-128"/>
                <a:cs typeface="ＭＳ Ｐゴシック" pitchFamily="26" charset="-128"/>
              </a:rPr>
              <a:t>Load the desired modules into your environment so that the computer can recognize the commands you are giving it</a:t>
            </a:r>
          </a:p>
        </p:txBody>
      </p:sp>
    </p:spTree>
    <p:extLst>
      <p:ext uri="{BB962C8B-B14F-4D97-AF65-F5344CB8AC3E}">
        <p14:creationId xmlns:p14="http://schemas.microsoft.com/office/powerpoint/2010/main" val="330437833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http://www.chpc.utah.edu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2BB4CB58-B347-5B4D-9C8E-5A887AD7F3E7}" type="datetime1">
              <a:rPr lang="en-US" smtClean="0"/>
              <a:t>1/14/25</a:t>
            </a:fld>
            <a:endParaRPr lang="en-US"/>
          </a:p>
        </p:txBody>
      </p:sp>
      <p:sp>
        <p:nvSpPr>
          <p:cNvPr id="1946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92D9234-6126-A744-9630-0322AA72A86E}" type="slidenum">
              <a:rPr lang="en-US"/>
              <a:pPr/>
              <a:t>25</a:t>
            </a:fld>
            <a:endParaRPr lang="en-US"/>
          </a:p>
        </p:txBody>
      </p:sp>
      <p:sp>
        <p:nvSpPr>
          <p:cNvPr id="1946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03725"/>
            <a:ext cx="5121275" cy="274638"/>
          </a:xfrm>
          <a:noFill/>
          <a:ln/>
        </p:spPr>
        <p:txBody>
          <a:bodyPr/>
          <a:lstStyle/>
          <a:p>
            <a:pPr eaLnBrk="1" hangingPunct="1"/>
            <a:r>
              <a:rPr lang="en-US" dirty="0">
                <a:latin typeface="Times" pitchFamily="26" charset="0"/>
                <a:ea typeface="ＭＳ Ｐゴシック" pitchFamily="26" charset="-128"/>
                <a:cs typeface="ＭＳ Ｐゴシック" pitchFamily="26" charset="-128"/>
              </a:rPr>
              <a:t>This is what a </a:t>
            </a:r>
            <a:r>
              <a:rPr lang="en-US" dirty="0" err="1">
                <a:latin typeface="Times" pitchFamily="26" charset="0"/>
                <a:ea typeface="ＭＳ Ｐゴシック" pitchFamily="26" charset="-128"/>
                <a:cs typeface="ＭＳ Ｐゴシック" pitchFamily="26" charset="-128"/>
              </a:rPr>
              <a:t>slurm</a:t>
            </a:r>
            <a:r>
              <a:rPr lang="en-US" dirty="0">
                <a:latin typeface="Times" pitchFamily="26" charset="0"/>
                <a:ea typeface="ＭＳ Ｐゴシック" pitchFamily="26" charset="-128"/>
                <a:cs typeface="ＭＳ Ｐゴシック" pitchFamily="26" charset="-128"/>
              </a:rPr>
              <a:t> script looks like all together. It looks like a lot of information at first, but lets break it down piece by piece.</a:t>
            </a:r>
          </a:p>
        </p:txBody>
      </p:sp>
    </p:spTree>
    <p:extLst>
      <p:ext uri="{BB962C8B-B14F-4D97-AF65-F5344CB8AC3E}">
        <p14:creationId xmlns:p14="http://schemas.microsoft.com/office/powerpoint/2010/main" val="91953683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http://www.chpc.utah.edu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2BB4CB58-B347-5B4D-9C8E-5A887AD7F3E7}" type="datetime1">
              <a:rPr lang="en-US" smtClean="0"/>
              <a:t>1/14/25</a:t>
            </a:fld>
            <a:endParaRPr lang="en-US"/>
          </a:p>
        </p:txBody>
      </p:sp>
      <p:sp>
        <p:nvSpPr>
          <p:cNvPr id="1946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92D9234-6126-A744-9630-0322AA72A86E}" type="slidenum">
              <a:rPr lang="en-US"/>
              <a:pPr/>
              <a:t>26</a:t>
            </a:fld>
            <a:endParaRPr lang="en-US"/>
          </a:p>
        </p:txBody>
      </p:sp>
      <p:sp>
        <p:nvSpPr>
          <p:cNvPr id="1946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03725"/>
            <a:ext cx="5121275" cy="274638"/>
          </a:xfrm>
          <a:noFill/>
          <a:ln/>
        </p:spPr>
        <p:txBody>
          <a:bodyPr/>
          <a:lstStyle/>
          <a:p>
            <a:pPr eaLnBrk="1" hangingPunct="1"/>
            <a:r>
              <a:rPr lang="en-US" dirty="0">
                <a:latin typeface="Times" pitchFamily="26" charset="0"/>
                <a:ea typeface="ＭＳ Ｐゴシック" pitchFamily="26" charset="-128"/>
                <a:cs typeface="ＭＳ Ｐゴシック" pitchFamily="26" charset="-128"/>
              </a:rPr>
              <a:t>Finally, you clean up after yourself.</a:t>
            </a:r>
          </a:p>
          <a:p>
            <a:pPr eaLnBrk="1" hangingPunct="1"/>
            <a:r>
              <a:rPr lang="en-US" dirty="0">
                <a:latin typeface="Times" pitchFamily="26" charset="0"/>
                <a:ea typeface="ＭＳ Ｐゴシック" pitchFamily="26" charset="-128"/>
                <a:cs typeface="ＭＳ Ｐゴシック" pitchFamily="26" charset="-128"/>
              </a:rPr>
              <a:t>Removing $SCRDIR is the most important part, because the scratch directories (vast and nfs1) frequently fill up and we have to remind users to clean up those directories.</a:t>
            </a:r>
          </a:p>
        </p:txBody>
      </p:sp>
    </p:spTree>
    <p:extLst>
      <p:ext uri="{BB962C8B-B14F-4D97-AF65-F5344CB8AC3E}">
        <p14:creationId xmlns:p14="http://schemas.microsoft.com/office/powerpoint/2010/main" val="244574866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http://www.chpc.utah.edu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2BB4CB58-B347-5B4D-9C8E-5A887AD7F3E7}" type="datetime1">
              <a:rPr lang="en-US" smtClean="0"/>
              <a:t>1/14/25</a:t>
            </a:fld>
            <a:endParaRPr lang="en-US"/>
          </a:p>
        </p:txBody>
      </p:sp>
      <p:sp>
        <p:nvSpPr>
          <p:cNvPr id="1946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92D9234-6126-A744-9630-0322AA72A86E}" type="slidenum">
              <a:rPr lang="en-US"/>
              <a:pPr/>
              <a:t>27</a:t>
            </a:fld>
            <a:endParaRPr lang="en-US"/>
          </a:p>
        </p:txBody>
      </p:sp>
      <p:sp>
        <p:nvSpPr>
          <p:cNvPr id="1946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03725"/>
            <a:ext cx="5121275" cy="274638"/>
          </a:xfrm>
          <a:noFill/>
          <a:ln/>
        </p:spPr>
        <p:txBody>
          <a:bodyPr/>
          <a:lstStyle/>
          <a:p>
            <a:pPr eaLnBrk="1" hangingPunct="1"/>
            <a:r>
              <a:rPr lang="en-US" dirty="0">
                <a:latin typeface="Times" pitchFamily="26" charset="0"/>
                <a:ea typeface="ＭＳ Ｐゴシック" pitchFamily="26" charset="-128"/>
                <a:cs typeface="ＭＳ Ｐゴシック" pitchFamily="26" charset="-128"/>
              </a:rPr>
              <a:t>And there you have it! You have a whole SLURM script.</a:t>
            </a:r>
          </a:p>
        </p:txBody>
      </p:sp>
    </p:spTree>
    <p:extLst>
      <p:ext uri="{BB962C8B-B14F-4D97-AF65-F5344CB8AC3E}">
        <p14:creationId xmlns:p14="http://schemas.microsoft.com/office/powerpoint/2010/main" val="76485924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sbatch</a:t>
            </a:r>
            <a:r>
              <a:rPr lang="en-US" dirty="0"/>
              <a:t> is the command to use. If your #SBATCH directives have no errors, you will see a message pop up that looks like this…</a:t>
            </a:r>
          </a:p>
          <a:p>
            <a:r>
              <a:rPr lang="en-US" dirty="0"/>
              <a:t>This is the SLURM job id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http://www.chpc.utah.edu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6C81A55C-D3F3-414F-ACAE-23B92BAD237C}" type="datetime1">
              <a:rPr lang="en-US" smtClean="0"/>
              <a:t>1/14/25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895A6-670A-7448-8EB0-8F0271884791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20589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demonstration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http://www.chpc.utah.edu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6C81A55C-D3F3-414F-ACAE-23B92BAD237C}" type="datetime1">
              <a:rPr lang="en-US" smtClean="0"/>
              <a:t>1/14/25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895A6-670A-7448-8EB0-8F0271884791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33303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http://www.chpc.utah.edu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6C81A55C-D3F3-414F-ACAE-23B92BAD237C}" type="datetime1">
              <a:rPr lang="en-US" smtClean="0"/>
              <a:t>1/14/25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895A6-670A-7448-8EB0-8F0271884791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45559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>
            <a:spLocks noGrp="1" noRot="1" noChangeAspect="1"/>
          </p:cNvSpPr>
          <p:nvPr>
            <p:ph type="sldImg" idx="2"/>
          </p:nvPr>
        </p:nvSpPr>
        <p:spPr>
          <a:xfrm>
            <a:off x="1174750" y="695325"/>
            <a:ext cx="4635500" cy="347662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" name="Shape 37"/>
          <p:cNvSpPr txBox="1">
            <a:spLocks noGrp="1"/>
          </p:cNvSpPr>
          <p:nvPr>
            <p:ph type="body" idx="1"/>
          </p:nvPr>
        </p:nvSpPr>
        <p:spPr>
          <a:xfrm>
            <a:off x="698501" y="4403725"/>
            <a:ext cx="5587999" cy="4171950"/>
          </a:xfrm>
          <a:prstGeom prst="rect">
            <a:avLst/>
          </a:prstGeom>
          <a:noFill/>
          <a:ln>
            <a:noFill/>
          </a:ln>
        </p:spPr>
        <p:txBody>
          <a:bodyPr lIns="92870" tIns="92870" rIns="92870" bIns="92870" anchor="t" anchorCtr="0">
            <a:noAutofit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4772592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>
            <a:spLocks noGrp="1" noRot="1" noChangeAspect="1"/>
          </p:cNvSpPr>
          <p:nvPr>
            <p:ph type="sldImg" idx="2"/>
          </p:nvPr>
        </p:nvSpPr>
        <p:spPr>
          <a:xfrm>
            <a:off x="1174750" y="695325"/>
            <a:ext cx="4635500" cy="347662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" name="Shape 37"/>
          <p:cNvSpPr txBox="1">
            <a:spLocks noGrp="1"/>
          </p:cNvSpPr>
          <p:nvPr>
            <p:ph type="body" idx="1"/>
          </p:nvPr>
        </p:nvSpPr>
        <p:spPr>
          <a:xfrm>
            <a:off x="698501" y="4403725"/>
            <a:ext cx="5587999" cy="4171950"/>
          </a:xfrm>
          <a:prstGeom prst="rect">
            <a:avLst/>
          </a:prstGeom>
          <a:noFill/>
          <a:ln>
            <a:noFill/>
          </a:ln>
        </p:spPr>
        <p:txBody>
          <a:bodyPr lIns="92870" tIns="92870" rIns="92870" bIns="92870" anchor="t" anchorCtr="0">
            <a:noAutofit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8891664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>
            <a:spLocks noGrp="1" noRot="1" noChangeAspect="1"/>
          </p:cNvSpPr>
          <p:nvPr>
            <p:ph type="sldImg" idx="2"/>
          </p:nvPr>
        </p:nvSpPr>
        <p:spPr>
          <a:xfrm>
            <a:off x="1174750" y="695325"/>
            <a:ext cx="4635500" cy="347662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" name="Shape 37"/>
          <p:cNvSpPr txBox="1">
            <a:spLocks noGrp="1"/>
          </p:cNvSpPr>
          <p:nvPr>
            <p:ph type="body" idx="1"/>
          </p:nvPr>
        </p:nvSpPr>
        <p:spPr>
          <a:xfrm>
            <a:off x="698501" y="4403725"/>
            <a:ext cx="5587999" cy="4171950"/>
          </a:xfrm>
          <a:prstGeom prst="rect">
            <a:avLst/>
          </a:prstGeom>
          <a:noFill/>
          <a:ln>
            <a:noFill/>
          </a:ln>
        </p:spPr>
        <p:txBody>
          <a:bodyPr lIns="92870" tIns="92870" rIns="92870" bIns="92870" anchor="t" anchorCtr="0">
            <a:noAutofit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3212510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>
            <a:spLocks noGrp="1" noRot="1" noChangeAspect="1"/>
          </p:cNvSpPr>
          <p:nvPr>
            <p:ph type="sldImg" idx="2"/>
          </p:nvPr>
        </p:nvSpPr>
        <p:spPr>
          <a:xfrm>
            <a:off x="1174750" y="695325"/>
            <a:ext cx="4635500" cy="347662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" name="Shape 37"/>
          <p:cNvSpPr txBox="1">
            <a:spLocks noGrp="1"/>
          </p:cNvSpPr>
          <p:nvPr>
            <p:ph type="body" idx="1"/>
          </p:nvPr>
        </p:nvSpPr>
        <p:spPr>
          <a:xfrm>
            <a:off x="698501" y="4403725"/>
            <a:ext cx="5587999" cy="4171950"/>
          </a:xfrm>
          <a:prstGeom prst="rect">
            <a:avLst/>
          </a:prstGeom>
          <a:noFill/>
          <a:ln>
            <a:noFill/>
          </a:ln>
        </p:spPr>
        <p:txBody>
          <a:bodyPr lIns="92870" tIns="92870" rIns="92870" bIns="92870" anchor="t" anchorCtr="0">
            <a:noAutofit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5311593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>
            <a:spLocks noGrp="1" noRot="1" noChangeAspect="1"/>
          </p:cNvSpPr>
          <p:nvPr>
            <p:ph type="sldImg" idx="2"/>
          </p:nvPr>
        </p:nvSpPr>
        <p:spPr>
          <a:xfrm>
            <a:off x="1174750" y="695325"/>
            <a:ext cx="4635500" cy="347662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" name="Shape 37"/>
          <p:cNvSpPr txBox="1">
            <a:spLocks noGrp="1"/>
          </p:cNvSpPr>
          <p:nvPr>
            <p:ph type="body" idx="1"/>
          </p:nvPr>
        </p:nvSpPr>
        <p:spPr>
          <a:xfrm>
            <a:off x="698501" y="4403725"/>
            <a:ext cx="5587999" cy="4171950"/>
          </a:xfrm>
          <a:prstGeom prst="rect">
            <a:avLst/>
          </a:prstGeom>
          <a:noFill/>
          <a:ln>
            <a:noFill/>
          </a:ln>
        </p:spPr>
        <p:txBody>
          <a:bodyPr lIns="92870" tIns="92870" rIns="92870" bIns="92870" anchor="t" anchorCtr="0">
            <a:noAutofit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3482161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>
            <a:spLocks noGrp="1" noRot="1" noChangeAspect="1"/>
          </p:cNvSpPr>
          <p:nvPr>
            <p:ph type="sldImg" idx="2"/>
          </p:nvPr>
        </p:nvSpPr>
        <p:spPr>
          <a:xfrm>
            <a:off x="1174750" y="695325"/>
            <a:ext cx="4635500" cy="347662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" name="Shape 37"/>
          <p:cNvSpPr txBox="1">
            <a:spLocks noGrp="1"/>
          </p:cNvSpPr>
          <p:nvPr>
            <p:ph type="body" idx="1"/>
          </p:nvPr>
        </p:nvSpPr>
        <p:spPr>
          <a:xfrm>
            <a:off x="698501" y="4403725"/>
            <a:ext cx="5587999" cy="4171950"/>
          </a:xfrm>
          <a:prstGeom prst="rect">
            <a:avLst/>
          </a:prstGeom>
          <a:noFill/>
          <a:ln>
            <a:noFill/>
          </a:ln>
        </p:spPr>
        <p:txBody>
          <a:bodyPr lIns="92870" tIns="92870" rIns="92870" bIns="92870" anchor="t" anchorCtr="0">
            <a:noAutofit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5410749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>
            <a:spLocks noGrp="1" noRot="1" noChangeAspect="1"/>
          </p:cNvSpPr>
          <p:nvPr>
            <p:ph type="sldImg" idx="2"/>
          </p:nvPr>
        </p:nvSpPr>
        <p:spPr>
          <a:xfrm>
            <a:off x="1174750" y="695325"/>
            <a:ext cx="4635500" cy="347662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" name="Shape 37"/>
          <p:cNvSpPr txBox="1">
            <a:spLocks noGrp="1"/>
          </p:cNvSpPr>
          <p:nvPr>
            <p:ph type="body" idx="1"/>
          </p:nvPr>
        </p:nvSpPr>
        <p:spPr>
          <a:xfrm>
            <a:off x="698501" y="4403725"/>
            <a:ext cx="5587999" cy="4171950"/>
          </a:xfrm>
          <a:prstGeom prst="rect">
            <a:avLst/>
          </a:prstGeom>
          <a:noFill/>
          <a:ln>
            <a:noFill/>
          </a:ln>
        </p:spPr>
        <p:txBody>
          <a:bodyPr lIns="92870" tIns="92870" rIns="92870" bIns="92870" anchor="t" anchorCtr="0">
            <a:noAutofit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3802427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>
            <a:spLocks noGrp="1" noRot="1" noChangeAspect="1"/>
          </p:cNvSpPr>
          <p:nvPr>
            <p:ph type="sldImg" idx="2"/>
          </p:nvPr>
        </p:nvSpPr>
        <p:spPr>
          <a:xfrm>
            <a:off x="1174750" y="695325"/>
            <a:ext cx="4635500" cy="347662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" name="Shape 37"/>
          <p:cNvSpPr txBox="1">
            <a:spLocks noGrp="1"/>
          </p:cNvSpPr>
          <p:nvPr>
            <p:ph type="body" idx="1"/>
          </p:nvPr>
        </p:nvSpPr>
        <p:spPr>
          <a:xfrm>
            <a:off x="698501" y="4403725"/>
            <a:ext cx="5587999" cy="4171950"/>
          </a:xfrm>
          <a:prstGeom prst="rect">
            <a:avLst/>
          </a:prstGeom>
          <a:noFill/>
          <a:ln>
            <a:noFill/>
          </a:ln>
        </p:spPr>
        <p:txBody>
          <a:bodyPr lIns="92870" tIns="92870" rIns="92870" bIns="92870" anchor="t" anchorCtr="0">
            <a:noAutofit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1525853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>
            <a:spLocks noGrp="1" noRot="1" noChangeAspect="1"/>
          </p:cNvSpPr>
          <p:nvPr>
            <p:ph type="sldImg" idx="2"/>
          </p:nvPr>
        </p:nvSpPr>
        <p:spPr>
          <a:xfrm>
            <a:off x="1174750" y="695325"/>
            <a:ext cx="4635500" cy="347662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" name="Shape 37"/>
          <p:cNvSpPr txBox="1">
            <a:spLocks noGrp="1"/>
          </p:cNvSpPr>
          <p:nvPr>
            <p:ph type="body" idx="1"/>
          </p:nvPr>
        </p:nvSpPr>
        <p:spPr>
          <a:xfrm>
            <a:off x="698501" y="4403725"/>
            <a:ext cx="5587999" cy="4171950"/>
          </a:xfrm>
          <a:prstGeom prst="rect">
            <a:avLst/>
          </a:prstGeom>
          <a:noFill/>
          <a:ln>
            <a:noFill/>
          </a:ln>
        </p:spPr>
        <p:txBody>
          <a:bodyPr lIns="92870" tIns="92870" rIns="92870" bIns="92870" anchor="t" anchorCtr="0">
            <a:noAutofit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8241596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>
            <a:spLocks noGrp="1" noRot="1" noChangeAspect="1"/>
          </p:cNvSpPr>
          <p:nvPr>
            <p:ph type="sldImg" idx="2"/>
          </p:nvPr>
        </p:nvSpPr>
        <p:spPr>
          <a:xfrm>
            <a:off x="1174750" y="695325"/>
            <a:ext cx="4635500" cy="347662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" name="Shape 37"/>
          <p:cNvSpPr txBox="1">
            <a:spLocks noGrp="1"/>
          </p:cNvSpPr>
          <p:nvPr>
            <p:ph type="body" idx="1"/>
          </p:nvPr>
        </p:nvSpPr>
        <p:spPr>
          <a:xfrm>
            <a:off x="698501" y="4403725"/>
            <a:ext cx="5587999" cy="4171950"/>
          </a:xfrm>
          <a:prstGeom prst="rect">
            <a:avLst/>
          </a:prstGeom>
          <a:noFill/>
          <a:ln>
            <a:noFill/>
          </a:ln>
        </p:spPr>
        <p:txBody>
          <a:bodyPr lIns="92870" tIns="92870" rIns="92870" bIns="92870" anchor="t" anchorCtr="0">
            <a:noAutofit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8986458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>
            <a:spLocks noGrp="1" noRot="1" noChangeAspect="1"/>
          </p:cNvSpPr>
          <p:nvPr>
            <p:ph type="sldImg" idx="2"/>
          </p:nvPr>
        </p:nvSpPr>
        <p:spPr>
          <a:xfrm>
            <a:off x="1174750" y="695325"/>
            <a:ext cx="4635500" cy="347662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" name="Shape 37"/>
          <p:cNvSpPr txBox="1">
            <a:spLocks noGrp="1"/>
          </p:cNvSpPr>
          <p:nvPr>
            <p:ph type="body" idx="1"/>
          </p:nvPr>
        </p:nvSpPr>
        <p:spPr>
          <a:xfrm>
            <a:off x="698501" y="4403725"/>
            <a:ext cx="5587999" cy="4171950"/>
          </a:xfrm>
          <a:prstGeom prst="rect">
            <a:avLst/>
          </a:prstGeom>
          <a:noFill/>
          <a:ln>
            <a:noFill/>
          </a:ln>
        </p:spPr>
        <p:txBody>
          <a:bodyPr lIns="92870" tIns="92870" rIns="92870" bIns="92870" anchor="t" anchorCtr="0">
            <a:noAutofit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4047571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>
            <a:spLocks noGrp="1" noRot="1" noChangeAspect="1"/>
          </p:cNvSpPr>
          <p:nvPr>
            <p:ph type="sldImg" idx="2"/>
          </p:nvPr>
        </p:nvSpPr>
        <p:spPr>
          <a:xfrm>
            <a:off x="1174750" y="695325"/>
            <a:ext cx="4635500" cy="347662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" name="Shape 37"/>
          <p:cNvSpPr txBox="1">
            <a:spLocks noGrp="1"/>
          </p:cNvSpPr>
          <p:nvPr>
            <p:ph type="body" idx="1"/>
          </p:nvPr>
        </p:nvSpPr>
        <p:spPr>
          <a:xfrm>
            <a:off x="698501" y="4403725"/>
            <a:ext cx="5587999" cy="4171950"/>
          </a:xfrm>
          <a:prstGeom prst="rect">
            <a:avLst/>
          </a:prstGeom>
          <a:noFill/>
          <a:ln>
            <a:noFill/>
          </a:ln>
        </p:spPr>
        <p:txBody>
          <a:bodyPr lIns="92870" tIns="92870" rIns="92870" bIns="92870" anchor="t" anchorCtr="0">
            <a:noAutofit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2070928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http://www.chpc.utah.edu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EA19B2C9-D816-8745-9B75-224A39CD4194}" type="datetime1">
              <a:rPr lang="en-US" smtClean="0"/>
              <a:t>1/14/25</a:t>
            </a:fld>
            <a:endParaRPr lang="en-US"/>
          </a:p>
        </p:txBody>
      </p:sp>
      <p:sp>
        <p:nvSpPr>
          <p:cNvPr id="1946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92D9234-6126-A744-9630-0322AA72A86E}" type="slidenum">
              <a:rPr lang="en-US"/>
              <a:pPr/>
              <a:t>43</a:t>
            </a:fld>
            <a:endParaRPr lang="en-US"/>
          </a:p>
        </p:txBody>
      </p:sp>
      <p:sp>
        <p:nvSpPr>
          <p:cNvPr id="1946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03725"/>
            <a:ext cx="5121275" cy="274638"/>
          </a:xfrm>
          <a:noFill/>
          <a:ln/>
        </p:spPr>
        <p:txBody>
          <a:bodyPr/>
          <a:lstStyle/>
          <a:p>
            <a:pPr eaLnBrk="1" hangingPunct="1"/>
            <a:endParaRPr lang="en-US">
              <a:latin typeface="Times" pitchFamily="26" charset="0"/>
              <a:ea typeface="ＭＳ Ｐゴシック" pitchFamily="26" charset="-128"/>
              <a:cs typeface="ＭＳ Ｐゴシック" pitchFamily="26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5442561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http://www.chpc.utah.edu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EA19B2C9-D816-8745-9B75-224A39CD4194}" type="datetime1">
              <a:rPr lang="en-US" smtClean="0"/>
              <a:t>1/14/25</a:t>
            </a:fld>
            <a:endParaRPr lang="en-US"/>
          </a:p>
        </p:txBody>
      </p:sp>
      <p:sp>
        <p:nvSpPr>
          <p:cNvPr id="1946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92D9234-6126-A744-9630-0322AA72A86E}" type="slidenum">
              <a:rPr lang="en-US"/>
              <a:pPr/>
              <a:t>44</a:t>
            </a:fld>
            <a:endParaRPr lang="en-US"/>
          </a:p>
        </p:txBody>
      </p:sp>
      <p:sp>
        <p:nvSpPr>
          <p:cNvPr id="1946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03725"/>
            <a:ext cx="5121275" cy="274638"/>
          </a:xfrm>
          <a:noFill/>
          <a:ln/>
        </p:spPr>
        <p:txBody>
          <a:bodyPr/>
          <a:lstStyle/>
          <a:p>
            <a:pPr eaLnBrk="1" hangingPunct="1"/>
            <a:endParaRPr lang="en-US">
              <a:latin typeface="Times" pitchFamily="26" charset="0"/>
              <a:ea typeface="ＭＳ Ｐゴシック" pitchFamily="26" charset="-128"/>
              <a:cs typeface="ＭＳ Ｐゴシック" pitchFamily="26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2255421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http://www.chpc.utah.edu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EA19B2C9-D816-8745-9B75-224A39CD4194}" type="datetime1">
              <a:rPr lang="en-US" smtClean="0"/>
              <a:t>1/14/25</a:t>
            </a:fld>
            <a:endParaRPr lang="en-US"/>
          </a:p>
        </p:txBody>
      </p:sp>
      <p:sp>
        <p:nvSpPr>
          <p:cNvPr id="1946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92D9234-6126-A744-9630-0322AA72A86E}" type="slidenum">
              <a:rPr lang="en-US"/>
              <a:pPr/>
              <a:t>45</a:t>
            </a:fld>
            <a:endParaRPr lang="en-US"/>
          </a:p>
        </p:txBody>
      </p:sp>
      <p:sp>
        <p:nvSpPr>
          <p:cNvPr id="1946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03725"/>
            <a:ext cx="5121275" cy="274638"/>
          </a:xfrm>
          <a:noFill/>
          <a:ln/>
        </p:spPr>
        <p:txBody>
          <a:bodyPr/>
          <a:lstStyle/>
          <a:p>
            <a:pPr eaLnBrk="1" hangingPunct="1"/>
            <a:endParaRPr lang="en-US">
              <a:latin typeface="Times" pitchFamily="26" charset="0"/>
              <a:ea typeface="ＭＳ Ｐゴシック" pitchFamily="26" charset="-128"/>
              <a:cs typeface="ＭＳ Ｐゴシック" pitchFamily="26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6148313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http://www.chpc.utah.edu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EA19B2C9-D816-8745-9B75-224A39CD4194}" type="datetime1">
              <a:rPr lang="en-US" smtClean="0"/>
              <a:t>1/14/25</a:t>
            </a:fld>
            <a:endParaRPr lang="en-US"/>
          </a:p>
        </p:txBody>
      </p:sp>
      <p:sp>
        <p:nvSpPr>
          <p:cNvPr id="1946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92D9234-6126-A744-9630-0322AA72A86E}" type="slidenum">
              <a:rPr lang="en-US"/>
              <a:pPr/>
              <a:t>46</a:t>
            </a:fld>
            <a:endParaRPr lang="en-US"/>
          </a:p>
        </p:txBody>
      </p:sp>
      <p:sp>
        <p:nvSpPr>
          <p:cNvPr id="1946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03725"/>
            <a:ext cx="5121275" cy="274638"/>
          </a:xfrm>
          <a:noFill/>
          <a:ln/>
        </p:spPr>
        <p:txBody>
          <a:bodyPr/>
          <a:lstStyle/>
          <a:p>
            <a:pPr eaLnBrk="1" hangingPunct="1"/>
            <a:endParaRPr lang="en-US">
              <a:latin typeface="Times" pitchFamily="26" charset="0"/>
              <a:ea typeface="ＭＳ Ｐゴシック" pitchFamily="26" charset="-128"/>
              <a:cs typeface="ＭＳ Ｐゴシック" pitchFamily="26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4175772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http://www.chpc.utah.edu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EA19B2C9-D816-8745-9B75-224A39CD4194}" type="datetime1">
              <a:rPr lang="en-US" smtClean="0"/>
              <a:t>1/14/25</a:t>
            </a:fld>
            <a:endParaRPr lang="en-US"/>
          </a:p>
        </p:txBody>
      </p:sp>
      <p:sp>
        <p:nvSpPr>
          <p:cNvPr id="1946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92D9234-6126-A744-9630-0322AA72A86E}" type="slidenum">
              <a:rPr lang="en-US"/>
              <a:pPr/>
              <a:t>47</a:t>
            </a:fld>
            <a:endParaRPr lang="en-US"/>
          </a:p>
        </p:txBody>
      </p:sp>
      <p:sp>
        <p:nvSpPr>
          <p:cNvPr id="1946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03725"/>
            <a:ext cx="5121275" cy="274638"/>
          </a:xfrm>
          <a:noFill/>
          <a:ln/>
        </p:spPr>
        <p:txBody>
          <a:bodyPr/>
          <a:lstStyle/>
          <a:p>
            <a:pPr eaLnBrk="1" hangingPunct="1"/>
            <a:endParaRPr lang="en-US">
              <a:latin typeface="Times" pitchFamily="26" charset="0"/>
              <a:ea typeface="ＭＳ Ｐゴシック" pitchFamily="26" charset="-128"/>
              <a:cs typeface="ＭＳ Ｐゴシック" pitchFamily="26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0846180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>
            <a:spLocks noGrp="1" noRot="1" noChangeAspect="1"/>
          </p:cNvSpPr>
          <p:nvPr>
            <p:ph type="sldImg" idx="2"/>
          </p:nvPr>
        </p:nvSpPr>
        <p:spPr>
          <a:xfrm>
            <a:off x="1174750" y="695325"/>
            <a:ext cx="4635500" cy="347662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" name="Shape 37"/>
          <p:cNvSpPr txBox="1">
            <a:spLocks noGrp="1"/>
          </p:cNvSpPr>
          <p:nvPr>
            <p:ph type="body" idx="1"/>
          </p:nvPr>
        </p:nvSpPr>
        <p:spPr>
          <a:xfrm>
            <a:off x="698501" y="4403725"/>
            <a:ext cx="5587999" cy="4171950"/>
          </a:xfrm>
          <a:prstGeom prst="rect">
            <a:avLst/>
          </a:prstGeom>
          <a:noFill/>
          <a:ln>
            <a:noFill/>
          </a:ln>
        </p:spPr>
        <p:txBody>
          <a:bodyPr lIns="92870" tIns="92870" rIns="92870" bIns="92870" anchor="t" anchorCtr="0">
            <a:noAutofit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2990014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http://www.chpc.utah.edu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EA19B2C9-D816-8745-9B75-224A39CD4194}" type="datetime1">
              <a:rPr lang="en-US" smtClean="0"/>
              <a:t>1/14/25</a:t>
            </a:fld>
            <a:endParaRPr lang="en-US"/>
          </a:p>
        </p:txBody>
      </p:sp>
      <p:sp>
        <p:nvSpPr>
          <p:cNvPr id="1946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92D9234-6126-A744-9630-0322AA72A86E}" type="slidenum">
              <a:rPr lang="en-US"/>
              <a:pPr/>
              <a:t>49</a:t>
            </a:fld>
            <a:endParaRPr lang="en-US"/>
          </a:p>
        </p:txBody>
      </p:sp>
      <p:sp>
        <p:nvSpPr>
          <p:cNvPr id="1946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03725"/>
            <a:ext cx="5121275" cy="274638"/>
          </a:xfrm>
          <a:noFill/>
          <a:ln/>
        </p:spPr>
        <p:txBody>
          <a:bodyPr/>
          <a:lstStyle/>
          <a:p>
            <a:pPr eaLnBrk="1" hangingPunct="1"/>
            <a:r>
              <a:rPr lang="en-US" dirty="0">
                <a:latin typeface="Times" pitchFamily="26" charset="0"/>
                <a:ea typeface="ＭＳ Ｐゴシック" pitchFamily="26" charset="-128"/>
                <a:cs typeface="ＭＳ Ｐゴシック" pitchFamily="26" charset="-128"/>
              </a:rPr>
              <a:t>Show them how this works in talk</a:t>
            </a:r>
          </a:p>
        </p:txBody>
      </p:sp>
    </p:spTree>
    <p:extLst>
      <p:ext uri="{BB962C8B-B14F-4D97-AF65-F5344CB8AC3E}">
        <p14:creationId xmlns:p14="http://schemas.microsoft.com/office/powerpoint/2010/main" val="350299032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http://www.chpc.utah.edu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EA19B2C9-D816-8745-9B75-224A39CD4194}" type="datetime1">
              <a:rPr lang="en-US" smtClean="0"/>
              <a:t>1/14/25</a:t>
            </a:fld>
            <a:endParaRPr lang="en-US"/>
          </a:p>
        </p:txBody>
      </p:sp>
      <p:sp>
        <p:nvSpPr>
          <p:cNvPr id="1946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92D9234-6126-A744-9630-0322AA72A86E}" type="slidenum">
              <a:rPr lang="en-US"/>
              <a:pPr/>
              <a:t>50</a:t>
            </a:fld>
            <a:endParaRPr lang="en-US"/>
          </a:p>
        </p:txBody>
      </p:sp>
      <p:sp>
        <p:nvSpPr>
          <p:cNvPr id="1946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03725"/>
            <a:ext cx="5121275" cy="274638"/>
          </a:xfrm>
          <a:noFill/>
          <a:ln/>
        </p:spPr>
        <p:txBody>
          <a:bodyPr/>
          <a:lstStyle/>
          <a:p>
            <a:pPr eaLnBrk="1" hangingPunct="1"/>
            <a:endParaRPr lang="en-US">
              <a:latin typeface="Times" pitchFamily="26" charset="0"/>
              <a:ea typeface="ＭＳ Ｐゴシック" pitchFamily="26" charset="-128"/>
              <a:cs typeface="ＭＳ Ｐゴシック" pitchFamily="26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23289780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http://www.chpc.utah.edu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EA19B2C9-D816-8745-9B75-224A39CD4194}" type="datetime1">
              <a:rPr lang="en-US" smtClean="0"/>
              <a:t>1/14/25</a:t>
            </a:fld>
            <a:endParaRPr lang="en-US"/>
          </a:p>
        </p:txBody>
      </p:sp>
      <p:sp>
        <p:nvSpPr>
          <p:cNvPr id="1946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92D9234-6126-A744-9630-0322AA72A86E}" type="slidenum">
              <a:rPr lang="en-US"/>
              <a:pPr/>
              <a:t>51</a:t>
            </a:fld>
            <a:endParaRPr lang="en-US"/>
          </a:p>
        </p:txBody>
      </p:sp>
      <p:sp>
        <p:nvSpPr>
          <p:cNvPr id="1946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03725"/>
            <a:ext cx="5121275" cy="274638"/>
          </a:xfrm>
          <a:noFill/>
          <a:ln/>
        </p:spPr>
        <p:txBody>
          <a:bodyPr/>
          <a:lstStyle/>
          <a:p>
            <a:pPr eaLnBrk="1" hangingPunct="1"/>
            <a:endParaRPr lang="en-US">
              <a:latin typeface="Times" pitchFamily="26" charset="0"/>
              <a:ea typeface="ＭＳ Ｐゴシック" pitchFamily="26" charset="-128"/>
              <a:cs typeface="ＭＳ Ｐゴシック" pitchFamily="26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55919026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http://www.chpc.utah.edu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EA19B2C9-D816-8745-9B75-224A39CD4194}" type="datetime1">
              <a:rPr lang="en-US" smtClean="0"/>
              <a:t>1/14/25</a:t>
            </a:fld>
            <a:endParaRPr lang="en-US"/>
          </a:p>
        </p:txBody>
      </p:sp>
      <p:sp>
        <p:nvSpPr>
          <p:cNvPr id="1946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92D9234-6126-A744-9630-0322AA72A86E}" type="slidenum">
              <a:rPr lang="en-US"/>
              <a:pPr/>
              <a:t>52</a:t>
            </a:fld>
            <a:endParaRPr lang="en-US"/>
          </a:p>
        </p:txBody>
      </p:sp>
      <p:sp>
        <p:nvSpPr>
          <p:cNvPr id="1946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03725"/>
            <a:ext cx="5121275" cy="274638"/>
          </a:xfrm>
          <a:noFill/>
          <a:ln/>
        </p:spPr>
        <p:txBody>
          <a:bodyPr/>
          <a:lstStyle/>
          <a:p>
            <a:pPr eaLnBrk="1" hangingPunct="1"/>
            <a:endParaRPr lang="en-US">
              <a:latin typeface="Times" pitchFamily="26" charset="0"/>
              <a:ea typeface="ＭＳ Ｐゴシック" pitchFamily="26" charset="-128"/>
              <a:cs typeface="ＭＳ Ｐゴシック" pitchFamily="26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6211100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http://www.chpc.utah.edu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63FD9185-AD24-9B42-A0B5-54F9817CCCB7}" type="datetime1">
              <a:rPr lang="en-US" smtClean="0"/>
              <a:t>1/14/25</a:t>
            </a:fld>
            <a:endParaRPr lang="en-US"/>
          </a:p>
        </p:txBody>
      </p:sp>
      <p:sp>
        <p:nvSpPr>
          <p:cNvPr id="1946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92D9234-6126-A744-9630-0322AA72A86E}" type="slidenum">
              <a:rPr lang="en-US"/>
              <a:pPr/>
              <a:t>53</a:t>
            </a:fld>
            <a:endParaRPr lang="en-US"/>
          </a:p>
        </p:txBody>
      </p:sp>
      <p:sp>
        <p:nvSpPr>
          <p:cNvPr id="1946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03725"/>
            <a:ext cx="5121275" cy="274638"/>
          </a:xfrm>
          <a:noFill/>
          <a:ln/>
        </p:spPr>
        <p:txBody>
          <a:bodyPr/>
          <a:lstStyle/>
          <a:p>
            <a:pPr eaLnBrk="1" hangingPunct="1"/>
            <a:endParaRPr lang="en-US">
              <a:latin typeface="Times" pitchFamily="26" charset="0"/>
              <a:ea typeface="ＭＳ Ｐゴシック" pitchFamily="26" charset="-128"/>
              <a:cs typeface="ＭＳ Ｐゴシック" pitchFamily="26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1254446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http://www.chpc.utah.edu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FCD69FAF-FB69-C34E-8B9C-EFFFE36E46A2}" type="datetime1">
              <a:rPr lang="en-US" smtClean="0"/>
              <a:t>1/14/25</a:t>
            </a:fld>
            <a:endParaRPr lang="en-US"/>
          </a:p>
        </p:txBody>
      </p:sp>
      <p:sp>
        <p:nvSpPr>
          <p:cNvPr id="4301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C82E5BE-70E8-8441-A6F4-873B0B87C89F}" type="slidenum">
              <a:rPr lang="en-US"/>
              <a:pPr/>
              <a:t>54</a:t>
            </a:fld>
            <a:endParaRPr lang="en-US"/>
          </a:p>
        </p:txBody>
      </p:sp>
      <p:sp>
        <p:nvSpPr>
          <p:cNvPr id="4301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03725"/>
            <a:ext cx="5121275" cy="512763"/>
          </a:xfrm>
          <a:noFill/>
          <a:ln/>
        </p:spPr>
        <p:txBody>
          <a:bodyPr/>
          <a:lstStyle/>
          <a:p>
            <a:pPr eaLnBrk="1" hangingPunct="1"/>
            <a:r>
              <a:rPr lang="en-US" dirty="0">
                <a:latin typeface="Times" pitchFamily="26" charset="0"/>
                <a:ea typeface="ＭＳ Ｐゴシック" pitchFamily="26" charset="-128"/>
                <a:cs typeface="ＭＳ Ｐゴシック" pitchFamily="26" charset="-128"/>
              </a:rPr>
              <a:t>Will be changing to web maintenance.</a:t>
            </a:r>
          </a:p>
          <a:p>
            <a:pPr eaLnBrk="1" hangingPunct="1"/>
            <a:r>
              <a:rPr lang="en-US" dirty="0">
                <a:latin typeface="Times" pitchFamily="26" charset="0"/>
                <a:ea typeface="ＭＳ Ｐゴシック" pitchFamily="26" charset="-128"/>
                <a:cs typeface="ＭＳ Ｐゴシック" pitchFamily="26" charset="-128"/>
              </a:rPr>
              <a:t> 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5" descr="Web-Gray-Style-titl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7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 Box 16"/>
          <p:cNvSpPr txBox="1">
            <a:spLocks noChangeArrowheads="1"/>
          </p:cNvSpPr>
          <p:nvPr/>
        </p:nvSpPr>
        <p:spPr bwMode="auto">
          <a:xfrm>
            <a:off x="2895600" y="620713"/>
            <a:ext cx="5791200" cy="20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>
            <a:prstTxWarp prst="textNoShape">
              <a:avLst/>
            </a:prstTxWarp>
            <a:spAutoFit/>
          </a:bodyPr>
          <a:lstStyle/>
          <a:p>
            <a:pPr algn="r">
              <a:lnSpc>
                <a:spcPct val="40000"/>
              </a:lnSpc>
              <a:spcBef>
                <a:spcPct val="50000"/>
              </a:spcBef>
            </a:pPr>
            <a:r>
              <a:rPr lang="en-US" sz="1400">
                <a:solidFill>
                  <a:schemeClr val="bg1"/>
                </a:solidFill>
                <a:ea typeface="Arial" pitchFamily="26" charset="0"/>
                <a:cs typeface="Arial" pitchFamily="26" charset="0"/>
              </a:rPr>
              <a:t>CENTER FOR HIGH PERFORMANCE COMPUTING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22098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477000"/>
            <a:ext cx="1905000" cy="228600"/>
          </a:xfrm>
        </p:spPr>
        <p:txBody>
          <a:bodyPr/>
          <a:lstStyle>
            <a:lvl1pPr>
              <a:defRPr/>
            </a:lvl1pPr>
          </a:lstStyle>
          <a:p>
            <a:fld id="{55D5EE7A-2F0B-F045-A3C5-943ACEC06F73}" type="datetime1">
              <a:rPr lang="en-US" smtClean="0"/>
              <a:t>1/14/25</a:t>
            </a:fld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477000"/>
            <a:ext cx="2895600" cy="228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http://www.chpc.utah.edu</a:t>
            </a:r>
          </a:p>
        </p:txBody>
      </p:sp>
      <p:sp>
        <p:nvSpPr>
          <p:cNvPr id="8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477000"/>
            <a:ext cx="1905000" cy="228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Slide </a:t>
            </a:r>
            <a:fld id="{AB6857DE-E482-664B-9DAF-74BD27A93805}" type="slidenum">
              <a:rPr lang="en-US"/>
              <a:pPr/>
              <a:t>‹#›</a:t>
            </a:fld>
            <a:endParaRPr lang="en-US">
              <a:solidFill>
                <a:schemeClr val="tx1"/>
              </a:solidFill>
              <a:latin typeface="Times" pitchFamily="26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DF81612-102D-4C42-A0F0-339BF18A2360}" type="datetime1">
              <a:rPr lang="en-US" smtClean="0"/>
              <a:t>1/14/25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http://www.chpc.utah.edu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Slide </a:t>
            </a:r>
            <a:fld id="{22447915-5E49-6949-88C6-040B5AC0CE15}" type="slidenum">
              <a:rPr lang="en-US"/>
              <a:pPr/>
              <a:t>‹#›</a:t>
            </a:fld>
            <a:endParaRPr lang="en-US">
              <a:solidFill>
                <a:schemeClr val="tx1"/>
              </a:solidFill>
              <a:latin typeface="Times" pitchFamily="26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E98D671-C5DA-AF46-84EF-749DA99440AB}" type="datetime1">
              <a:rPr lang="en-US" smtClean="0"/>
              <a:t>1/14/25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http://www.chpc.utah.edu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Slide </a:t>
            </a:r>
            <a:fld id="{DF1DACF8-B80E-5049-AB6E-B944CC926368}" type="slidenum">
              <a:rPr lang="en-US"/>
              <a:pPr/>
              <a:t>‹#›</a:t>
            </a:fld>
            <a:endParaRPr lang="en-US">
              <a:solidFill>
                <a:schemeClr val="tx1"/>
              </a:solidFill>
              <a:latin typeface="Times" pitchFamily="26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286000"/>
            <a:ext cx="4000500" cy="3962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0100" y="2286000"/>
            <a:ext cx="4000500" cy="3962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5C48D57-3857-6F44-9A5B-F3531645B419}" type="datetime1">
              <a:rPr lang="en-US" smtClean="0"/>
              <a:t>1/14/25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http://www.chpc.utah.edu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Slide </a:t>
            </a:r>
            <a:fld id="{9038CFEA-FD42-FB4E-B1CF-7DA26AB4FF28}" type="slidenum">
              <a:rPr lang="en-US"/>
              <a:pPr/>
              <a:t>‹#›</a:t>
            </a:fld>
            <a:endParaRPr lang="en-US">
              <a:solidFill>
                <a:schemeClr val="tx1"/>
              </a:solidFill>
              <a:latin typeface="Times" pitchFamily="26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7B5D516-3E61-FC47-B3EE-AEB5B493CC2D}" type="datetime1">
              <a:rPr lang="en-US" smtClean="0"/>
              <a:t>1/14/25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http://www.chpc.utah.edu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Slide </a:t>
            </a:r>
            <a:fld id="{13691FDC-7B41-3441-87BD-AB307C5D9318}" type="slidenum">
              <a:rPr lang="en-US"/>
              <a:pPr/>
              <a:t>‹#›</a:t>
            </a:fld>
            <a:endParaRPr lang="en-US">
              <a:solidFill>
                <a:schemeClr val="tx1"/>
              </a:solidFill>
              <a:latin typeface="Times" pitchFamily="26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E645A94-515A-494B-8459-6B733D537A01}" type="datetime1">
              <a:rPr lang="en-US" smtClean="0"/>
              <a:t>1/14/25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http://www.chpc.utah.edu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Slide </a:t>
            </a:r>
            <a:fld id="{2253B3E3-4F5E-F04E-8EC9-D072D427100A}" type="slidenum">
              <a:rPr lang="en-US"/>
              <a:pPr/>
              <a:t>‹#›</a:t>
            </a:fld>
            <a:endParaRPr lang="en-US">
              <a:solidFill>
                <a:schemeClr val="tx1"/>
              </a:solidFill>
              <a:latin typeface="Times" pitchFamily="26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0B3524A-7318-A944-BA8D-F1BF3E5C8B6D}" type="datetime1">
              <a:rPr lang="en-US" smtClean="0"/>
              <a:t>1/14/25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http://www.chpc.utah.edu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Slide </a:t>
            </a:r>
            <a:fld id="{AB765C18-E0D6-214B-9724-6BA59D0E2BA5}" type="slidenum">
              <a:rPr lang="en-US"/>
              <a:pPr/>
              <a:t>‹#›</a:t>
            </a:fld>
            <a:endParaRPr lang="en-US">
              <a:solidFill>
                <a:schemeClr val="tx1"/>
              </a:solidFill>
              <a:latin typeface="Times" pitchFamily="26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0CB42E9-74BD-2A4D-807D-A7E072659848}" type="datetime1">
              <a:rPr lang="en-US" smtClean="0"/>
              <a:t>1/14/25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http://www.chpc.utah.edu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Slide </a:t>
            </a:r>
            <a:fld id="{6C5D2D06-8857-354B-A6BC-7DB3F58E19DC}" type="slidenum">
              <a:rPr lang="en-US"/>
              <a:pPr/>
              <a:t>‹#›</a:t>
            </a:fld>
            <a:endParaRPr lang="en-US">
              <a:solidFill>
                <a:schemeClr val="tx1"/>
              </a:solidFill>
              <a:latin typeface="Times" pitchFamily="26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2621F6A-EA8C-C545-8D8E-EE14F3F0E9E8}" type="datetime1">
              <a:rPr lang="en-US" smtClean="0"/>
              <a:t>1/14/25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http://www.chpc.utah.edu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Slide </a:t>
            </a:r>
            <a:fld id="{00663AAA-568B-174A-BFD6-6E0BE8FF9E8C}" type="slidenum">
              <a:rPr lang="en-US"/>
              <a:pPr/>
              <a:t>‹#›</a:t>
            </a:fld>
            <a:endParaRPr lang="en-US">
              <a:solidFill>
                <a:schemeClr val="tx1"/>
              </a:solidFill>
              <a:latin typeface="Times" pitchFamily="26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85B8D5C-F4EF-B649-B365-9A4DB83B2496}" type="datetime1">
              <a:rPr lang="en-US" smtClean="0"/>
              <a:t>1/14/25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http://www.chpc.utah.edu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Slide </a:t>
            </a:r>
            <a:fld id="{B6CA9314-EE0B-3B48-A076-6A12237D2552}" type="slidenum">
              <a:rPr lang="en-US"/>
              <a:pPr/>
              <a:t>‹#›</a:t>
            </a:fld>
            <a:endParaRPr lang="en-US">
              <a:solidFill>
                <a:schemeClr val="tx1"/>
              </a:solidFill>
              <a:latin typeface="Times" pitchFamily="26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72250" y="1219200"/>
            <a:ext cx="2038350" cy="5029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19200"/>
            <a:ext cx="5962650" cy="5029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DA9B093-FC82-AE41-AF04-D2D7DA79C7A2}" type="datetime1">
              <a:rPr lang="en-US" smtClean="0"/>
              <a:t>1/14/25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http://www.chpc.utah.edu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Slide </a:t>
            </a:r>
            <a:fld id="{0220D8AB-4353-1741-89AD-A6B6081117C4}" type="slidenum">
              <a:rPr lang="en-US"/>
              <a:pPr/>
              <a:t>‹#›</a:t>
            </a:fld>
            <a:endParaRPr lang="en-US">
              <a:solidFill>
                <a:schemeClr val="tx1"/>
              </a:solidFill>
              <a:latin typeface="Times" pitchFamily="26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7" descr="Web-Gray-Style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0"/>
            <a:ext cx="9144000" cy="687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19200"/>
            <a:ext cx="81534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2286000"/>
            <a:ext cx="8153400" cy="396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477000"/>
            <a:ext cx="1905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ea typeface="Arial" pitchFamily="26" charset="0"/>
                <a:cs typeface="Arial" pitchFamily="26" charset="0"/>
              </a:defRPr>
            </a:lvl1pPr>
          </a:lstStyle>
          <a:p>
            <a:fld id="{DB5C3C78-45DD-7D4B-BDDA-97BD873D1A45}" type="datetime1">
              <a:rPr lang="en-US" smtClean="0"/>
              <a:t>1/14/25</a:t>
            </a:fld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76600" y="6477000"/>
            <a:ext cx="28956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chemeClr val="bg1"/>
                </a:solidFill>
                <a:ea typeface="Arial" pitchFamily="26" charset="0"/>
                <a:cs typeface="Arial" pitchFamily="26" charset="0"/>
              </a:defRPr>
            </a:lvl1pPr>
          </a:lstStyle>
          <a:p>
            <a:r>
              <a:rPr lang="en-US"/>
              <a:t>http://www.chpc.utah.edu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05600" y="6477000"/>
            <a:ext cx="1905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bg1"/>
                </a:solidFill>
                <a:ea typeface="Arial" pitchFamily="26" charset="0"/>
                <a:cs typeface="Arial" pitchFamily="26" charset="0"/>
              </a:defRPr>
            </a:lvl1pPr>
          </a:lstStyle>
          <a:p>
            <a:r>
              <a:rPr lang="en-US"/>
              <a:t>Slide </a:t>
            </a:r>
            <a:fld id="{B09C61DA-0528-6E4F-BFAB-17FE19E2F6C9}" type="slidenum">
              <a:rPr lang="en-US"/>
              <a:pPr/>
              <a:t>‹#›</a:t>
            </a:fld>
            <a:endParaRPr lang="en-US">
              <a:latin typeface="Times" pitchFamily="26" charset="0"/>
            </a:endParaRPr>
          </a:p>
        </p:txBody>
      </p:sp>
      <p:sp>
        <p:nvSpPr>
          <p:cNvPr id="1042" name="Text Box 18"/>
          <p:cNvSpPr txBox="1">
            <a:spLocks noChangeArrowheads="1"/>
          </p:cNvSpPr>
          <p:nvPr/>
        </p:nvSpPr>
        <p:spPr bwMode="auto">
          <a:xfrm>
            <a:off x="2895600" y="620713"/>
            <a:ext cx="5791200" cy="20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>
            <a:prstTxWarp prst="textNoShape">
              <a:avLst/>
            </a:prstTxWarp>
            <a:spAutoFit/>
          </a:bodyPr>
          <a:lstStyle/>
          <a:p>
            <a:pPr algn="r">
              <a:lnSpc>
                <a:spcPct val="40000"/>
              </a:lnSpc>
              <a:spcBef>
                <a:spcPct val="50000"/>
              </a:spcBef>
            </a:pPr>
            <a:r>
              <a:rPr lang="en-US" sz="1400">
                <a:solidFill>
                  <a:schemeClr val="bg1"/>
                </a:solidFill>
                <a:ea typeface="Arial" pitchFamily="26" charset="0"/>
                <a:cs typeface="Arial" pitchFamily="26" charset="0"/>
              </a:rPr>
              <a:t>CENTER FOR HIGH PERFORMANCE COMPUTING	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05" r:id="rId1"/>
    <p:sldLayoutId id="2147484106" r:id="rId2"/>
    <p:sldLayoutId id="2147484107" r:id="rId3"/>
    <p:sldLayoutId id="2147484108" r:id="rId4"/>
    <p:sldLayoutId id="2147484109" r:id="rId5"/>
    <p:sldLayoutId id="2147484110" r:id="rId6"/>
    <p:sldLayoutId id="2147484111" r:id="rId7"/>
    <p:sldLayoutId id="2147484112" r:id="rId8"/>
    <p:sldLayoutId id="2147484113" r:id="rId9"/>
    <p:sldLayoutId id="2147484114" r:id="rId10"/>
    <p:sldLayoutId id="2147484115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800">
          <a:solidFill>
            <a:srgbClr val="545454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800">
          <a:solidFill>
            <a:srgbClr val="545454"/>
          </a:solidFill>
          <a:latin typeface="Times" charset="0"/>
          <a:ea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800">
          <a:solidFill>
            <a:srgbClr val="545454"/>
          </a:solidFill>
          <a:latin typeface="Times" charset="0"/>
          <a:ea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800">
          <a:solidFill>
            <a:srgbClr val="545454"/>
          </a:solidFill>
          <a:latin typeface="Times" charset="0"/>
          <a:ea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800">
          <a:solidFill>
            <a:srgbClr val="545454"/>
          </a:solidFill>
          <a:latin typeface="Times" charset="0"/>
          <a:ea typeface="Arial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800">
          <a:solidFill>
            <a:srgbClr val="545454"/>
          </a:solidFill>
          <a:latin typeface="Times" charset="0"/>
          <a:ea typeface="Arial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800">
          <a:solidFill>
            <a:srgbClr val="545454"/>
          </a:solidFill>
          <a:latin typeface="Times" charset="0"/>
          <a:ea typeface="Arial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800">
          <a:solidFill>
            <a:srgbClr val="545454"/>
          </a:solidFill>
          <a:latin typeface="Times" charset="0"/>
          <a:ea typeface="Arial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800">
          <a:solidFill>
            <a:srgbClr val="545454"/>
          </a:solidFill>
          <a:latin typeface="Times" charset="0"/>
          <a:ea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rgbClr val="545454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rgbClr val="545454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rgbClr val="545454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rgbClr val="545454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rgbClr val="545454"/>
          </a:solidFill>
          <a:latin typeface="+mn-lt"/>
          <a:ea typeface="+mn-ea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545454"/>
          </a:solidFill>
          <a:latin typeface="+mn-lt"/>
          <a:ea typeface="+mn-ea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545454"/>
          </a:solidFill>
          <a:latin typeface="+mn-lt"/>
          <a:ea typeface="+mn-ea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545454"/>
          </a:solidFill>
          <a:latin typeface="+mn-lt"/>
          <a:ea typeface="+mn-ea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545454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Slurm_Workload_Manager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slurm.schedmd.com/sbatch.html#SECTION_OUTPUT-ENVIRONMENT-VARIABLES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hpc.utah.edu/news/newsletters/summer2023_newsletter.pdf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hpc.utah.edu/news/newsletters/summer2023_newsletter.pdf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hpc-uofu/slurm-lectures.git" TargetMode="Externa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hpc.utah.edu/presentations/OpenOnDemand.php" TargetMode="External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hyperlink" Target="http://slurm.schedmd.com/documentation.html" TargetMode="External"/><Relationship Id="rId3" Type="http://schemas.openxmlformats.org/officeDocument/2006/relationships/hyperlink" Target="https://www.chpc.utah.edu/documentation/software/slurm.php" TargetMode="External"/><Relationship Id="rId7" Type="http://schemas.openxmlformats.org/officeDocument/2006/relationships/hyperlink" Target="https://www.chpc.utah.edu/documentation/guides/index.php#GenSlurm" TargetMode="External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chpc.utah.edu/usage/constraints/" TargetMode="External"/><Relationship Id="rId5" Type="http://schemas.openxmlformats.org/officeDocument/2006/relationships/hyperlink" Target="https://www.chpc.utah.edu/documentation/software/node-sharing.php" TargetMode="External"/><Relationship Id="rId10" Type="http://schemas.openxmlformats.org/officeDocument/2006/relationships/hyperlink" Target="http://www.schedmd.com/slurmdocs/rosetta.pdf" TargetMode="External"/><Relationship Id="rId4" Type="http://schemas.openxmlformats.org/officeDocument/2006/relationships/hyperlink" Target="https://www.chpc.utah.edu/documentation/software/serial-jobs.php" TargetMode="External"/><Relationship Id="rId9" Type="http://schemas.openxmlformats.org/officeDocument/2006/relationships/hyperlink" Target="http://slurm.schedmd.com/pdfs/summary.pdf" TargetMode="Externa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hpc.utah.edu/" TargetMode="External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chpc-hpc-users@lists.utah.edu" TargetMode="External"/><Relationship Id="rId4" Type="http://schemas.openxmlformats.org/officeDocument/2006/relationships/hyperlink" Target="mailto:helpdesk@chpc.utah.ed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1295400"/>
            <a:ext cx="9144000" cy="2057400"/>
          </a:xfrm>
        </p:spPr>
        <p:txBody>
          <a:bodyPr/>
          <a:lstStyle/>
          <a:p>
            <a:pPr eaLnBrk="1" hangingPunct="1"/>
            <a:r>
              <a:rPr lang="en-US" sz="6000" b="1" dirty="0">
                <a:solidFill>
                  <a:srgbClr val="990000"/>
                </a:solidFill>
                <a:latin typeface="+mn-lt"/>
              </a:rPr>
              <a:t>Running Jobs at the CHPC with </a:t>
            </a:r>
            <a:r>
              <a:rPr lang="en-US" sz="6000" b="1" dirty="0" err="1">
                <a:solidFill>
                  <a:srgbClr val="990000"/>
                </a:solidFill>
                <a:latin typeface="+mn-lt"/>
              </a:rPr>
              <a:t>Slurm</a:t>
            </a:r>
            <a:endParaRPr lang="en-US" sz="6000" b="1" dirty="0">
              <a:solidFill>
                <a:srgbClr val="990000"/>
              </a:solidFill>
              <a:latin typeface="+mn-lt"/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-13138" y="4114800"/>
            <a:ext cx="8991600" cy="2588038"/>
          </a:xfrm>
        </p:spPr>
        <p:txBody>
          <a:bodyPr/>
          <a:lstStyle/>
          <a:p>
            <a:pPr eaLnBrk="1" hangingPunct="1"/>
            <a:r>
              <a:rPr lang="en-US" sz="2800" b="1" dirty="0"/>
              <a:t>Ashley </a:t>
            </a:r>
            <a:r>
              <a:rPr lang="en-US" sz="2800" b="1" dirty="0" err="1"/>
              <a:t>Dederich</a:t>
            </a:r>
            <a:r>
              <a:rPr lang="en-US" sz="2800" b="1" dirty="0"/>
              <a:t> &amp; Emilie Parra</a:t>
            </a:r>
          </a:p>
          <a:p>
            <a:pPr eaLnBrk="1" hangingPunct="1"/>
            <a:r>
              <a:rPr lang="en-US" sz="2600" dirty="0"/>
              <a:t>Research Consulting &amp; Faculty Engagement</a:t>
            </a:r>
          </a:p>
          <a:p>
            <a:pPr eaLnBrk="1" hangingPunct="1"/>
            <a:r>
              <a:rPr lang="en-US" sz="2600" dirty="0"/>
              <a:t>Center for High Performance Computing</a:t>
            </a:r>
          </a:p>
          <a:p>
            <a:pPr eaLnBrk="1" hangingPunct="1"/>
            <a:r>
              <a:rPr lang="en-US" sz="2600" b="1" dirty="0" err="1"/>
              <a:t>ashley.dederich@utah.edu</a:t>
            </a:r>
            <a:endParaRPr lang="en-US" sz="26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 txBox="1">
            <a:spLocks noGrp="1"/>
          </p:cNvSpPr>
          <p:nvPr>
            <p:ph type="title"/>
          </p:nvPr>
        </p:nvSpPr>
        <p:spPr>
          <a:xfrm>
            <a:off x="0" y="1078848"/>
            <a:ext cx="9144000" cy="838201"/>
          </a:xfrm>
          <a:prstGeom prst="rect">
            <a:avLst/>
          </a:prstGeom>
          <a:noFill/>
          <a:ln>
            <a:noFill/>
          </a:ln>
        </p:spPr>
        <p:txBody>
          <a:bodyPr lIns="64275" tIns="64275" rIns="64275" bIns="64275" anchor="ctr" anchorCtr="0">
            <a:noAutofit/>
          </a:bodyPr>
          <a:lstStyle/>
          <a:p>
            <a:pPr marL="0" marR="0" lvl="0" indent="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lang="en-US" sz="4000" b="1" dirty="0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  <a:rtl val="0"/>
              </a:rPr>
              <a:t>Overview of Talk</a:t>
            </a:r>
            <a:endParaRPr lang="en-US" sz="4000" b="1" i="0" u="none" strike="noStrike" cap="none" baseline="0" dirty="0">
              <a:solidFill>
                <a:srgbClr val="990000"/>
              </a:solidFill>
              <a:latin typeface="Arial"/>
              <a:ea typeface="Arial"/>
              <a:cs typeface="Arial"/>
              <a:sym typeface="Arial"/>
              <a:rtl val="0"/>
            </a:endParaRPr>
          </a:p>
        </p:txBody>
      </p:sp>
      <p:sp>
        <p:nvSpPr>
          <p:cNvPr id="5" name="Shape 34"/>
          <p:cNvSpPr txBox="1">
            <a:spLocks noGrp="1"/>
          </p:cNvSpPr>
          <p:nvPr>
            <p:ph type="body" idx="1"/>
          </p:nvPr>
        </p:nvSpPr>
        <p:spPr>
          <a:xfrm>
            <a:off x="0" y="1752600"/>
            <a:ext cx="9005776" cy="5105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452438"/>
            <a:r>
              <a:rPr lang="en-US" sz="2400" dirty="0">
                <a:solidFill>
                  <a:schemeClr val="tx1"/>
                </a:solidFill>
                <a:sym typeface="Arial"/>
                <a:rtl val="0"/>
              </a:rPr>
              <a:t>Overview</a:t>
            </a:r>
          </a:p>
          <a:p>
            <a:pPr marL="452438"/>
            <a:r>
              <a:rPr lang="en-US" sz="2400" dirty="0">
                <a:solidFill>
                  <a:schemeClr val="tx1"/>
                </a:solidFill>
                <a:sym typeface="Arial"/>
                <a:rtl val="0"/>
              </a:rPr>
              <a:t>Basics of a </a:t>
            </a:r>
            <a:r>
              <a:rPr lang="en-US" sz="2400" dirty="0" err="1">
                <a:solidFill>
                  <a:schemeClr val="tx1"/>
                </a:solidFill>
                <a:sym typeface="Arial"/>
                <a:rtl val="0"/>
              </a:rPr>
              <a:t>Slurm</a:t>
            </a:r>
            <a:r>
              <a:rPr lang="en-US" sz="2400" dirty="0">
                <a:solidFill>
                  <a:schemeClr val="tx1"/>
                </a:solidFill>
                <a:sym typeface="Arial"/>
                <a:rtl val="0"/>
              </a:rPr>
              <a:t> Script</a:t>
            </a:r>
          </a:p>
          <a:p>
            <a:pPr marL="452438"/>
            <a:r>
              <a:rPr lang="en-US" sz="2400" dirty="0">
                <a:solidFill>
                  <a:schemeClr val="tx1"/>
                </a:solidFill>
                <a:sym typeface="Arial"/>
                <a:rtl val="0"/>
              </a:rPr>
              <a:t>Getting Started</a:t>
            </a:r>
          </a:p>
          <a:p>
            <a:pPr marL="452438"/>
            <a:r>
              <a:rPr lang="en-US" sz="2400" dirty="0">
                <a:solidFill>
                  <a:schemeClr val="tx1"/>
                </a:solidFill>
                <a:sym typeface="Arial"/>
                <a:rtl val="0"/>
              </a:rPr>
              <a:t>Example Dataset</a:t>
            </a:r>
          </a:p>
          <a:p>
            <a:pPr marL="452438"/>
            <a:r>
              <a:rPr lang="en-US" sz="2400" dirty="0">
                <a:solidFill>
                  <a:schemeClr val="tx1"/>
                </a:solidFill>
                <a:sym typeface="Arial"/>
                <a:rtl val="0"/>
              </a:rPr>
              <a:t>Hands On: Batch Scripting</a:t>
            </a:r>
          </a:p>
          <a:p>
            <a:pPr marL="852488" lvl="1"/>
            <a:r>
              <a:rPr lang="en-US" sz="2000" dirty="0">
                <a:solidFill>
                  <a:schemeClr val="tx1"/>
                </a:solidFill>
                <a:sym typeface="Arial"/>
                <a:rtl val="0"/>
              </a:rPr>
              <a:t>#1: Submitting to </a:t>
            </a:r>
            <a:r>
              <a:rPr lang="en-US" sz="2000" dirty="0" err="1">
                <a:solidFill>
                  <a:schemeClr val="tx1"/>
                </a:solidFill>
                <a:sym typeface="Arial"/>
                <a:rtl val="0"/>
              </a:rPr>
              <a:t>Notchpeak</a:t>
            </a:r>
            <a:r>
              <a:rPr lang="en-US" sz="2000" dirty="0">
                <a:solidFill>
                  <a:schemeClr val="tx1"/>
                </a:solidFill>
                <a:sym typeface="Arial"/>
                <a:rtl val="0"/>
              </a:rPr>
              <a:t> Cluster</a:t>
            </a:r>
          </a:p>
          <a:p>
            <a:pPr marL="852488" lvl="1"/>
            <a:r>
              <a:rPr lang="en-US" sz="2000" dirty="0">
                <a:solidFill>
                  <a:schemeClr val="tx1"/>
                </a:solidFill>
                <a:sym typeface="Arial"/>
                <a:rtl val="0"/>
              </a:rPr>
              <a:t>#2: Submitting to Owner Nodes</a:t>
            </a:r>
          </a:p>
          <a:p>
            <a:pPr marL="452438"/>
            <a:r>
              <a:rPr lang="en-US" sz="2400" dirty="0">
                <a:solidFill>
                  <a:schemeClr val="tx1"/>
                </a:solidFill>
                <a:sym typeface="Arial"/>
                <a:rtl val="0"/>
              </a:rPr>
              <a:t>Hands On #3: Start an Interactive Job</a:t>
            </a:r>
          </a:p>
          <a:p>
            <a:pPr marL="452438"/>
            <a:r>
              <a:rPr lang="en-US" sz="2400" dirty="0">
                <a:solidFill>
                  <a:schemeClr val="tx1"/>
                </a:solidFill>
                <a:sym typeface="Arial"/>
                <a:rtl val="0"/>
              </a:rPr>
              <a:t>Hands On #4: Open OnDemand’s Job Composer</a:t>
            </a:r>
            <a:endParaRPr lang="en-US" sz="2400"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sz="2400" b="0" i="0" u="none" strike="noStrike" cap="none" baseline="0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  <a:rtl val="0"/>
            </a:endParaRPr>
          </a:p>
        </p:txBody>
      </p:sp>
    </p:spTree>
    <p:extLst>
      <p:ext uri="{BB962C8B-B14F-4D97-AF65-F5344CB8AC3E}">
        <p14:creationId xmlns:p14="http://schemas.microsoft.com/office/powerpoint/2010/main" val="3789780972"/>
      </p:ext>
    </p:extLst>
  </p:cSld>
  <p:clrMapOvr>
    <a:masterClrMapping/>
  </p:clrMapOvr>
  <p:transition spd="slow"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 txBox="1">
            <a:spLocks noGrp="1"/>
          </p:cNvSpPr>
          <p:nvPr>
            <p:ph type="title"/>
          </p:nvPr>
        </p:nvSpPr>
        <p:spPr>
          <a:xfrm>
            <a:off x="0" y="1078848"/>
            <a:ext cx="9144000" cy="838201"/>
          </a:xfrm>
          <a:prstGeom prst="rect">
            <a:avLst/>
          </a:prstGeom>
          <a:noFill/>
          <a:ln>
            <a:noFill/>
          </a:ln>
        </p:spPr>
        <p:txBody>
          <a:bodyPr lIns="64275" tIns="64275" rIns="64275" bIns="64275" anchor="ctr" anchorCtr="0">
            <a:noAutofit/>
          </a:bodyPr>
          <a:lstStyle/>
          <a:p>
            <a:pPr marL="0" marR="0" lvl="0" indent="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lang="en-US" sz="4000" b="1" dirty="0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  <a:rtl val="0"/>
              </a:rPr>
              <a:t>Overview of Talk</a:t>
            </a:r>
            <a:endParaRPr lang="en-US" sz="4000" b="1" i="0" u="none" strike="noStrike" cap="none" baseline="0" dirty="0">
              <a:solidFill>
                <a:srgbClr val="990000"/>
              </a:solidFill>
              <a:latin typeface="Arial"/>
              <a:ea typeface="Arial"/>
              <a:cs typeface="Arial"/>
              <a:sym typeface="Arial"/>
              <a:rtl val="0"/>
            </a:endParaRPr>
          </a:p>
        </p:txBody>
      </p:sp>
      <p:sp>
        <p:nvSpPr>
          <p:cNvPr id="5" name="Shape 34"/>
          <p:cNvSpPr txBox="1">
            <a:spLocks noGrp="1"/>
          </p:cNvSpPr>
          <p:nvPr>
            <p:ph type="body" idx="1"/>
          </p:nvPr>
        </p:nvSpPr>
        <p:spPr>
          <a:xfrm>
            <a:off x="0" y="1752600"/>
            <a:ext cx="9005776" cy="5105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452438"/>
            <a:r>
              <a:rPr lang="en-US" sz="2400" dirty="0">
                <a:solidFill>
                  <a:schemeClr val="accent2"/>
                </a:solidFill>
                <a:sym typeface="Arial"/>
                <a:rtl val="0"/>
              </a:rPr>
              <a:t>Overview</a:t>
            </a:r>
          </a:p>
          <a:p>
            <a:pPr marL="452438"/>
            <a:r>
              <a:rPr lang="en-US" sz="2400" dirty="0">
                <a:solidFill>
                  <a:schemeClr val="tx1"/>
                </a:solidFill>
                <a:sym typeface="Arial"/>
                <a:rtl val="0"/>
              </a:rPr>
              <a:t>Basics of a </a:t>
            </a:r>
            <a:r>
              <a:rPr lang="en-US" sz="2400" dirty="0" err="1">
                <a:solidFill>
                  <a:schemeClr val="tx1"/>
                </a:solidFill>
                <a:sym typeface="Arial"/>
                <a:rtl val="0"/>
              </a:rPr>
              <a:t>Slurm</a:t>
            </a:r>
            <a:r>
              <a:rPr lang="en-US" sz="2400" dirty="0">
                <a:solidFill>
                  <a:schemeClr val="tx1"/>
                </a:solidFill>
                <a:sym typeface="Arial"/>
                <a:rtl val="0"/>
              </a:rPr>
              <a:t> Script</a:t>
            </a:r>
          </a:p>
          <a:p>
            <a:pPr marL="452438"/>
            <a:r>
              <a:rPr lang="en-US" sz="2400" dirty="0">
                <a:solidFill>
                  <a:schemeClr val="tx1"/>
                </a:solidFill>
                <a:sym typeface="Arial"/>
                <a:rtl val="0"/>
              </a:rPr>
              <a:t>Getting Started</a:t>
            </a:r>
          </a:p>
          <a:p>
            <a:pPr marL="452438"/>
            <a:r>
              <a:rPr lang="en-US" sz="2400" dirty="0">
                <a:solidFill>
                  <a:schemeClr val="tx1"/>
                </a:solidFill>
                <a:sym typeface="Arial"/>
                <a:rtl val="0"/>
              </a:rPr>
              <a:t>Example Dataset</a:t>
            </a:r>
          </a:p>
          <a:p>
            <a:pPr marL="452438"/>
            <a:r>
              <a:rPr lang="en-US" sz="2400" dirty="0">
                <a:solidFill>
                  <a:schemeClr val="tx1"/>
                </a:solidFill>
                <a:sym typeface="Arial"/>
                <a:rtl val="0"/>
              </a:rPr>
              <a:t>Hands On: Batch Scripting</a:t>
            </a:r>
          </a:p>
          <a:p>
            <a:pPr marL="852488" lvl="1"/>
            <a:r>
              <a:rPr lang="en-US" sz="2000" dirty="0">
                <a:solidFill>
                  <a:schemeClr val="tx1"/>
                </a:solidFill>
                <a:sym typeface="Arial"/>
                <a:rtl val="0"/>
              </a:rPr>
              <a:t>#1: Submitting to </a:t>
            </a:r>
            <a:r>
              <a:rPr lang="en-US" sz="2000" dirty="0" err="1">
                <a:solidFill>
                  <a:schemeClr val="tx1"/>
                </a:solidFill>
                <a:sym typeface="Arial"/>
                <a:rtl val="0"/>
              </a:rPr>
              <a:t>Notchpeak</a:t>
            </a:r>
            <a:r>
              <a:rPr lang="en-US" sz="2000" dirty="0">
                <a:solidFill>
                  <a:schemeClr val="tx1"/>
                </a:solidFill>
                <a:sym typeface="Arial"/>
                <a:rtl val="0"/>
              </a:rPr>
              <a:t> Cluster</a:t>
            </a:r>
          </a:p>
          <a:p>
            <a:pPr marL="852488" lvl="1"/>
            <a:r>
              <a:rPr lang="en-US" sz="2000" dirty="0">
                <a:solidFill>
                  <a:schemeClr val="tx1"/>
                </a:solidFill>
                <a:sym typeface="Arial"/>
                <a:rtl val="0"/>
              </a:rPr>
              <a:t>#2: Submitting to Owner Nodes</a:t>
            </a:r>
          </a:p>
          <a:p>
            <a:pPr marL="452438"/>
            <a:r>
              <a:rPr lang="en-US" sz="2400" dirty="0">
                <a:solidFill>
                  <a:schemeClr val="tx1"/>
                </a:solidFill>
                <a:sym typeface="Arial"/>
                <a:rtl val="0"/>
              </a:rPr>
              <a:t>Hands On #3: Start an Interactive Job</a:t>
            </a:r>
          </a:p>
          <a:p>
            <a:pPr marL="452438"/>
            <a:r>
              <a:rPr lang="en-US" sz="2400" dirty="0">
                <a:solidFill>
                  <a:schemeClr val="tx1"/>
                </a:solidFill>
                <a:sym typeface="Arial"/>
                <a:rtl val="0"/>
              </a:rPr>
              <a:t>Hands On #4: Open OnDemand’s Job Composer</a:t>
            </a:r>
          </a:p>
        </p:txBody>
      </p:sp>
    </p:spTree>
    <p:extLst>
      <p:ext uri="{BB962C8B-B14F-4D97-AF65-F5344CB8AC3E}">
        <p14:creationId xmlns:p14="http://schemas.microsoft.com/office/powerpoint/2010/main" val="3778090879"/>
      </p:ext>
    </p:extLst>
  </p:cSld>
  <p:clrMapOvr>
    <a:masterClrMapping/>
  </p:clrMapOvr>
  <p:transition spd="slow"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066800"/>
            <a:ext cx="8153400" cy="762000"/>
          </a:xfrm>
        </p:spPr>
        <p:txBody>
          <a:bodyPr/>
          <a:lstStyle/>
          <a:p>
            <a:pPr algn="ctr" eaLnBrk="1" hangingPunct="1"/>
            <a:r>
              <a:rPr lang="en-US" sz="4000" b="1" dirty="0">
                <a:solidFill>
                  <a:srgbClr val="990000"/>
                </a:solidFill>
                <a:latin typeface="+mn-lt"/>
              </a:rPr>
              <a:t>Re-cap of Resources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31376" y="1676400"/>
            <a:ext cx="9144000" cy="4572000"/>
          </a:xfrm>
        </p:spPr>
        <p:txBody>
          <a:bodyPr/>
          <a:lstStyle/>
          <a:p>
            <a:r>
              <a:rPr lang="en-US" sz="2400" b="1" dirty="0"/>
              <a:t>CHPC resources:</a:t>
            </a:r>
          </a:p>
          <a:p>
            <a:pPr lvl="1"/>
            <a:r>
              <a:rPr lang="en-US" sz="1800" dirty="0"/>
              <a:t>HPC clusters: </a:t>
            </a:r>
          </a:p>
          <a:p>
            <a:pPr lvl="2"/>
            <a:r>
              <a:rPr lang="en-US" sz="1400" dirty="0"/>
              <a:t>General Environment: </a:t>
            </a:r>
            <a:r>
              <a:rPr lang="en-US" sz="1400" dirty="0" err="1"/>
              <a:t>notchpeak</a:t>
            </a:r>
            <a:r>
              <a:rPr lang="en-US" sz="1400" dirty="0"/>
              <a:t>, </a:t>
            </a:r>
            <a:r>
              <a:rPr lang="en-US" sz="1400" dirty="0" err="1"/>
              <a:t>kingspeak</a:t>
            </a:r>
            <a:r>
              <a:rPr lang="en-US" sz="1400" dirty="0"/>
              <a:t>, </a:t>
            </a:r>
            <a:r>
              <a:rPr lang="en-US" sz="1400" dirty="0" err="1"/>
              <a:t>lonepeak</a:t>
            </a:r>
            <a:endParaRPr lang="en-US" sz="1400" dirty="0"/>
          </a:p>
          <a:p>
            <a:pPr lvl="2"/>
            <a:r>
              <a:rPr lang="en-US" sz="1400" dirty="0"/>
              <a:t>Protected Environment (PE): redwood</a:t>
            </a:r>
          </a:p>
          <a:p>
            <a:pPr lvl="2"/>
            <a:r>
              <a:rPr lang="en-US" sz="1400" dirty="0"/>
              <a:t>Others</a:t>
            </a:r>
          </a:p>
          <a:p>
            <a:pPr lvl="1"/>
            <a:r>
              <a:rPr lang="en-US" sz="1800" dirty="0"/>
              <a:t>VM (Windows, Linux)</a:t>
            </a:r>
          </a:p>
          <a:p>
            <a:pPr lvl="1"/>
            <a:r>
              <a:rPr lang="en-US" sz="1800" dirty="0"/>
              <a:t>Storage</a:t>
            </a:r>
          </a:p>
          <a:p>
            <a:pPr lvl="1"/>
            <a:r>
              <a:rPr lang="en-US" sz="1800" dirty="0"/>
              <a:t>Services</a:t>
            </a:r>
            <a:endParaRPr lang="en-US" sz="2400" b="1" dirty="0"/>
          </a:p>
          <a:p>
            <a:r>
              <a:rPr lang="en-US" sz="2400" b="1" dirty="0"/>
              <a:t>Condominium mode:</a:t>
            </a:r>
            <a:endParaRPr lang="en-US" sz="1800" dirty="0"/>
          </a:p>
          <a:p>
            <a:pPr lvl="1"/>
            <a:r>
              <a:rPr lang="en-US" sz="1400" dirty="0"/>
              <a:t>HPC Cluster = CHPC-owned nodes (general nodes) + PI-owned nodes (owner nodes)</a:t>
            </a:r>
          </a:p>
          <a:p>
            <a:pPr lvl="1"/>
            <a:r>
              <a:rPr lang="en-US" sz="1400" dirty="0"/>
              <a:t>All CHPC users have access to CHPC-owned resources for free. Some clusters (</a:t>
            </a:r>
            <a:r>
              <a:rPr lang="en-US" sz="1400" dirty="0" err="1"/>
              <a:t>notchpeak</a:t>
            </a:r>
            <a:r>
              <a:rPr lang="en-US" sz="1400" dirty="0"/>
              <a:t>) need allocations (peer-reviewed proposals)</a:t>
            </a:r>
          </a:p>
          <a:p>
            <a:pPr lvl="1"/>
            <a:r>
              <a:rPr lang="en-US" sz="1400" dirty="0"/>
              <a:t>Owners (PI group) have the highest priority using owner nodes</a:t>
            </a:r>
          </a:p>
          <a:p>
            <a:pPr lvl="1"/>
            <a:r>
              <a:rPr lang="en-US" sz="1400" dirty="0"/>
              <a:t>All CHPC users have access to owner nodes in Guest mode for free (jobs subject to preemption)</a:t>
            </a:r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551545234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>
          <a:xfrm>
            <a:off x="0" y="1066800"/>
            <a:ext cx="9144000" cy="990600"/>
          </a:xfrm>
        </p:spPr>
        <p:txBody>
          <a:bodyPr/>
          <a:lstStyle/>
          <a:p>
            <a:pPr algn="ctr" eaLnBrk="1" hangingPunct="1"/>
            <a:r>
              <a:rPr lang="en-US" sz="3800" b="1" dirty="0">
                <a:solidFill>
                  <a:srgbClr val="990000"/>
                </a:solidFill>
                <a:latin typeface="Arial (Body)"/>
              </a:rPr>
              <a:t>What is </a:t>
            </a:r>
            <a:r>
              <a:rPr lang="en-US" sz="3800" b="1" dirty="0" err="1">
                <a:solidFill>
                  <a:srgbClr val="990000"/>
                </a:solidFill>
                <a:latin typeface="Arial (Body)"/>
              </a:rPr>
              <a:t>Slurm</a:t>
            </a:r>
            <a:r>
              <a:rPr lang="en-US" sz="3800" b="1" dirty="0">
                <a:solidFill>
                  <a:srgbClr val="990000"/>
                </a:solidFill>
                <a:latin typeface="Arial (Body)"/>
              </a:rPr>
              <a:t>?</a:t>
            </a:r>
            <a:endParaRPr lang="en-US" sz="4000" b="1" dirty="0">
              <a:solidFill>
                <a:srgbClr val="990000"/>
              </a:solidFill>
              <a:latin typeface="+mn-lt"/>
            </a:endParaRPr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>
          <a:xfrm>
            <a:off x="76200" y="2057400"/>
            <a:ext cx="9296400" cy="45720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</a:rPr>
              <a:t>Formerly known as </a:t>
            </a:r>
            <a:r>
              <a:rPr lang="en-US" sz="2400" b="1" i="1" dirty="0">
                <a:solidFill>
                  <a:schemeClr val="tx1"/>
                </a:solidFill>
              </a:rPr>
              <a:t>S</a:t>
            </a:r>
            <a:r>
              <a:rPr lang="en-US" sz="2400" dirty="0">
                <a:solidFill>
                  <a:schemeClr val="tx1"/>
                </a:solidFill>
              </a:rPr>
              <a:t>imple </a:t>
            </a:r>
            <a:r>
              <a:rPr lang="en-US" sz="2400" b="1" i="1" dirty="0">
                <a:solidFill>
                  <a:schemeClr val="tx1"/>
                </a:solidFill>
              </a:rPr>
              <a:t>L</a:t>
            </a:r>
            <a:r>
              <a:rPr lang="en-US" sz="2400" dirty="0">
                <a:solidFill>
                  <a:schemeClr val="tx1"/>
                </a:solidFill>
              </a:rPr>
              <a:t>inux </a:t>
            </a:r>
            <a:r>
              <a:rPr lang="en-US" sz="2400" b="1" i="1" dirty="0">
                <a:solidFill>
                  <a:schemeClr val="tx1"/>
                </a:solidFill>
              </a:rPr>
              <a:t>U</a:t>
            </a:r>
            <a:r>
              <a:rPr lang="en-US" sz="2400" dirty="0">
                <a:solidFill>
                  <a:schemeClr val="tx1"/>
                </a:solidFill>
              </a:rPr>
              <a:t>tility for </a:t>
            </a:r>
            <a:r>
              <a:rPr lang="en-US" sz="2400" b="1" i="1" dirty="0">
                <a:solidFill>
                  <a:schemeClr val="tx1"/>
                </a:solidFill>
              </a:rPr>
              <a:t>R</a:t>
            </a:r>
            <a:r>
              <a:rPr lang="en-US" sz="2400" dirty="0">
                <a:solidFill>
                  <a:schemeClr val="tx1"/>
                </a:solidFill>
              </a:rPr>
              <a:t>esource </a:t>
            </a:r>
            <a:r>
              <a:rPr lang="en-US" sz="2400" b="1" i="1" dirty="0">
                <a:solidFill>
                  <a:schemeClr val="tx1"/>
                </a:solidFill>
              </a:rPr>
              <a:t>M</a:t>
            </a:r>
            <a:r>
              <a:rPr lang="en-US" sz="2400" dirty="0">
                <a:solidFill>
                  <a:schemeClr val="tx1"/>
                </a:solidFill>
              </a:rPr>
              <a:t>anagement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</a:rPr>
              <a:t>Open-source workload manager for supercomputers/clusters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</a:rPr>
              <a:t>Manage resources (nodes/cores/memory/interconnect/</a:t>
            </a:r>
            <a:r>
              <a:rPr lang="en-US" sz="2000" dirty="0" err="1">
                <a:solidFill>
                  <a:schemeClr val="tx1"/>
                </a:solidFill>
              </a:rPr>
              <a:t>gpus</a:t>
            </a:r>
            <a:r>
              <a:rPr lang="en-US" sz="2000" dirty="0">
                <a:solidFill>
                  <a:schemeClr val="tx1"/>
                </a:solidFill>
              </a:rPr>
              <a:t>)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</a:rPr>
              <a:t>Schedule jobs (queueing/prioritization)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</a:rPr>
              <a:t>Used by 60% of the TOP500 supercomputers</a:t>
            </a:r>
            <a:r>
              <a:rPr lang="en-US" sz="2400" baseline="30000" dirty="0">
                <a:solidFill>
                  <a:schemeClr val="tx1"/>
                </a:solidFill>
              </a:rPr>
              <a:t>1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</a:rPr>
              <a:t>Fun fact: development team based in Lehi, UT</a:t>
            </a:r>
          </a:p>
          <a:p>
            <a:pPr marL="0" indent="0">
              <a:buNone/>
            </a:pPr>
            <a:endParaRPr lang="en-US" sz="14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[1] </a:t>
            </a:r>
            <a:r>
              <a:rPr lang="en-US" sz="1400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https://en.wikipedia.org/wiki/Slurm_Workload_Manager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100" dirty="0">
                <a:solidFill>
                  <a:schemeClr val="tx1"/>
                </a:solidFill>
              </a:rPr>
              <a:t>(2023 Jun)</a:t>
            </a:r>
          </a:p>
          <a:p>
            <a:pPr marL="0" indent="0">
              <a:buNone/>
            </a:pPr>
            <a:endParaRPr lang="en-US" sz="2400" dirty="0">
              <a:solidFill>
                <a:schemeClr val="tx1"/>
              </a:solidFill>
            </a:endParaRPr>
          </a:p>
        </p:txBody>
      </p:sp>
      <p:pic>
        <p:nvPicPr>
          <p:cNvPr id="1026" name="Picture 2" descr="Slurm Workload Manager - Wikipedia">
            <a:extLst>
              <a:ext uri="{FF2B5EF4-FFF2-40B4-BE49-F238E27FC236}">
                <a16:creationId xmlns:a16="http://schemas.microsoft.com/office/drawing/2014/main" id="{8DA325BB-C238-BA4B-4071-522019FFF2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00" y="4263229"/>
            <a:ext cx="2007235" cy="1836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8699016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>
          <a:xfrm>
            <a:off x="0" y="1066800"/>
            <a:ext cx="9144000" cy="990600"/>
          </a:xfrm>
        </p:spPr>
        <p:txBody>
          <a:bodyPr/>
          <a:lstStyle/>
          <a:p>
            <a:pPr algn="ctr" eaLnBrk="1" hangingPunct="1"/>
            <a:r>
              <a:rPr lang="en-US" sz="3800" b="1" dirty="0">
                <a:solidFill>
                  <a:srgbClr val="990000"/>
                </a:solidFill>
                <a:latin typeface="Arial (Body)"/>
              </a:rPr>
              <a:t>What is </a:t>
            </a:r>
            <a:r>
              <a:rPr lang="en-US" sz="3800" b="1" dirty="0" err="1">
                <a:solidFill>
                  <a:srgbClr val="990000"/>
                </a:solidFill>
                <a:latin typeface="Arial (Body)"/>
              </a:rPr>
              <a:t>Slurm</a:t>
            </a:r>
            <a:br>
              <a:rPr lang="en-US" sz="3800" b="1" dirty="0">
                <a:solidFill>
                  <a:srgbClr val="990000"/>
                </a:solidFill>
                <a:latin typeface="Arial (Body)"/>
              </a:rPr>
            </a:br>
            <a:r>
              <a:rPr lang="en-US" sz="2400" b="1" dirty="0">
                <a:solidFill>
                  <a:srgbClr val="990000"/>
                </a:solidFill>
                <a:latin typeface="Arial (Body)"/>
              </a:rPr>
              <a:t>…and why use it?</a:t>
            </a:r>
            <a:br>
              <a:rPr lang="en-US" sz="4000" dirty="0"/>
            </a:br>
            <a:endParaRPr lang="en-US" sz="4000" b="1" dirty="0">
              <a:solidFill>
                <a:srgbClr val="990000"/>
              </a:solidFill>
              <a:latin typeface="+mn-lt"/>
            </a:endParaRPr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>
          <a:xfrm>
            <a:off x="1536700" y="3601080"/>
            <a:ext cx="5983739" cy="2623279"/>
          </a:xfrm>
        </p:spPr>
        <p:txBody>
          <a:bodyPr/>
          <a:lstStyle/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5B4E85D4-C1C8-6B3A-4009-D47E703658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133600"/>
            <a:ext cx="5803900" cy="3989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CB867D49-133C-FE89-23AA-87364936C2F1}"/>
              </a:ext>
            </a:extLst>
          </p:cNvPr>
          <p:cNvSpPr/>
          <p:nvPr/>
        </p:nvSpPr>
        <p:spPr bwMode="auto">
          <a:xfrm>
            <a:off x="1331461" y="4445000"/>
            <a:ext cx="1752600" cy="1728559"/>
          </a:xfrm>
          <a:prstGeom prst="ellipse">
            <a:avLst/>
          </a:prstGeom>
          <a:noFill/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005C85-7FE6-9752-D65A-A39E309F6C52}"/>
              </a:ext>
            </a:extLst>
          </p:cNvPr>
          <p:cNvSpPr txBox="1"/>
          <p:nvPr/>
        </p:nvSpPr>
        <p:spPr>
          <a:xfrm>
            <a:off x="46722" y="1189504"/>
            <a:ext cx="3048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Goal: you, the user, want to connect to the CHPC machines and analyze some data using R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7271270-70AC-3105-4577-6C5727A961C1}"/>
              </a:ext>
            </a:extLst>
          </p:cNvPr>
          <p:cNvCxnSpPr>
            <a:cxnSpLocks/>
          </p:cNvCxnSpPr>
          <p:nvPr/>
        </p:nvCxnSpPr>
        <p:spPr bwMode="auto">
          <a:xfrm flipV="1">
            <a:off x="2438400" y="4343400"/>
            <a:ext cx="850900" cy="569319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0070C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B64A038-932E-0FA2-38D5-0B9696657B48}"/>
              </a:ext>
            </a:extLst>
          </p:cNvPr>
          <p:cNvSpPr txBox="1"/>
          <p:nvPr/>
        </p:nvSpPr>
        <p:spPr>
          <a:xfrm>
            <a:off x="35435" y="3204696"/>
            <a:ext cx="2514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So, you connect to one of our clusters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3FF7FB-8E57-9005-771E-684DA9931C76}"/>
              </a:ext>
            </a:extLst>
          </p:cNvPr>
          <p:cNvSpPr/>
          <p:nvPr/>
        </p:nvSpPr>
        <p:spPr bwMode="auto">
          <a:xfrm>
            <a:off x="2971800" y="3779284"/>
            <a:ext cx="1066800" cy="1133435"/>
          </a:xfrm>
          <a:prstGeom prst="rect">
            <a:avLst/>
          </a:prstGeom>
          <a:noFill/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939A69-1E1F-900F-E3D0-F99EE4A78D1D}"/>
              </a:ext>
            </a:extLst>
          </p:cNvPr>
          <p:cNvSpPr txBox="1"/>
          <p:nvPr/>
        </p:nvSpPr>
        <p:spPr>
          <a:xfrm>
            <a:off x="6477000" y="1812213"/>
            <a:ext cx="249453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You don’t want to analyze your data on the login node…</a:t>
            </a:r>
          </a:p>
        </p:txBody>
      </p:sp>
    </p:spTree>
    <p:extLst>
      <p:ext uri="{BB962C8B-B14F-4D97-AF65-F5344CB8AC3E}">
        <p14:creationId xmlns:p14="http://schemas.microsoft.com/office/powerpoint/2010/main" val="28556188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5" grpId="1"/>
      <p:bldP spid="9" grpId="0"/>
      <p:bldP spid="9" grpId="1"/>
      <p:bldP spid="11" grpId="0" animBg="1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>
            <a:extLst>
              <a:ext uri="{FF2B5EF4-FFF2-40B4-BE49-F238E27FC236}">
                <a16:creationId xmlns:a16="http://schemas.microsoft.com/office/drawing/2014/main" id="{080CC73B-0286-BBD1-7418-2212A50DBE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143000"/>
            <a:ext cx="2439025" cy="167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5D546DF0-F148-5833-7ABD-12C06B3227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7" y="2836333"/>
            <a:ext cx="2439025" cy="167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E66E976A-8459-F27F-C303-6924FE147D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3783" y="1143000"/>
            <a:ext cx="2439025" cy="167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AEA584EF-13FB-7ECA-3932-66070696D2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2273" y="1159933"/>
            <a:ext cx="2439025" cy="167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27110C56-1863-9379-7893-70E43281A2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0957" y="4512733"/>
            <a:ext cx="2439025" cy="167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FCCD76E8-856A-E8D2-ADCA-630F8DAAAC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9345" y="4478866"/>
            <a:ext cx="2439025" cy="167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5C178542-70FB-230B-9587-512912778F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33" y="4478866"/>
            <a:ext cx="2439025" cy="167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>
            <a:extLst>
              <a:ext uri="{FF2B5EF4-FFF2-40B4-BE49-F238E27FC236}">
                <a16:creationId xmlns:a16="http://schemas.microsoft.com/office/drawing/2014/main" id="{258D6638-166E-6CFF-7C41-356B82D2A2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8953" y="2836333"/>
            <a:ext cx="2439025" cy="167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>
            <a:extLst>
              <a:ext uri="{FF2B5EF4-FFF2-40B4-BE49-F238E27FC236}">
                <a16:creationId xmlns:a16="http://schemas.microsoft.com/office/drawing/2014/main" id="{05BF7FF8-81E3-A1FE-9F61-F6DD62844A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0957" y="2836333"/>
            <a:ext cx="2439025" cy="167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DF1D4949-5517-6BBB-AD17-1897C3432DAF}"/>
              </a:ext>
            </a:extLst>
          </p:cNvPr>
          <p:cNvSpPr/>
          <p:nvPr/>
        </p:nvSpPr>
        <p:spPr bwMode="auto">
          <a:xfrm>
            <a:off x="533400" y="1676400"/>
            <a:ext cx="753845" cy="685800"/>
          </a:xfrm>
          <a:prstGeom prst="ellipse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1D2B7EF-74D4-4487-D4EE-37B7BBDABBFC}"/>
              </a:ext>
            </a:extLst>
          </p:cNvPr>
          <p:cNvSpPr/>
          <p:nvPr/>
        </p:nvSpPr>
        <p:spPr bwMode="auto">
          <a:xfrm>
            <a:off x="3323790" y="1693333"/>
            <a:ext cx="753845" cy="685800"/>
          </a:xfrm>
          <a:prstGeom prst="ellipse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15F17DF-17F5-044C-F102-B5D318DCA4C6}"/>
              </a:ext>
            </a:extLst>
          </p:cNvPr>
          <p:cNvSpPr/>
          <p:nvPr/>
        </p:nvSpPr>
        <p:spPr bwMode="auto">
          <a:xfrm>
            <a:off x="6161529" y="1706033"/>
            <a:ext cx="753845" cy="685800"/>
          </a:xfrm>
          <a:prstGeom prst="ellipse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BEFC059-C20A-F9B9-0C00-C3440B0B72CB}"/>
              </a:ext>
            </a:extLst>
          </p:cNvPr>
          <p:cNvSpPr/>
          <p:nvPr/>
        </p:nvSpPr>
        <p:spPr bwMode="auto">
          <a:xfrm>
            <a:off x="6064786" y="3382433"/>
            <a:ext cx="753845" cy="685800"/>
          </a:xfrm>
          <a:prstGeom prst="ellipse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FDCCEA4-2AC9-C0C0-D8B3-64A330FB8F68}"/>
              </a:ext>
            </a:extLst>
          </p:cNvPr>
          <p:cNvSpPr/>
          <p:nvPr/>
        </p:nvSpPr>
        <p:spPr bwMode="auto">
          <a:xfrm>
            <a:off x="3371295" y="3382433"/>
            <a:ext cx="753845" cy="685800"/>
          </a:xfrm>
          <a:prstGeom prst="ellipse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65BB60D-758A-6BB6-1DAD-0109BB084558}"/>
              </a:ext>
            </a:extLst>
          </p:cNvPr>
          <p:cNvSpPr/>
          <p:nvPr/>
        </p:nvSpPr>
        <p:spPr bwMode="auto">
          <a:xfrm>
            <a:off x="461276" y="3365500"/>
            <a:ext cx="753845" cy="685800"/>
          </a:xfrm>
          <a:prstGeom prst="ellipse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4BD8A7E-6274-EE43-F7AC-1095E8435FA9}"/>
              </a:ext>
            </a:extLst>
          </p:cNvPr>
          <p:cNvSpPr/>
          <p:nvPr/>
        </p:nvSpPr>
        <p:spPr bwMode="auto">
          <a:xfrm>
            <a:off x="461277" y="4991099"/>
            <a:ext cx="753845" cy="685800"/>
          </a:xfrm>
          <a:prstGeom prst="ellipse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F6CEFE9-3284-7FC3-C8C4-74D3C745EE96}"/>
              </a:ext>
            </a:extLst>
          </p:cNvPr>
          <p:cNvSpPr/>
          <p:nvPr/>
        </p:nvSpPr>
        <p:spPr bwMode="auto">
          <a:xfrm>
            <a:off x="3276600" y="4974166"/>
            <a:ext cx="753845" cy="685800"/>
          </a:xfrm>
          <a:prstGeom prst="ellipse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84A7E31-FC00-D496-D048-74083589B13A}"/>
              </a:ext>
            </a:extLst>
          </p:cNvPr>
          <p:cNvSpPr/>
          <p:nvPr/>
        </p:nvSpPr>
        <p:spPr bwMode="auto">
          <a:xfrm>
            <a:off x="6096624" y="5029200"/>
            <a:ext cx="753845" cy="685800"/>
          </a:xfrm>
          <a:prstGeom prst="ellipse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BCC3579-0FA2-821B-182E-89DA8D6F7DF9}"/>
              </a:ext>
            </a:extLst>
          </p:cNvPr>
          <p:cNvSpPr txBox="1"/>
          <p:nvPr/>
        </p:nvSpPr>
        <p:spPr>
          <a:xfrm>
            <a:off x="1440028" y="2374900"/>
            <a:ext cx="6004281" cy="2308324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The login node has limited resources</a:t>
            </a:r>
          </a:p>
          <a:p>
            <a:endParaRPr lang="en-US" dirty="0"/>
          </a:p>
          <a:p>
            <a:r>
              <a:rPr lang="en-US" dirty="0"/>
              <a:t>You could guess that, in this example, just a few people could overload the login node</a:t>
            </a:r>
          </a:p>
          <a:p>
            <a:endParaRPr lang="en-US" dirty="0"/>
          </a:p>
          <a:p>
            <a:r>
              <a:rPr lang="en-US" dirty="0"/>
              <a:t>Nobody could login, edit files,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551675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065A1066-081D-662B-E749-A361352C4C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600200"/>
            <a:ext cx="6858000" cy="4713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Elbow Connector 7">
            <a:extLst>
              <a:ext uri="{FF2B5EF4-FFF2-40B4-BE49-F238E27FC236}">
                <a16:creationId xmlns:a16="http://schemas.microsoft.com/office/drawing/2014/main" id="{80EFB69C-8D60-AF15-65A3-B235F072EF88}"/>
              </a:ext>
            </a:extLst>
          </p:cNvPr>
          <p:cNvCxnSpPr/>
          <p:nvPr/>
        </p:nvCxnSpPr>
        <p:spPr bwMode="auto">
          <a:xfrm rot="5400000" flipH="1" flipV="1">
            <a:off x="2784272" y="2256367"/>
            <a:ext cx="1143000" cy="1143000"/>
          </a:xfrm>
          <a:prstGeom prst="bentConnector3">
            <a:avLst/>
          </a:prstGeom>
          <a:solidFill>
            <a:schemeClr val="accent1"/>
          </a:solidFill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9" name="Picture 2" descr="Slurm Workload Manager - Wikipedia">
            <a:extLst>
              <a:ext uri="{FF2B5EF4-FFF2-40B4-BE49-F238E27FC236}">
                <a16:creationId xmlns:a16="http://schemas.microsoft.com/office/drawing/2014/main" id="{930ED2D9-9792-3DD6-5D69-D8597F9EEA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599" y="1983710"/>
            <a:ext cx="920345" cy="842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C5CCA5E-F6C1-FDD9-B6B1-C5E5963DBCC3}"/>
              </a:ext>
            </a:extLst>
          </p:cNvPr>
          <p:cNvSpPr txBox="1"/>
          <p:nvPr/>
        </p:nvSpPr>
        <p:spPr>
          <a:xfrm>
            <a:off x="245533" y="1413933"/>
            <a:ext cx="253873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</a:t>
            </a:r>
            <a:r>
              <a:rPr lang="en-US" dirty="0" err="1"/>
              <a:t>Slurm</a:t>
            </a:r>
            <a:r>
              <a:rPr lang="en-US" dirty="0"/>
              <a:t> allows users to request a compute job to run on compute nodes</a:t>
            </a:r>
          </a:p>
        </p:txBody>
      </p:sp>
    </p:spTree>
    <p:extLst>
      <p:ext uri="{BB962C8B-B14F-4D97-AF65-F5344CB8AC3E}">
        <p14:creationId xmlns:p14="http://schemas.microsoft.com/office/powerpoint/2010/main" val="2501054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 txBox="1">
            <a:spLocks noGrp="1"/>
          </p:cNvSpPr>
          <p:nvPr>
            <p:ph type="title"/>
          </p:nvPr>
        </p:nvSpPr>
        <p:spPr>
          <a:xfrm>
            <a:off x="0" y="1078848"/>
            <a:ext cx="9144000" cy="838201"/>
          </a:xfrm>
          <a:prstGeom prst="rect">
            <a:avLst/>
          </a:prstGeom>
          <a:noFill/>
          <a:ln>
            <a:noFill/>
          </a:ln>
        </p:spPr>
        <p:txBody>
          <a:bodyPr lIns="64275" tIns="64275" rIns="64275" bIns="64275" anchor="ctr" anchorCtr="0">
            <a:noAutofit/>
          </a:bodyPr>
          <a:lstStyle/>
          <a:p>
            <a:pPr marL="0" marR="0" lvl="0" indent="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lang="en-US" sz="4000" b="1" dirty="0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  <a:rtl val="0"/>
              </a:rPr>
              <a:t>Overview of Talk</a:t>
            </a:r>
            <a:endParaRPr lang="en-US" sz="4000" b="1" i="0" u="none" strike="noStrike" cap="none" baseline="0" dirty="0">
              <a:solidFill>
                <a:srgbClr val="990000"/>
              </a:solidFill>
              <a:latin typeface="Arial"/>
              <a:ea typeface="Arial"/>
              <a:cs typeface="Arial"/>
              <a:sym typeface="Arial"/>
              <a:rtl val="0"/>
            </a:endParaRPr>
          </a:p>
        </p:txBody>
      </p:sp>
      <p:sp>
        <p:nvSpPr>
          <p:cNvPr id="5" name="Shape 34"/>
          <p:cNvSpPr txBox="1">
            <a:spLocks noGrp="1"/>
          </p:cNvSpPr>
          <p:nvPr>
            <p:ph type="body" idx="1"/>
          </p:nvPr>
        </p:nvSpPr>
        <p:spPr>
          <a:xfrm>
            <a:off x="0" y="1752600"/>
            <a:ext cx="9005776" cy="5105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452438"/>
            <a:r>
              <a:rPr lang="en-US" sz="2400" dirty="0">
                <a:solidFill>
                  <a:schemeClr val="tx1"/>
                </a:solidFill>
                <a:sym typeface="Arial"/>
                <a:rtl val="0"/>
              </a:rPr>
              <a:t>Overview</a:t>
            </a:r>
          </a:p>
          <a:p>
            <a:pPr marL="452438"/>
            <a:r>
              <a:rPr lang="en-US" sz="2400" dirty="0">
                <a:solidFill>
                  <a:schemeClr val="accent2"/>
                </a:solidFill>
                <a:sym typeface="Arial"/>
                <a:rtl val="0"/>
              </a:rPr>
              <a:t>Basics of a </a:t>
            </a:r>
            <a:r>
              <a:rPr lang="en-US" sz="2400" dirty="0" err="1">
                <a:solidFill>
                  <a:schemeClr val="accent2"/>
                </a:solidFill>
                <a:sym typeface="Arial"/>
                <a:rtl val="0"/>
              </a:rPr>
              <a:t>Slurm</a:t>
            </a:r>
            <a:r>
              <a:rPr lang="en-US" sz="2400" dirty="0">
                <a:solidFill>
                  <a:schemeClr val="accent2"/>
                </a:solidFill>
                <a:sym typeface="Arial"/>
                <a:rtl val="0"/>
              </a:rPr>
              <a:t> Script</a:t>
            </a:r>
          </a:p>
          <a:p>
            <a:pPr marL="452438"/>
            <a:r>
              <a:rPr lang="en-US" sz="2400" dirty="0">
                <a:solidFill>
                  <a:schemeClr val="tx1"/>
                </a:solidFill>
                <a:sym typeface="Arial"/>
                <a:rtl val="0"/>
              </a:rPr>
              <a:t>Getting Started</a:t>
            </a:r>
          </a:p>
          <a:p>
            <a:pPr marL="452438"/>
            <a:r>
              <a:rPr lang="en-US" sz="2400" dirty="0">
                <a:solidFill>
                  <a:schemeClr val="tx1"/>
                </a:solidFill>
                <a:sym typeface="Arial"/>
                <a:rtl val="0"/>
              </a:rPr>
              <a:t>Example Dataset</a:t>
            </a:r>
          </a:p>
          <a:p>
            <a:pPr marL="452438"/>
            <a:r>
              <a:rPr lang="en-US" sz="2400" dirty="0">
                <a:solidFill>
                  <a:schemeClr val="tx1"/>
                </a:solidFill>
                <a:sym typeface="Arial"/>
                <a:rtl val="0"/>
              </a:rPr>
              <a:t>Hands On: Batch Scripting</a:t>
            </a:r>
          </a:p>
          <a:p>
            <a:pPr marL="852488" lvl="1"/>
            <a:r>
              <a:rPr lang="en-US" sz="2000" dirty="0">
                <a:solidFill>
                  <a:schemeClr val="tx1"/>
                </a:solidFill>
                <a:sym typeface="Arial"/>
                <a:rtl val="0"/>
              </a:rPr>
              <a:t>#1: Submitting to </a:t>
            </a:r>
            <a:r>
              <a:rPr lang="en-US" sz="2000" dirty="0" err="1">
                <a:solidFill>
                  <a:schemeClr val="tx1"/>
                </a:solidFill>
                <a:sym typeface="Arial"/>
                <a:rtl val="0"/>
              </a:rPr>
              <a:t>Notchpeak</a:t>
            </a:r>
            <a:r>
              <a:rPr lang="en-US" sz="2000" dirty="0">
                <a:solidFill>
                  <a:schemeClr val="tx1"/>
                </a:solidFill>
                <a:sym typeface="Arial"/>
                <a:rtl val="0"/>
              </a:rPr>
              <a:t> Cluster</a:t>
            </a:r>
          </a:p>
          <a:p>
            <a:pPr marL="852488" lvl="1"/>
            <a:r>
              <a:rPr lang="en-US" sz="2000" dirty="0">
                <a:solidFill>
                  <a:schemeClr val="tx1"/>
                </a:solidFill>
                <a:sym typeface="Arial"/>
                <a:rtl val="0"/>
              </a:rPr>
              <a:t>#2: Submitting to Owner Nodes</a:t>
            </a:r>
          </a:p>
          <a:p>
            <a:pPr marL="452438"/>
            <a:r>
              <a:rPr lang="en-US" sz="2400" dirty="0">
                <a:solidFill>
                  <a:schemeClr val="tx1"/>
                </a:solidFill>
                <a:sym typeface="Arial"/>
                <a:rtl val="0"/>
              </a:rPr>
              <a:t>Hands On #3: Start an Interactive Job</a:t>
            </a:r>
          </a:p>
          <a:p>
            <a:pPr marL="452438"/>
            <a:r>
              <a:rPr lang="en-US" sz="2400" dirty="0">
                <a:solidFill>
                  <a:schemeClr val="tx1"/>
                </a:solidFill>
                <a:sym typeface="Arial"/>
                <a:rtl val="0"/>
              </a:rPr>
              <a:t>Hands On #4: Open OnDemand’s Job Composer</a:t>
            </a:r>
          </a:p>
        </p:txBody>
      </p:sp>
    </p:spTree>
    <p:extLst>
      <p:ext uri="{BB962C8B-B14F-4D97-AF65-F5344CB8AC3E}">
        <p14:creationId xmlns:p14="http://schemas.microsoft.com/office/powerpoint/2010/main" val="4147445501"/>
      </p:ext>
    </p:extLst>
  </p:cSld>
  <p:clrMapOvr>
    <a:masterClrMapping/>
  </p:clrMapOvr>
  <p:transition spd="slow"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37333" y="1066800"/>
            <a:ext cx="8972107" cy="5791200"/>
          </a:xfrm>
        </p:spPr>
        <p:txBody>
          <a:bodyPr/>
          <a:lstStyle/>
          <a:p>
            <a:pPr marL="0" indent="0">
              <a:buNone/>
            </a:pPr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#!/bin/bash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--account=owner-guest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--partition=</a:t>
            </a:r>
            <a:r>
              <a:rPr lang="en-US" sz="12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kingspeak</a:t>
            </a:r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-shared-guest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</a:t>
            </a:r>
            <a:r>
              <a:rPr lang="en-US" sz="12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qos</a:t>
            </a:r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12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kingspeak</a:t>
            </a:r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-guest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--time=02:00:00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--nodes=1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</a:t>
            </a:r>
            <a:r>
              <a:rPr lang="en-US" sz="12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cpus</a:t>
            </a:r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-per-task=8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--mem=32G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-o </a:t>
            </a:r>
            <a:r>
              <a:rPr lang="en-US" sz="12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slurmjob</a:t>
            </a:r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</a:t>
            </a:r>
            <a:r>
              <a:rPr lang="en-US" sz="12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j.out</a:t>
            </a:r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-%N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-e </a:t>
            </a:r>
            <a:r>
              <a:rPr lang="en-US" sz="12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slurmjob</a:t>
            </a:r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</a:t>
            </a:r>
            <a:r>
              <a:rPr lang="en-US" sz="12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j.err</a:t>
            </a:r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-%N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#set up the temporary directory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SCRDIR=/scratch/general/vast/$USER/$SLURM_JOB_ID</a:t>
            </a:r>
          </a:p>
          <a:p>
            <a:pPr marL="0" indent="0">
              <a:buNone/>
            </a:pP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mkdir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-p $SCRDIR</a:t>
            </a:r>
          </a:p>
          <a:p>
            <a:pPr marL="0" indent="0">
              <a:buNone/>
            </a:pPr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#copy over input files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cp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file.input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$SCRDIR/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cd $SCRDIR</a:t>
            </a:r>
            <a:endParaRPr lang="en-US" sz="1200" dirty="0">
              <a:solidFill>
                <a:srgbClr val="0070C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#Set up whatever package we need to run with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module load &lt;some-module&gt;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#Run the program with our input</a:t>
            </a:r>
          </a:p>
          <a:p>
            <a:pPr marL="0" indent="0">
              <a:buNone/>
            </a:pP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myprogram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&lt;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file.input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&gt;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file.output</a:t>
            </a:r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#Move files out of working directory and clean up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cp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file.output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$HOME/.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cd $HOME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rm -rf $SCRDIR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605E7F2-F066-6712-2BF3-AB8CFD1CB8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23386" y="1066800"/>
            <a:ext cx="8972107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r>
              <a:rPr lang="en-US" sz="12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#!/bin/</a:t>
            </a:r>
            <a:r>
              <a:rPr lang="en-US" sz="12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tcsh</a:t>
            </a:r>
            <a:endParaRPr lang="en-US" sz="1200" kern="0" dirty="0">
              <a:solidFill>
                <a:srgbClr val="0070C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FontTx/>
              <a:buNone/>
            </a:pPr>
            <a:r>
              <a:rPr lang="en-US" sz="12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--account=owner-guest</a:t>
            </a:r>
          </a:p>
          <a:p>
            <a:pPr marL="0" indent="0">
              <a:buFontTx/>
              <a:buNone/>
            </a:pPr>
            <a:r>
              <a:rPr lang="en-US" sz="12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--partition=</a:t>
            </a:r>
            <a:r>
              <a:rPr lang="en-US" sz="12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kingspeak</a:t>
            </a:r>
            <a:r>
              <a:rPr lang="en-US" sz="12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-shared-guest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</a:t>
            </a:r>
            <a:r>
              <a:rPr lang="en-US" sz="12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qos</a:t>
            </a:r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12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kingspeak</a:t>
            </a:r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-guest</a:t>
            </a:r>
          </a:p>
          <a:p>
            <a:pPr marL="0" indent="0">
              <a:buFontTx/>
              <a:buNone/>
            </a:pPr>
            <a:r>
              <a:rPr lang="en-US" sz="12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--time=02:00:00</a:t>
            </a:r>
          </a:p>
          <a:p>
            <a:pPr marL="0" indent="0">
              <a:buFontTx/>
              <a:buNone/>
            </a:pPr>
            <a:r>
              <a:rPr lang="en-US" sz="12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--nodes=1</a:t>
            </a:r>
          </a:p>
          <a:p>
            <a:pPr marL="0" indent="0">
              <a:buFontTx/>
              <a:buNone/>
            </a:pPr>
            <a:r>
              <a:rPr lang="en-US" sz="12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</a:t>
            </a:r>
            <a:r>
              <a:rPr lang="en-US" sz="12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cpus</a:t>
            </a:r>
            <a:r>
              <a:rPr lang="en-US" sz="12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-per-task=8</a:t>
            </a:r>
          </a:p>
          <a:p>
            <a:pPr marL="0" indent="0">
              <a:buFontTx/>
              <a:buNone/>
            </a:pPr>
            <a:r>
              <a:rPr lang="en-US" sz="12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--mem=32G</a:t>
            </a:r>
          </a:p>
          <a:p>
            <a:pPr marL="0" indent="0">
              <a:buFontTx/>
              <a:buNone/>
            </a:pPr>
            <a:r>
              <a:rPr lang="en-US" sz="12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-o </a:t>
            </a:r>
            <a:r>
              <a:rPr lang="en-US" sz="12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slurmjob</a:t>
            </a:r>
            <a:r>
              <a:rPr lang="en-US" sz="12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</a:t>
            </a:r>
            <a:r>
              <a:rPr lang="en-US" sz="12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j.out</a:t>
            </a:r>
            <a:r>
              <a:rPr lang="en-US" sz="12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-%N</a:t>
            </a:r>
          </a:p>
          <a:p>
            <a:pPr marL="0" indent="0">
              <a:buFontTx/>
              <a:buNone/>
            </a:pPr>
            <a:r>
              <a:rPr lang="en-US" sz="12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-e </a:t>
            </a:r>
            <a:r>
              <a:rPr lang="en-US" sz="12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slurmjob</a:t>
            </a:r>
            <a:r>
              <a:rPr lang="en-US" sz="12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</a:t>
            </a:r>
            <a:r>
              <a:rPr lang="en-US" sz="12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j.err</a:t>
            </a:r>
            <a:r>
              <a:rPr lang="en-US" sz="12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-%N</a:t>
            </a:r>
          </a:p>
          <a:p>
            <a:pPr marL="0" indent="0">
              <a:buFontTx/>
              <a:buNone/>
            </a:pPr>
            <a:r>
              <a:rPr lang="en-US" sz="1200" kern="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#set up the scratch directory</a:t>
            </a:r>
          </a:p>
          <a:p>
            <a:pPr marL="0" indent="0">
              <a:buFontTx/>
              <a:buNone/>
            </a:pPr>
            <a:r>
              <a:rPr lang="en-US" sz="1200" kern="0" dirty="0">
                <a:latin typeface="Consolas" panose="020B0609020204030204" pitchFamily="49" charset="0"/>
                <a:cs typeface="Consolas" panose="020B0609020204030204" pitchFamily="49" charset="0"/>
              </a:rPr>
              <a:t>set SCRDIR /scratch/local/$USER/$SLURM_JOB_ID</a:t>
            </a:r>
          </a:p>
          <a:p>
            <a:pPr marL="0" indent="0">
              <a:buFontTx/>
              <a:buNone/>
            </a:pPr>
            <a:r>
              <a:rPr lang="en-US" sz="120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mkdir</a:t>
            </a:r>
            <a:r>
              <a:rPr lang="en-US" sz="1200" kern="0" dirty="0">
                <a:latin typeface="Consolas" panose="020B0609020204030204" pitchFamily="49" charset="0"/>
                <a:cs typeface="Consolas" panose="020B0609020204030204" pitchFamily="49" charset="0"/>
              </a:rPr>
              <a:t> -p $SCRDIR</a:t>
            </a:r>
          </a:p>
          <a:p>
            <a:pPr marL="0" indent="0">
              <a:buFontTx/>
              <a:buNone/>
            </a:pPr>
            <a:endParaRPr lang="en-US" sz="1200" kern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FontTx/>
              <a:buNone/>
            </a:pPr>
            <a:r>
              <a:rPr lang="en-US" sz="1200" kern="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#move input files into scratch directory</a:t>
            </a:r>
          </a:p>
          <a:p>
            <a:pPr marL="0" indent="0">
              <a:buFontTx/>
              <a:buNone/>
            </a:pPr>
            <a:r>
              <a:rPr lang="en-US" sz="1200" kern="0" dirty="0">
                <a:latin typeface="Consolas" panose="020B0609020204030204" pitchFamily="49" charset="0"/>
                <a:cs typeface="Consolas" panose="020B0609020204030204" pitchFamily="49" charset="0"/>
              </a:rPr>
              <a:t>cp </a:t>
            </a:r>
            <a:r>
              <a:rPr lang="en-US" sz="120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file.input</a:t>
            </a:r>
            <a:r>
              <a:rPr lang="en-US" sz="1200" kern="0" dirty="0">
                <a:latin typeface="Consolas" panose="020B0609020204030204" pitchFamily="49" charset="0"/>
                <a:cs typeface="Consolas" panose="020B0609020204030204" pitchFamily="49" charset="0"/>
              </a:rPr>
              <a:t> $SCRDIR/</a:t>
            </a:r>
          </a:p>
          <a:p>
            <a:pPr marL="0" indent="0">
              <a:buFontTx/>
              <a:buNone/>
            </a:pPr>
            <a:r>
              <a:rPr lang="en-US" sz="1200" kern="0" dirty="0">
                <a:latin typeface="Consolas" panose="020B0609020204030204" pitchFamily="49" charset="0"/>
                <a:cs typeface="Consolas" panose="020B0609020204030204" pitchFamily="49" charset="0"/>
              </a:rPr>
              <a:t>cd $SCRDIR</a:t>
            </a:r>
            <a:endParaRPr lang="en-US" sz="1200" kern="0" dirty="0">
              <a:solidFill>
                <a:srgbClr val="0070C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FontTx/>
              <a:buNone/>
            </a:pPr>
            <a:endParaRPr lang="en-US" sz="1200" kern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FontTx/>
              <a:buNone/>
            </a:pPr>
            <a:r>
              <a:rPr lang="en-US" sz="1200" kern="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#Set up whatever package we need to run with</a:t>
            </a:r>
          </a:p>
          <a:p>
            <a:pPr marL="0" indent="0">
              <a:buFontTx/>
              <a:buNone/>
            </a:pPr>
            <a:r>
              <a:rPr lang="en-US" sz="1200" kern="0" dirty="0">
                <a:latin typeface="Consolas" panose="020B0609020204030204" pitchFamily="49" charset="0"/>
                <a:cs typeface="Consolas" panose="020B0609020204030204" pitchFamily="49" charset="0"/>
              </a:rPr>
              <a:t>module load &lt;some-module&gt;</a:t>
            </a:r>
          </a:p>
          <a:p>
            <a:pPr marL="0" indent="0">
              <a:buFontTx/>
              <a:buNone/>
            </a:pPr>
            <a:endParaRPr lang="en-US" sz="1200" kern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FontTx/>
              <a:buNone/>
            </a:pPr>
            <a:r>
              <a:rPr lang="en-US" sz="1200" kern="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#Run the program with our input</a:t>
            </a:r>
          </a:p>
          <a:p>
            <a:pPr marL="0" indent="0">
              <a:buFontTx/>
              <a:buNone/>
            </a:pPr>
            <a:r>
              <a:rPr lang="en-US" sz="120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myprogram</a:t>
            </a:r>
            <a:r>
              <a:rPr lang="en-US" sz="1200" kern="0" dirty="0">
                <a:latin typeface="Consolas" panose="020B0609020204030204" pitchFamily="49" charset="0"/>
                <a:cs typeface="Consolas" panose="020B0609020204030204" pitchFamily="49" charset="0"/>
              </a:rPr>
              <a:t> &lt; </a:t>
            </a:r>
            <a:r>
              <a:rPr lang="en-US" sz="120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file.input</a:t>
            </a:r>
            <a:r>
              <a:rPr lang="en-US" sz="1200" kern="0" dirty="0">
                <a:latin typeface="Consolas" panose="020B0609020204030204" pitchFamily="49" charset="0"/>
                <a:cs typeface="Consolas" panose="020B0609020204030204" pitchFamily="49" charset="0"/>
              </a:rPr>
              <a:t> &gt; </a:t>
            </a:r>
            <a:r>
              <a:rPr lang="en-US" sz="120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file.output</a:t>
            </a:r>
            <a:endParaRPr lang="en-US" sz="1200" kern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FontTx/>
              <a:buNone/>
            </a:pPr>
            <a:r>
              <a:rPr lang="en-US" sz="1200" kern="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#Move files out of working directory and clean up</a:t>
            </a:r>
            <a:endParaRPr lang="en-US" sz="1200" kern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FontTx/>
              <a:buNone/>
            </a:pPr>
            <a:r>
              <a:rPr lang="en-US" sz="1200" kern="0" dirty="0">
                <a:latin typeface="Consolas" panose="020B0609020204030204" pitchFamily="49" charset="0"/>
                <a:cs typeface="Consolas" panose="020B0609020204030204" pitchFamily="49" charset="0"/>
              </a:rPr>
              <a:t>cp </a:t>
            </a:r>
            <a:r>
              <a:rPr lang="en-US" sz="120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file.output</a:t>
            </a:r>
            <a:r>
              <a:rPr lang="en-US" sz="1200" kern="0" dirty="0">
                <a:latin typeface="Consolas" panose="020B0609020204030204" pitchFamily="49" charset="0"/>
                <a:cs typeface="Consolas" panose="020B0609020204030204" pitchFamily="49" charset="0"/>
              </a:rPr>
              <a:t> $HOME/.</a:t>
            </a:r>
          </a:p>
          <a:p>
            <a:pPr marL="0" indent="0">
              <a:buFontTx/>
              <a:buNone/>
            </a:pPr>
            <a:r>
              <a:rPr lang="en-US" sz="1200" kern="0" dirty="0">
                <a:latin typeface="Consolas" panose="020B0609020204030204" pitchFamily="49" charset="0"/>
                <a:cs typeface="Consolas" panose="020B0609020204030204" pitchFamily="49" charset="0"/>
              </a:rPr>
              <a:t>cd $HOME</a:t>
            </a:r>
          </a:p>
          <a:p>
            <a:pPr marL="0" indent="0">
              <a:buFontTx/>
              <a:buNone/>
            </a:pPr>
            <a:r>
              <a:rPr lang="en-US" sz="1200" kern="0" dirty="0">
                <a:latin typeface="Consolas" panose="020B0609020204030204" pitchFamily="49" charset="0"/>
                <a:cs typeface="Consolas" panose="020B0609020204030204" pitchFamily="49" charset="0"/>
              </a:rPr>
              <a:t>rm -rf $SCRDIR</a:t>
            </a:r>
          </a:p>
        </p:txBody>
      </p:sp>
    </p:spTree>
    <p:extLst>
      <p:ext uri="{BB962C8B-B14F-4D97-AF65-F5344CB8AC3E}">
        <p14:creationId xmlns:p14="http://schemas.microsoft.com/office/powerpoint/2010/main" val="1418472477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37333" y="1066800"/>
            <a:ext cx="8972107" cy="5791200"/>
          </a:xfrm>
        </p:spPr>
        <p:txBody>
          <a:bodyPr/>
          <a:lstStyle/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#!/bin/bash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--account=owner-guest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--partition=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kingspeak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-shared-guest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qos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kingspeak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-guest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--time=02:00:00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--nodes=1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</a:t>
            </a:r>
            <a:r>
              <a:rPr lang="en-US" sz="11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cpus</a:t>
            </a: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-per-task=8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--mem=32G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-o 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slurmjob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j.out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-%N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-e 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slurmjob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j.err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-%N</a:t>
            </a:r>
          </a:p>
          <a:p>
            <a:pPr marL="0" indent="0">
              <a:buNone/>
            </a:pPr>
            <a:endParaRPr lang="en-US" sz="11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605E7F2-F066-6712-2BF3-AB8CFD1CB8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4071" y="1062318"/>
            <a:ext cx="8972107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#!/bin/</a:t>
            </a:r>
            <a:r>
              <a:rPr lang="en-US" sz="11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tcsh</a:t>
            </a:r>
            <a:endParaRPr lang="en-US" sz="1100" kern="0" dirty="0">
              <a:solidFill>
                <a:srgbClr val="0070C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--account=owner-guest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--partition=</a:t>
            </a:r>
            <a:r>
              <a:rPr lang="en-US" sz="11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kingspeak</a:t>
            </a: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-shared-guest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qos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kingspeak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-guest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--time=02:00:00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--nodes=1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</a:t>
            </a:r>
            <a:r>
              <a:rPr lang="en-US" sz="11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cpus</a:t>
            </a: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-per-task=8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--mem=32G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-o </a:t>
            </a:r>
            <a:r>
              <a:rPr lang="en-US" sz="11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slurmjob</a:t>
            </a: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</a:t>
            </a:r>
            <a:r>
              <a:rPr lang="en-US" sz="11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j.out</a:t>
            </a: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-%N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-e </a:t>
            </a:r>
            <a:r>
              <a:rPr lang="en-US" sz="11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slurmjob</a:t>
            </a: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</a:t>
            </a:r>
            <a:r>
              <a:rPr lang="en-US" sz="11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j.err</a:t>
            </a: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-%N</a:t>
            </a:r>
          </a:p>
          <a:p>
            <a:pPr marL="0" indent="0">
              <a:buFontTx/>
              <a:buNone/>
            </a:pPr>
            <a:endParaRPr lang="en-US" sz="1100" kern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D428AE9-ABB0-553B-1401-BBB213329DB3}"/>
              </a:ext>
            </a:extLst>
          </p:cNvPr>
          <p:cNvSpPr/>
          <p:nvPr/>
        </p:nvSpPr>
        <p:spPr bwMode="auto">
          <a:xfrm>
            <a:off x="105425" y="1295400"/>
            <a:ext cx="4038600" cy="609600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FA6F33-6096-C79B-6D0F-3BE484BECACE}"/>
              </a:ext>
            </a:extLst>
          </p:cNvPr>
          <p:cNvSpPr/>
          <p:nvPr/>
        </p:nvSpPr>
        <p:spPr bwMode="auto">
          <a:xfrm>
            <a:off x="4586304" y="1308847"/>
            <a:ext cx="4038600" cy="596153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523241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1062C4D3-41FE-A78A-E91F-CF5F6781EC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3"/>
          <a:stretch/>
        </p:blipFill>
        <p:spPr>
          <a:xfrm>
            <a:off x="220911" y="2932454"/>
            <a:ext cx="5920916" cy="3474750"/>
          </a:xfrm>
          <a:prstGeom prst="rect">
            <a:avLst/>
          </a:prstGeom>
        </p:spPr>
      </p:pic>
      <p:sp>
        <p:nvSpPr>
          <p:cNvPr id="20482" name="Title 1"/>
          <p:cNvSpPr>
            <a:spLocks noGrp="1"/>
          </p:cNvSpPr>
          <p:nvPr>
            <p:ph type="title"/>
          </p:nvPr>
        </p:nvSpPr>
        <p:spPr>
          <a:xfrm>
            <a:off x="0" y="1066800"/>
            <a:ext cx="9144000" cy="990600"/>
          </a:xfrm>
        </p:spPr>
        <p:txBody>
          <a:bodyPr/>
          <a:lstStyle/>
          <a:p>
            <a:pPr algn="ctr" eaLnBrk="1" hangingPunct="1"/>
            <a:r>
              <a:rPr lang="en-US" sz="3800" b="1" dirty="0">
                <a:solidFill>
                  <a:srgbClr val="990000"/>
                </a:solidFill>
                <a:latin typeface="Arial (Body)"/>
              </a:rPr>
              <a:t>Preparing a </a:t>
            </a:r>
            <a:r>
              <a:rPr lang="en-US" sz="3800" b="1" dirty="0" err="1">
                <a:solidFill>
                  <a:srgbClr val="990000"/>
                </a:solidFill>
                <a:latin typeface="Arial (Body)"/>
              </a:rPr>
              <a:t>Slurm</a:t>
            </a:r>
            <a:r>
              <a:rPr lang="en-US" sz="3800" b="1" dirty="0">
                <a:solidFill>
                  <a:srgbClr val="990000"/>
                </a:solidFill>
                <a:latin typeface="Arial (Body)"/>
              </a:rPr>
              <a:t> Job</a:t>
            </a:r>
            <a:endParaRPr lang="en-US" sz="4000" b="1" dirty="0">
              <a:solidFill>
                <a:srgbClr val="990000"/>
              </a:solidFill>
              <a:latin typeface="+mn-lt"/>
            </a:endParaRPr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>
          <a:xfrm>
            <a:off x="76200" y="2057400"/>
            <a:ext cx="2667000" cy="6096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4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mychpc</a:t>
            </a:r>
            <a:r>
              <a:rPr lang="en-US" sz="2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batch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2BA75D70-752A-7F7E-C959-F02CDD8E46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0" y="4572000"/>
            <a:ext cx="2617641" cy="1799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42602556-19CA-B849-91BD-6C38D0ED0967}"/>
              </a:ext>
            </a:extLst>
          </p:cNvPr>
          <p:cNvCxnSpPr>
            <a:cxnSpLocks/>
          </p:cNvCxnSpPr>
          <p:nvPr/>
        </p:nvCxnSpPr>
        <p:spPr bwMode="auto">
          <a:xfrm rot="5400000" flipH="1" flipV="1">
            <a:off x="7035756" y="4882386"/>
            <a:ext cx="645715" cy="481880"/>
          </a:xfrm>
          <a:prstGeom prst="bentConnector3">
            <a:avLst/>
          </a:prstGeom>
          <a:solidFill>
            <a:schemeClr val="accent1"/>
          </a:solidFill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8" name="Picture 2" descr="Slurm Workload Manager - Wikipedia">
            <a:extLst>
              <a:ext uri="{FF2B5EF4-FFF2-40B4-BE49-F238E27FC236}">
                <a16:creationId xmlns:a16="http://schemas.microsoft.com/office/drawing/2014/main" id="{B2AD2D22-7D47-B045-49D9-E729C22628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1086" y="4766601"/>
            <a:ext cx="423449" cy="387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DC47DA71-496F-F8C8-15EA-E4A46D87E6E4}"/>
              </a:ext>
            </a:extLst>
          </p:cNvPr>
          <p:cNvCxnSpPr>
            <a:cxnSpLocks/>
          </p:cNvCxnSpPr>
          <p:nvPr/>
        </p:nvCxnSpPr>
        <p:spPr bwMode="auto">
          <a:xfrm flipH="1">
            <a:off x="2590800" y="2438400"/>
            <a:ext cx="1752600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B8C07F6-0A71-F064-7D5C-B1592F07AB53}"/>
              </a:ext>
            </a:extLst>
          </p:cNvPr>
          <p:cNvSpPr txBox="1"/>
          <p:nvPr/>
        </p:nvSpPr>
        <p:spPr>
          <a:xfrm>
            <a:off x="4419600" y="2036003"/>
            <a:ext cx="4038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n-lt"/>
              </a:rPr>
              <a:t>Helpful command; shows what resources you have access to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07143FA-8960-AF0E-6604-204E19FC47CA}"/>
              </a:ext>
            </a:extLst>
          </p:cNvPr>
          <p:cNvCxnSpPr/>
          <p:nvPr/>
        </p:nvCxnSpPr>
        <p:spPr bwMode="auto">
          <a:xfrm>
            <a:off x="457200" y="2551453"/>
            <a:ext cx="0" cy="76200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71514EF-6BED-7B56-708E-8AFC52257AD6}"/>
              </a:ext>
            </a:extLst>
          </p:cNvPr>
          <p:cNvCxnSpPr>
            <a:cxnSpLocks/>
          </p:cNvCxnSpPr>
          <p:nvPr/>
        </p:nvCxnSpPr>
        <p:spPr bwMode="auto">
          <a:xfrm>
            <a:off x="2344608" y="2955686"/>
            <a:ext cx="0" cy="465515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660C22B-9215-A54E-0859-AF7963253FFB}"/>
              </a:ext>
            </a:extLst>
          </p:cNvPr>
          <p:cNvCxnSpPr>
            <a:cxnSpLocks/>
          </p:cNvCxnSpPr>
          <p:nvPr/>
        </p:nvCxnSpPr>
        <p:spPr bwMode="auto">
          <a:xfrm>
            <a:off x="3302203" y="2893998"/>
            <a:ext cx="0" cy="527203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BB6C290-5970-B7F0-F803-5A5F68F48730}"/>
              </a:ext>
            </a:extLst>
          </p:cNvPr>
          <p:cNvCxnSpPr>
            <a:cxnSpLocks/>
          </p:cNvCxnSpPr>
          <p:nvPr/>
        </p:nvCxnSpPr>
        <p:spPr bwMode="auto">
          <a:xfrm>
            <a:off x="1457354" y="2926910"/>
            <a:ext cx="11877" cy="494291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50056E4-1DA1-2A25-B99B-4EA5A98C3D2A}"/>
              </a:ext>
            </a:extLst>
          </p:cNvPr>
          <p:cNvSpPr txBox="1"/>
          <p:nvPr/>
        </p:nvSpPr>
        <p:spPr>
          <a:xfrm>
            <a:off x="11743" y="2182121"/>
            <a:ext cx="1749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C00000"/>
                </a:solidFill>
              </a:rPr>
              <a:t>Allocation state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040F210-F986-6031-9C7C-8E561A3213D3}"/>
              </a:ext>
            </a:extLst>
          </p:cNvPr>
          <p:cNvSpPr txBox="1"/>
          <p:nvPr/>
        </p:nvSpPr>
        <p:spPr>
          <a:xfrm>
            <a:off x="2117023" y="2545391"/>
            <a:ext cx="628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err="1">
                <a:solidFill>
                  <a:srgbClr val="C00000"/>
                </a:solidFill>
              </a:rPr>
              <a:t>qos</a:t>
            </a:r>
            <a:endParaRPr lang="en-US" sz="1800" dirty="0">
              <a:solidFill>
                <a:srgbClr val="C0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26160C7-921C-19F9-843F-CEB92887102D}"/>
              </a:ext>
            </a:extLst>
          </p:cNvPr>
          <p:cNvSpPr txBox="1"/>
          <p:nvPr/>
        </p:nvSpPr>
        <p:spPr>
          <a:xfrm>
            <a:off x="2776836" y="2528505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C00000"/>
                </a:solidFill>
              </a:rPr>
              <a:t>account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12D3B08-786E-1183-204F-ACE2E4835270}"/>
              </a:ext>
            </a:extLst>
          </p:cNvPr>
          <p:cNvSpPr txBox="1"/>
          <p:nvPr/>
        </p:nvSpPr>
        <p:spPr>
          <a:xfrm>
            <a:off x="942164" y="2555576"/>
            <a:ext cx="10967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</a:rPr>
              <a:t>partition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4E6A9A4-076F-196F-80B2-4401408482D7}"/>
              </a:ext>
            </a:extLst>
          </p:cNvPr>
          <p:cNvSpPr/>
          <p:nvPr/>
        </p:nvSpPr>
        <p:spPr bwMode="auto">
          <a:xfrm>
            <a:off x="2109192" y="2587129"/>
            <a:ext cx="575072" cy="336459"/>
          </a:xfrm>
          <a:prstGeom prst="rect">
            <a:avLst/>
          </a:prstGeom>
          <a:noFill/>
          <a:ln w="38100" cap="flat" cmpd="sng" algn="ctr">
            <a:solidFill>
              <a:schemeClr val="accent5">
                <a:lumMod val="1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72E757B-D97D-1AD8-9475-6621A3B5C4D8}"/>
              </a:ext>
            </a:extLst>
          </p:cNvPr>
          <p:cNvSpPr/>
          <p:nvPr/>
        </p:nvSpPr>
        <p:spPr bwMode="auto">
          <a:xfrm>
            <a:off x="2784257" y="2560041"/>
            <a:ext cx="975146" cy="354682"/>
          </a:xfrm>
          <a:prstGeom prst="rect">
            <a:avLst/>
          </a:prstGeom>
          <a:noFill/>
          <a:ln w="38100" cap="flat" cmpd="sng" algn="ctr">
            <a:solidFill>
              <a:schemeClr val="accent5">
                <a:lumMod val="1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0BD8091-523D-4D83-A20A-3735E3610A2D}"/>
              </a:ext>
            </a:extLst>
          </p:cNvPr>
          <p:cNvSpPr/>
          <p:nvPr/>
        </p:nvSpPr>
        <p:spPr bwMode="auto">
          <a:xfrm>
            <a:off x="965548" y="2592953"/>
            <a:ext cx="1044487" cy="354682"/>
          </a:xfrm>
          <a:prstGeom prst="rect">
            <a:avLst/>
          </a:prstGeom>
          <a:noFill/>
          <a:ln w="38100" cap="flat" cmpd="sng" algn="ctr">
            <a:solidFill>
              <a:schemeClr val="accent5">
                <a:lumMod val="1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674349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3" restart="whenNotActive" fill="hold" evtFilter="cancelBubble" nodeType="interactiveSeq">
                <p:stCondLst>
                  <p:cond evt="onClick" delay="0">
                    <p:tgtEl>
                      <p:spTgt spid="204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" fill="hold">
                      <p:stCondLst>
                        <p:cond delay="0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482"/>
                  </p:tgtEl>
                </p:cond>
              </p:nextCondLst>
            </p:seq>
          </p:childTnLst>
        </p:cTn>
      </p:par>
    </p:tnLst>
    <p:bldLst>
      <p:bldP spid="20483" grpId="0" build="p"/>
      <p:bldP spid="5" grpId="0"/>
      <p:bldP spid="5" grpId="1"/>
      <p:bldP spid="16" grpId="0"/>
      <p:bldP spid="17" grpId="0"/>
      <p:bldP spid="18" grpId="0"/>
      <p:bldP spid="19" grpId="0"/>
      <p:bldP spid="20" grpId="0" animBg="1"/>
      <p:bldP spid="21" grpId="0" animBg="1"/>
      <p:bldP spid="2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37333" y="1066800"/>
            <a:ext cx="8972107" cy="2286000"/>
          </a:xfrm>
        </p:spPr>
        <p:txBody>
          <a:bodyPr/>
          <a:lstStyle/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#!/bin/bash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--account=owner-guest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--partition=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kingspeak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-shared-guest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qos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kingspeak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-guest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--time=02:00:00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--nodes=1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</a:t>
            </a:r>
            <a:r>
              <a:rPr lang="en-US" sz="11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cpus</a:t>
            </a: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-per-task=8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--mem=32G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-o 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slurmjob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j.out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-%N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-e 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slurmjob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j.err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-%N</a:t>
            </a:r>
          </a:p>
          <a:p>
            <a:pPr marL="0" indent="0">
              <a:buNone/>
            </a:pPr>
            <a:endParaRPr lang="en-US" sz="11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605E7F2-F066-6712-2BF3-AB8CFD1CB8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4071" y="1062318"/>
            <a:ext cx="8972107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#!/bin/</a:t>
            </a:r>
            <a:r>
              <a:rPr lang="en-US" sz="11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tcsh</a:t>
            </a:r>
            <a:endParaRPr lang="en-US" sz="1100" kern="0" dirty="0">
              <a:solidFill>
                <a:srgbClr val="0070C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--account=owner-guest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--partition=</a:t>
            </a:r>
            <a:r>
              <a:rPr lang="en-US" sz="11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kingspeak</a:t>
            </a: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-shared-guest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qos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kingspeak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-guest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--time=02:00:00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--nodes=1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</a:t>
            </a:r>
            <a:r>
              <a:rPr lang="en-US" sz="11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cpus</a:t>
            </a: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-per-task=8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--mem=32G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-o </a:t>
            </a:r>
            <a:r>
              <a:rPr lang="en-US" sz="11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slurmjob</a:t>
            </a: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</a:t>
            </a:r>
            <a:r>
              <a:rPr lang="en-US" sz="11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j.out</a:t>
            </a: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-%N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-e </a:t>
            </a:r>
            <a:r>
              <a:rPr lang="en-US" sz="11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slurmjob</a:t>
            </a: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</a:t>
            </a:r>
            <a:r>
              <a:rPr lang="en-US" sz="11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j.err</a:t>
            </a: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-%N</a:t>
            </a:r>
          </a:p>
          <a:p>
            <a:pPr marL="0" indent="0">
              <a:buFontTx/>
              <a:buNone/>
            </a:pPr>
            <a:endParaRPr lang="en-US" sz="1100" kern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D428AE9-ABB0-553B-1401-BBB213329DB3}"/>
              </a:ext>
            </a:extLst>
          </p:cNvPr>
          <p:cNvSpPr/>
          <p:nvPr/>
        </p:nvSpPr>
        <p:spPr bwMode="auto">
          <a:xfrm>
            <a:off x="105425" y="1710018"/>
            <a:ext cx="4038600" cy="228600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FA6F33-6096-C79B-6D0F-3BE484BECACE}"/>
              </a:ext>
            </a:extLst>
          </p:cNvPr>
          <p:cNvSpPr/>
          <p:nvPr/>
        </p:nvSpPr>
        <p:spPr bwMode="auto">
          <a:xfrm>
            <a:off x="4622163" y="1710018"/>
            <a:ext cx="4038600" cy="228600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957E1D-6EB6-3327-EC71-31FF9C4BCD54}"/>
              </a:ext>
            </a:extLst>
          </p:cNvPr>
          <p:cNvSpPr txBox="1"/>
          <p:nvPr/>
        </p:nvSpPr>
        <p:spPr>
          <a:xfrm>
            <a:off x="1283419" y="4057471"/>
            <a:ext cx="65771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u="sng" dirty="0">
                <a:solidFill>
                  <a:srgbClr val="FF0000"/>
                </a:solidFill>
              </a:rPr>
              <a:t>#SBATCH --time=02:00:00 </a:t>
            </a:r>
            <a:r>
              <a:rPr lang="en-US" dirty="0">
                <a:solidFill>
                  <a:srgbClr val="FF0000"/>
                </a:solidFill>
              </a:rPr>
              <a:t> specifies </a:t>
            </a:r>
            <a:r>
              <a:rPr lang="en-US" sz="2400" dirty="0">
                <a:solidFill>
                  <a:srgbClr val="FF0000"/>
                </a:solidFill>
                <a:sym typeface="Wingdings" panose="05000000000000000000" pitchFamily="2" charset="2"/>
              </a:rPr>
              <a:t>wall </a:t>
            </a:r>
            <a:r>
              <a:rPr lang="en-US" sz="2400" dirty="0">
                <a:solidFill>
                  <a:srgbClr val="FF0000"/>
                </a:solidFill>
              </a:rPr>
              <a:t>time of a job in </a:t>
            </a:r>
            <a:r>
              <a:rPr lang="en-US" dirty="0" err="1">
                <a:solidFill>
                  <a:srgbClr val="FF0000"/>
                </a:solidFill>
              </a:rPr>
              <a:t>H</a:t>
            </a:r>
            <a:r>
              <a:rPr lang="en-US" sz="2400" dirty="0" err="1">
                <a:solidFill>
                  <a:srgbClr val="FF0000"/>
                </a:solidFill>
              </a:rPr>
              <a:t>ours:Minutes:Seconds</a:t>
            </a:r>
            <a:endParaRPr lang="en-US" sz="2400" dirty="0">
              <a:solidFill>
                <a:srgbClr val="FF0000"/>
              </a:solidFill>
            </a:endParaRPr>
          </a:p>
          <a:p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BE2A6D-C6F0-8F90-FA0D-B3201BB25E2F}"/>
              </a:ext>
            </a:extLst>
          </p:cNvPr>
          <p:cNvSpPr txBox="1"/>
          <p:nvPr/>
        </p:nvSpPr>
        <p:spPr>
          <a:xfrm>
            <a:off x="2701465" y="5106761"/>
            <a:ext cx="313861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#SBATCH -t 02:00:00</a:t>
            </a:r>
            <a:endParaRPr lang="en-US" sz="2400" dirty="0">
              <a:solidFill>
                <a:srgbClr val="FF0000"/>
              </a:solidFill>
            </a:endParaRPr>
          </a:p>
          <a:p>
            <a:pPr algn="ctr"/>
            <a:r>
              <a:rPr lang="en-US" dirty="0">
                <a:solidFill>
                  <a:srgbClr val="FF0000"/>
                </a:solidFill>
              </a:rPr>
              <a:t>also works</a:t>
            </a:r>
          </a:p>
        </p:txBody>
      </p:sp>
    </p:spTree>
    <p:extLst>
      <p:ext uri="{BB962C8B-B14F-4D97-AF65-F5344CB8AC3E}">
        <p14:creationId xmlns:p14="http://schemas.microsoft.com/office/powerpoint/2010/main" val="329537440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04 -0.01667 L 0.00104 0.02778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222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39 -0.01667 L -0.00139 0.02778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22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37333" y="1066800"/>
            <a:ext cx="8972107" cy="2286000"/>
          </a:xfrm>
        </p:spPr>
        <p:txBody>
          <a:bodyPr/>
          <a:lstStyle/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#!/bin/bash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--account=owner-guest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--partition=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kingspeak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-shared-guest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qos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kingspeak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-guest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--time=02:00:00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--nodes=1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</a:t>
            </a:r>
            <a:r>
              <a:rPr lang="en-US" sz="11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cpus</a:t>
            </a: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-per-task=8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--mem=32G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-o 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slurmjob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j.out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-%N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-e 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slurmjob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j.err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-%N</a:t>
            </a:r>
          </a:p>
          <a:p>
            <a:pPr marL="0" indent="0">
              <a:buNone/>
            </a:pPr>
            <a:endParaRPr lang="en-US" sz="11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605E7F2-F066-6712-2BF3-AB8CFD1CB8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4071" y="1062318"/>
            <a:ext cx="8972107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#!/bin/</a:t>
            </a:r>
            <a:r>
              <a:rPr lang="en-US" sz="11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tcsh</a:t>
            </a:r>
            <a:endParaRPr lang="en-US" sz="1100" kern="0" dirty="0">
              <a:solidFill>
                <a:srgbClr val="0070C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--account=owner-guest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--partition=</a:t>
            </a:r>
            <a:r>
              <a:rPr lang="en-US" sz="11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kingspeak</a:t>
            </a: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-shared-guest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qos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kingspeak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-guest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--time=02:00:00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--nodes=1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</a:t>
            </a:r>
            <a:r>
              <a:rPr lang="en-US" sz="11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cpus</a:t>
            </a: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-per-task=8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--mem=32G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-o </a:t>
            </a:r>
            <a:r>
              <a:rPr lang="en-US" sz="11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slurmjob</a:t>
            </a: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</a:t>
            </a:r>
            <a:r>
              <a:rPr lang="en-US" sz="11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j.out</a:t>
            </a: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-%N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-e </a:t>
            </a:r>
            <a:r>
              <a:rPr lang="en-US" sz="11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slurmjob</a:t>
            </a: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</a:t>
            </a:r>
            <a:r>
              <a:rPr lang="en-US" sz="11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j.err</a:t>
            </a: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-%N</a:t>
            </a:r>
          </a:p>
          <a:p>
            <a:pPr marL="0" indent="0">
              <a:buFontTx/>
              <a:buNone/>
            </a:pPr>
            <a:endParaRPr lang="en-US" sz="1100" kern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D428AE9-ABB0-553B-1401-BBB213329DB3}"/>
              </a:ext>
            </a:extLst>
          </p:cNvPr>
          <p:cNvSpPr/>
          <p:nvPr/>
        </p:nvSpPr>
        <p:spPr bwMode="auto">
          <a:xfrm>
            <a:off x="84396" y="1851212"/>
            <a:ext cx="4038600" cy="228600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FA6F33-6096-C79B-6D0F-3BE484BECACE}"/>
              </a:ext>
            </a:extLst>
          </p:cNvPr>
          <p:cNvSpPr/>
          <p:nvPr/>
        </p:nvSpPr>
        <p:spPr bwMode="auto">
          <a:xfrm>
            <a:off x="4601134" y="1855694"/>
            <a:ext cx="4038600" cy="228600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957E1D-6EB6-3327-EC71-31FF9C4BCD54}"/>
              </a:ext>
            </a:extLst>
          </p:cNvPr>
          <p:cNvSpPr txBox="1"/>
          <p:nvPr/>
        </p:nvSpPr>
        <p:spPr>
          <a:xfrm>
            <a:off x="1283419" y="4057471"/>
            <a:ext cx="65771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US" u="sng" dirty="0">
                <a:solidFill>
                  <a:srgbClr val="FF0000"/>
                </a:solidFill>
              </a:rPr>
              <a:t>#SBATCH --nodes=1 </a:t>
            </a:r>
            <a:r>
              <a:rPr lang="en-US" dirty="0">
                <a:solidFill>
                  <a:srgbClr val="FF0000"/>
                </a:solidFill>
              </a:rPr>
              <a:t> specifies </a:t>
            </a:r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number of nodes</a:t>
            </a:r>
            <a:endParaRPr lang="en-US" dirty="0">
              <a:solidFill>
                <a:srgbClr val="FF0000"/>
              </a:solidFill>
            </a:endParaRPr>
          </a:p>
          <a:p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BE2A6D-C6F0-8F90-FA0D-B3201BB25E2F}"/>
              </a:ext>
            </a:extLst>
          </p:cNvPr>
          <p:cNvSpPr txBox="1"/>
          <p:nvPr/>
        </p:nvSpPr>
        <p:spPr>
          <a:xfrm>
            <a:off x="3146298" y="5106761"/>
            <a:ext cx="224895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#SBATCH -N 1</a:t>
            </a:r>
            <a:endParaRPr lang="en-US" sz="2400" dirty="0">
              <a:solidFill>
                <a:srgbClr val="FF0000"/>
              </a:solidFill>
            </a:endParaRPr>
          </a:p>
          <a:p>
            <a:pPr algn="ctr"/>
            <a:r>
              <a:rPr lang="en-US" dirty="0">
                <a:solidFill>
                  <a:srgbClr val="FF0000"/>
                </a:solidFill>
              </a:rPr>
              <a:t>also works</a:t>
            </a:r>
          </a:p>
        </p:txBody>
      </p:sp>
    </p:spTree>
    <p:extLst>
      <p:ext uri="{BB962C8B-B14F-4D97-AF65-F5344CB8AC3E}">
        <p14:creationId xmlns:p14="http://schemas.microsoft.com/office/powerpoint/2010/main" val="169350727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3333 " pathEditMode="relative" ptsTypes="AA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3333 " pathEditMode="relative" ptsTypes="AA">
                                      <p:cBhvr>
                                        <p:cTn id="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37333" y="1066800"/>
            <a:ext cx="8972107" cy="2286000"/>
          </a:xfrm>
        </p:spPr>
        <p:txBody>
          <a:bodyPr/>
          <a:lstStyle/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#!/bin/bash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--account=owner-guest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--partition=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kingspeak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-shared-guest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qos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kingspeak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-guest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--time=02:00:00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--nodes=1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</a:t>
            </a:r>
            <a:r>
              <a:rPr lang="en-US" sz="11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cpus</a:t>
            </a: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-per-task=8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--mem=32G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-o 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slurmjob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j.out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-%N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-e 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slurmjob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j.err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-%N</a:t>
            </a:r>
          </a:p>
          <a:p>
            <a:pPr marL="0" indent="0">
              <a:buNone/>
            </a:pPr>
            <a:endParaRPr lang="en-US" sz="11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605E7F2-F066-6712-2BF3-AB8CFD1CB8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4071" y="1062318"/>
            <a:ext cx="8972107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#!/bin/</a:t>
            </a:r>
            <a:r>
              <a:rPr lang="en-US" sz="11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tcsh</a:t>
            </a:r>
            <a:endParaRPr lang="en-US" sz="1100" kern="0" dirty="0">
              <a:solidFill>
                <a:srgbClr val="0070C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--account=owner-guest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--partition=</a:t>
            </a:r>
            <a:r>
              <a:rPr lang="en-US" sz="11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kingspeak</a:t>
            </a: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-shared-guest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qos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kingspeak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-guest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--time=02:00:00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--nodes=1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</a:t>
            </a:r>
            <a:r>
              <a:rPr lang="en-US" sz="11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cpus</a:t>
            </a: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-per-task=8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--mem=32G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-o </a:t>
            </a:r>
            <a:r>
              <a:rPr lang="en-US" sz="11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slurmjob</a:t>
            </a: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</a:t>
            </a:r>
            <a:r>
              <a:rPr lang="en-US" sz="11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j.out</a:t>
            </a: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-%N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-e </a:t>
            </a:r>
            <a:r>
              <a:rPr lang="en-US" sz="11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slurmjob</a:t>
            </a: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</a:t>
            </a:r>
            <a:r>
              <a:rPr lang="en-US" sz="11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j.err</a:t>
            </a: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-%N</a:t>
            </a:r>
          </a:p>
          <a:p>
            <a:pPr marL="0" indent="0">
              <a:buFontTx/>
              <a:buNone/>
            </a:pPr>
            <a:endParaRPr lang="en-US" sz="1100" kern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D428AE9-ABB0-553B-1401-BBB213329DB3}"/>
              </a:ext>
            </a:extLst>
          </p:cNvPr>
          <p:cNvSpPr/>
          <p:nvPr/>
        </p:nvSpPr>
        <p:spPr bwMode="auto">
          <a:xfrm>
            <a:off x="70951" y="2057400"/>
            <a:ext cx="4038600" cy="228600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FA6F33-6096-C79B-6D0F-3BE484BECACE}"/>
              </a:ext>
            </a:extLst>
          </p:cNvPr>
          <p:cNvSpPr/>
          <p:nvPr/>
        </p:nvSpPr>
        <p:spPr bwMode="auto">
          <a:xfrm>
            <a:off x="4587689" y="2057400"/>
            <a:ext cx="4038600" cy="228600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957E1D-6EB6-3327-EC71-31FF9C4BCD54}"/>
              </a:ext>
            </a:extLst>
          </p:cNvPr>
          <p:cNvSpPr txBox="1"/>
          <p:nvPr/>
        </p:nvSpPr>
        <p:spPr>
          <a:xfrm>
            <a:off x="1283419" y="4057471"/>
            <a:ext cx="65771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US" u="sng" dirty="0">
                <a:solidFill>
                  <a:srgbClr val="FF0000"/>
                </a:solidFill>
              </a:rPr>
              <a:t>#SBATCH --</a:t>
            </a:r>
            <a:r>
              <a:rPr lang="en-US" u="sng" dirty="0" err="1">
                <a:solidFill>
                  <a:srgbClr val="FF0000"/>
                </a:solidFill>
              </a:rPr>
              <a:t>cpus</a:t>
            </a:r>
            <a:r>
              <a:rPr lang="en-US" u="sng" dirty="0">
                <a:solidFill>
                  <a:srgbClr val="FF0000"/>
                </a:solidFill>
              </a:rPr>
              <a:t>-per-task=8 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total number of CPUs per node</a:t>
            </a:r>
          </a:p>
          <a:p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BE2A6D-C6F0-8F90-FA0D-B3201BB25E2F}"/>
              </a:ext>
            </a:extLst>
          </p:cNvPr>
          <p:cNvSpPr txBox="1"/>
          <p:nvPr/>
        </p:nvSpPr>
        <p:spPr>
          <a:xfrm>
            <a:off x="3180763" y="5106761"/>
            <a:ext cx="218002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#SBATCH -c 8</a:t>
            </a:r>
            <a:endParaRPr lang="en-US" sz="2400" dirty="0">
              <a:solidFill>
                <a:srgbClr val="FF0000"/>
              </a:solidFill>
            </a:endParaRPr>
          </a:p>
          <a:p>
            <a:pPr algn="ctr"/>
            <a:r>
              <a:rPr lang="en-US" dirty="0">
                <a:solidFill>
                  <a:srgbClr val="FF0000"/>
                </a:solidFill>
              </a:rPr>
              <a:t>also works</a:t>
            </a:r>
          </a:p>
        </p:txBody>
      </p:sp>
    </p:spTree>
    <p:extLst>
      <p:ext uri="{BB962C8B-B14F-4D97-AF65-F5344CB8AC3E}">
        <p14:creationId xmlns:p14="http://schemas.microsoft.com/office/powerpoint/2010/main" val="69988749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3.33333E-6 L 4.16667E-6 0.0333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667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3.33333E-6 L 5.55556E-7 0.03333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66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37333" y="1066800"/>
            <a:ext cx="8972107" cy="2286000"/>
          </a:xfrm>
        </p:spPr>
        <p:txBody>
          <a:bodyPr/>
          <a:lstStyle/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#!/bin/bash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--account=owner-guest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--partition=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kingspeak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-shared-guest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qos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kingspeak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-guest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--time=02:00:00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--nodes=1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</a:t>
            </a:r>
            <a:r>
              <a:rPr lang="en-US" sz="11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cpus</a:t>
            </a: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-per-task=8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--mem=32G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-o 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slurmjob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j.out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-%N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-e 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slurmjob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j.err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-%N</a:t>
            </a:r>
          </a:p>
          <a:p>
            <a:pPr marL="0" indent="0">
              <a:buNone/>
            </a:pPr>
            <a:endParaRPr lang="en-US" sz="11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605E7F2-F066-6712-2BF3-AB8CFD1CB8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4071" y="1062318"/>
            <a:ext cx="8972107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#!/bin/</a:t>
            </a:r>
            <a:r>
              <a:rPr lang="en-US" sz="11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tcsh</a:t>
            </a:r>
            <a:endParaRPr lang="en-US" sz="1100" kern="0" dirty="0">
              <a:solidFill>
                <a:srgbClr val="0070C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--account=owner-guest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--partition=</a:t>
            </a:r>
            <a:r>
              <a:rPr lang="en-US" sz="11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kingspeak</a:t>
            </a: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-shared-guest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qos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kingspeak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-guest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--time=02:00:00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--nodes=1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</a:t>
            </a:r>
            <a:r>
              <a:rPr lang="en-US" sz="11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cpus</a:t>
            </a: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-per-task=8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--mem=32G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-o </a:t>
            </a:r>
            <a:r>
              <a:rPr lang="en-US" sz="11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slurmjob</a:t>
            </a: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</a:t>
            </a:r>
            <a:r>
              <a:rPr lang="en-US" sz="11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j.out</a:t>
            </a: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-%N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-e </a:t>
            </a:r>
            <a:r>
              <a:rPr lang="en-US" sz="11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slurmjob</a:t>
            </a: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</a:t>
            </a:r>
            <a:r>
              <a:rPr lang="en-US" sz="11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j.err</a:t>
            </a: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-%N</a:t>
            </a:r>
          </a:p>
          <a:p>
            <a:pPr marL="0" indent="0">
              <a:buFontTx/>
              <a:buNone/>
            </a:pPr>
            <a:endParaRPr lang="en-US" sz="1100" kern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D428AE9-ABB0-553B-1401-BBB213329DB3}"/>
              </a:ext>
            </a:extLst>
          </p:cNvPr>
          <p:cNvSpPr/>
          <p:nvPr/>
        </p:nvSpPr>
        <p:spPr bwMode="auto">
          <a:xfrm>
            <a:off x="75433" y="2286000"/>
            <a:ext cx="4038600" cy="228600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FA6F33-6096-C79B-6D0F-3BE484BECACE}"/>
              </a:ext>
            </a:extLst>
          </p:cNvPr>
          <p:cNvSpPr/>
          <p:nvPr/>
        </p:nvSpPr>
        <p:spPr bwMode="auto">
          <a:xfrm>
            <a:off x="4592171" y="2286000"/>
            <a:ext cx="4038600" cy="228600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957E1D-6EB6-3327-EC71-31FF9C4BCD54}"/>
              </a:ext>
            </a:extLst>
          </p:cNvPr>
          <p:cNvSpPr txBox="1"/>
          <p:nvPr/>
        </p:nvSpPr>
        <p:spPr>
          <a:xfrm>
            <a:off x="1283419" y="3969594"/>
            <a:ext cx="65771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US" u="sng" dirty="0">
                <a:solidFill>
                  <a:srgbClr val="FF0000"/>
                </a:solidFill>
              </a:rPr>
              <a:t>#SBATCH --mem=32GB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specifies total memory </a:t>
            </a:r>
            <a:r>
              <a:rPr lang="en-US" i="1" dirty="0">
                <a:solidFill>
                  <a:srgbClr val="FF0000"/>
                </a:solidFill>
                <a:sym typeface="Wingdings" panose="05000000000000000000" pitchFamily="2" charset="2"/>
              </a:rPr>
              <a:t>per node</a:t>
            </a:r>
          </a:p>
          <a:p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BE2A6D-C6F0-8F90-FA0D-B3201BB25E2F}"/>
              </a:ext>
            </a:extLst>
          </p:cNvPr>
          <p:cNvSpPr txBox="1"/>
          <p:nvPr/>
        </p:nvSpPr>
        <p:spPr>
          <a:xfrm>
            <a:off x="2923186" y="5005489"/>
            <a:ext cx="3200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#SBATCH --mem=0 gives you memory of whole node </a:t>
            </a:r>
          </a:p>
        </p:txBody>
      </p:sp>
    </p:spTree>
    <p:extLst>
      <p:ext uri="{BB962C8B-B14F-4D97-AF65-F5344CB8AC3E}">
        <p14:creationId xmlns:p14="http://schemas.microsoft.com/office/powerpoint/2010/main" val="26269761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5.55112E-17 L 3.33333E-6 0.0333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667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-5.55112E-17 L -2.77778E-7 0.03333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66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37333" y="1066800"/>
            <a:ext cx="8972107" cy="2286000"/>
          </a:xfrm>
        </p:spPr>
        <p:txBody>
          <a:bodyPr/>
          <a:lstStyle/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#!/bin/bash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--account=owner-guest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--partition=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kingspeak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-shared-guest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qos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kingspeak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-guest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--time=02:00:00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--nodes=1</a:t>
            </a:r>
          </a:p>
          <a:p>
            <a:pPr marL="0" indent="0">
              <a:buFontTx/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cpus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-per-task=8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--mem=32G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-o 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slurmjob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j.out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-%N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-e 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slurmjob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j.err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-%N</a:t>
            </a:r>
          </a:p>
          <a:p>
            <a:pPr marL="0" indent="0">
              <a:buNone/>
            </a:pPr>
            <a:endParaRPr lang="en-US" sz="11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605E7F2-F066-6712-2BF3-AB8CFD1CB8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4071" y="1062318"/>
            <a:ext cx="8972107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#!/bin/</a:t>
            </a:r>
            <a:r>
              <a:rPr lang="en-US" sz="11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tcsh</a:t>
            </a:r>
            <a:endParaRPr lang="en-US" sz="1100" kern="0" dirty="0">
              <a:solidFill>
                <a:srgbClr val="0070C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--account=owner-guest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--partition=</a:t>
            </a:r>
            <a:r>
              <a:rPr lang="en-US" sz="11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kingspeak</a:t>
            </a: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-shared-guest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qos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kingspeak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-guest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--time=02:00:00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--nodes=1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</a:t>
            </a:r>
            <a:r>
              <a:rPr lang="en-US" sz="11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cpus</a:t>
            </a: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-per-task=8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--mem=32G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-o </a:t>
            </a:r>
            <a:r>
              <a:rPr lang="en-US" sz="11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slurmjob</a:t>
            </a: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</a:t>
            </a:r>
            <a:r>
              <a:rPr lang="en-US" sz="11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j.out</a:t>
            </a: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-%N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-e </a:t>
            </a:r>
            <a:r>
              <a:rPr lang="en-US" sz="11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slurmjob</a:t>
            </a: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</a:t>
            </a:r>
            <a:r>
              <a:rPr lang="en-US" sz="11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j.err</a:t>
            </a: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-%N</a:t>
            </a:r>
          </a:p>
          <a:p>
            <a:pPr marL="0" indent="0">
              <a:buFontTx/>
              <a:buNone/>
            </a:pPr>
            <a:endParaRPr lang="en-US" sz="1100" kern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D428AE9-ABB0-553B-1401-BBB213329DB3}"/>
              </a:ext>
            </a:extLst>
          </p:cNvPr>
          <p:cNvSpPr/>
          <p:nvPr/>
        </p:nvSpPr>
        <p:spPr bwMode="auto">
          <a:xfrm>
            <a:off x="71724" y="2532290"/>
            <a:ext cx="4038600" cy="439510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FA6F33-6096-C79B-6D0F-3BE484BECACE}"/>
              </a:ext>
            </a:extLst>
          </p:cNvPr>
          <p:cNvSpPr/>
          <p:nvPr/>
        </p:nvSpPr>
        <p:spPr bwMode="auto">
          <a:xfrm>
            <a:off x="4580965" y="2532290"/>
            <a:ext cx="4038600" cy="439510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957E1D-6EB6-3327-EC71-31FF9C4BCD54}"/>
              </a:ext>
            </a:extLst>
          </p:cNvPr>
          <p:cNvSpPr txBox="1"/>
          <p:nvPr/>
        </p:nvSpPr>
        <p:spPr>
          <a:xfrm>
            <a:off x="1234805" y="3886200"/>
            <a:ext cx="65771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US" u="sng" dirty="0">
                <a:solidFill>
                  <a:srgbClr val="FF0000"/>
                </a:solidFill>
              </a:rPr>
              <a:t>#SBATCH -o</a:t>
            </a:r>
            <a:r>
              <a:rPr lang="en-US" dirty="0">
                <a:solidFill>
                  <a:srgbClr val="FF0000"/>
                </a:solidFill>
              </a:rPr>
              <a:t> outputs standard output in the form </a:t>
            </a:r>
            <a:r>
              <a:rPr lang="en-US" dirty="0" err="1">
                <a:solidFill>
                  <a:srgbClr val="FF0000"/>
                </a:solidFill>
              </a:rPr>
              <a:t>slurmjob</a:t>
            </a:r>
            <a:r>
              <a:rPr lang="en-US" dirty="0">
                <a:solidFill>
                  <a:srgbClr val="FF0000"/>
                </a:solidFill>
              </a:rPr>
              <a:t>-&lt;JOBID&gt;.out-&lt;NODEID&gt;</a:t>
            </a:r>
            <a:endParaRPr lang="en-US" i="1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BE2A6D-C6F0-8F90-FA0D-B3201BB25E2F}"/>
              </a:ext>
            </a:extLst>
          </p:cNvPr>
          <p:cNvSpPr txBox="1"/>
          <p:nvPr/>
        </p:nvSpPr>
        <p:spPr>
          <a:xfrm>
            <a:off x="1438191" y="4993821"/>
            <a:ext cx="61703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US" u="sng" dirty="0">
                <a:solidFill>
                  <a:srgbClr val="FF0000"/>
                </a:solidFill>
              </a:rPr>
              <a:t>#SBATCH -e</a:t>
            </a:r>
            <a:r>
              <a:rPr lang="en-US" dirty="0">
                <a:solidFill>
                  <a:srgbClr val="FF0000"/>
                </a:solidFill>
              </a:rPr>
              <a:t> outputs error messages in the form </a:t>
            </a:r>
            <a:r>
              <a:rPr lang="en-US" dirty="0" err="1">
                <a:solidFill>
                  <a:srgbClr val="FF0000"/>
                </a:solidFill>
              </a:rPr>
              <a:t>slurmjob</a:t>
            </a:r>
            <a:r>
              <a:rPr lang="en-US" dirty="0">
                <a:solidFill>
                  <a:srgbClr val="FF0000"/>
                </a:solidFill>
              </a:rPr>
              <a:t>-&lt;JOBID&gt;.err-&lt;NODEID&gt;</a:t>
            </a:r>
            <a:endParaRPr lang="en-US" i="1" dirty="0">
              <a:solidFill>
                <a:srgbClr val="FF0000"/>
              </a:solidFill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41949338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257 " pathEditMode="relative" ptsTypes="AA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257 " pathEditMode="relative" ptsTypes="AA">
                                      <p:cBhvr>
                                        <p:cTn id="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37333" y="1066800"/>
            <a:ext cx="8972107" cy="2286000"/>
          </a:xfrm>
        </p:spPr>
        <p:txBody>
          <a:bodyPr/>
          <a:lstStyle/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#!/bin/bash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--account=owner-guest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--partition=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kingspeak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-shared-guest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qos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kingspeak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-guest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--time=02:00:00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--nodes=1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</a:t>
            </a:r>
            <a:r>
              <a:rPr lang="en-US" sz="11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cpus</a:t>
            </a: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-per-task=8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--mem=32G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-o 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slurmjob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j.out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-%N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-e 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slurmjob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j.err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-%N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--constraints &lt;CONSTRAINTS&gt;</a:t>
            </a:r>
          </a:p>
          <a:p>
            <a:pPr marL="0" indent="0">
              <a:buNone/>
            </a:pPr>
            <a:endParaRPr lang="en-US" sz="11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605E7F2-F066-6712-2BF3-AB8CFD1CB8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4071" y="1062318"/>
            <a:ext cx="8972107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#!/bin/</a:t>
            </a:r>
            <a:r>
              <a:rPr lang="en-US" sz="11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tcsh</a:t>
            </a:r>
            <a:endParaRPr lang="en-US" sz="1100" kern="0" dirty="0">
              <a:solidFill>
                <a:srgbClr val="0070C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--account=owner-guest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--partition=</a:t>
            </a:r>
            <a:r>
              <a:rPr lang="en-US" sz="11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kingspeak</a:t>
            </a: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-shared-guest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qos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kingspeak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-guest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--time=02:00:00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--nodes=1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</a:t>
            </a:r>
            <a:r>
              <a:rPr lang="en-US" sz="11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cpus</a:t>
            </a: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-per-task=8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--mem=32G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-o </a:t>
            </a:r>
            <a:r>
              <a:rPr lang="en-US" sz="11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slurmjob</a:t>
            </a: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</a:t>
            </a:r>
            <a:r>
              <a:rPr lang="en-US" sz="11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j.out</a:t>
            </a: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-%N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-e </a:t>
            </a:r>
            <a:r>
              <a:rPr lang="en-US" sz="11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slurmjob</a:t>
            </a: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</a:t>
            </a:r>
            <a:r>
              <a:rPr lang="en-US" sz="11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j.err</a:t>
            </a: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-%N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--constraints &lt;CONSTRAINTS&gt;</a:t>
            </a:r>
          </a:p>
          <a:p>
            <a:pPr marL="0" indent="0">
              <a:buFontTx/>
              <a:buNone/>
            </a:pPr>
            <a:endParaRPr lang="en-US" sz="1100" kern="0" dirty="0">
              <a:solidFill>
                <a:srgbClr val="0070C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FontTx/>
              <a:buNone/>
            </a:pPr>
            <a:endParaRPr lang="en-US" sz="1100" kern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D428AE9-ABB0-553B-1401-BBB213329DB3}"/>
              </a:ext>
            </a:extLst>
          </p:cNvPr>
          <p:cNvSpPr/>
          <p:nvPr/>
        </p:nvSpPr>
        <p:spPr bwMode="auto">
          <a:xfrm>
            <a:off x="67242" y="3098940"/>
            <a:ext cx="4038600" cy="277292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FA6F33-6096-C79B-6D0F-3BE484BECACE}"/>
              </a:ext>
            </a:extLst>
          </p:cNvPr>
          <p:cNvSpPr/>
          <p:nvPr/>
        </p:nvSpPr>
        <p:spPr bwMode="auto">
          <a:xfrm>
            <a:off x="4583980" y="3095984"/>
            <a:ext cx="4038600" cy="283203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957E1D-6EB6-3327-EC71-31FF9C4BCD54}"/>
              </a:ext>
            </a:extLst>
          </p:cNvPr>
          <p:cNvSpPr txBox="1"/>
          <p:nvPr/>
        </p:nvSpPr>
        <p:spPr>
          <a:xfrm>
            <a:off x="1234805" y="3886200"/>
            <a:ext cx="65771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Can also include constraints to target specific nodes</a:t>
            </a:r>
          </a:p>
          <a:p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BE2A6D-C6F0-8F90-FA0D-B3201BB25E2F}"/>
              </a:ext>
            </a:extLst>
          </p:cNvPr>
          <p:cNvSpPr txBox="1"/>
          <p:nvPr/>
        </p:nvSpPr>
        <p:spPr>
          <a:xfrm>
            <a:off x="1438191" y="4993821"/>
            <a:ext cx="61703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This can be memory avail, </a:t>
            </a:r>
            <a:r>
              <a:rPr lang="en-US" dirty="0" err="1">
                <a:solidFill>
                  <a:srgbClr val="FF0000"/>
                </a:solidFill>
                <a:sym typeface="Wingdings" panose="05000000000000000000" pitchFamily="2" charset="2"/>
              </a:rPr>
              <a:t>cpu</a:t>
            </a:r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 count, specific owner nodes, </a:t>
            </a:r>
            <a:r>
              <a:rPr lang="en-US" dirty="0" err="1">
                <a:solidFill>
                  <a:srgbClr val="FF0000"/>
                </a:solidFill>
                <a:sym typeface="Wingdings" panose="05000000000000000000" pitchFamily="2" charset="2"/>
              </a:rPr>
              <a:t>etc</a:t>
            </a:r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endParaRPr lang="en-US" i="1" dirty="0">
              <a:solidFill>
                <a:srgbClr val="FF0000"/>
              </a:solidFill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65933189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37333" y="1066800"/>
            <a:ext cx="8972107" cy="2286000"/>
          </a:xfrm>
        </p:spPr>
        <p:txBody>
          <a:bodyPr/>
          <a:lstStyle/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#!/bin/bash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--account=owner-guest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--partition=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kingspeak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-shared-guest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qos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kingspeak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-guest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--time=02:00:00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--nodes=1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</a:t>
            </a:r>
            <a:r>
              <a:rPr lang="en-US" sz="11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cpus</a:t>
            </a: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-per-task=8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--mem=32G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-o 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slurmjob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j.out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-%N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-e 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slurmjob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j.err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-%N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--constraints “c40”</a:t>
            </a:r>
          </a:p>
          <a:p>
            <a:pPr marL="0" indent="0">
              <a:buNone/>
            </a:pPr>
            <a:endParaRPr lang="en-US" sz="11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605E7F2-F066-6712-2BF3-AB8CFD1CB8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4071" y="1062318"/>
            <a:ext cx="8972107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#!/bin/</a:t>
            </a:r>
            <a:r>
              <a:rPr lang="en-US" sz="11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tcsh</a:t>
            </a:r>
            <a:endParaRPr lang="en-US" sz="1100" kern="0" dirty="0">
              <a:solidFill>
                <a:srgbClr val="0070C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--account=owner-guest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--partition=</a:t>
            </a:r>
            <a:r>
              <a:rPr lang="en-US" sz="11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kingspeak</a:t>
            </a: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-shared-guest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qos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kingspeak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-guest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--time=02:00:00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--nodes=1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</a:t>
            </a:r>
            <a:r>
              <a:rPr lang="en-US" sz="11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cpus</a:t>
            </a: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-per-task=8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--mem=32G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-o </a:t>
            </a:r>
            <a:r>
              <a:rPr lang="en-US" sz="11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slurmjob</a:t>
            </a: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</a:t>
            </a:r>
            <a:r>
              <a:rPr lang="en-US" sz="11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j.out</a:t>
            </a: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-%N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-e </a:t>
            </a:r>
            <a:r>
              <a:rPr lang="en-US" sz="11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slurmjob</a:t>
            </a: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</a:t>
            </a:r>
            <a:r>
              <a:rPr lang="en-US" sz="11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j.err</a:t>
            </a: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-%N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--constraints “m768”</a:t>
            </a:r>
          </a:p>
          <a:p>
            <a:pPr marL="0" indent="0">
              <a:buFontTx/>
              <a:buNone/>
            </a:pPr>
            <a:endParaRPr lang="en-US" sz="1100" kern="0" dirty="0">
              <a:solidFill>
                <a:srgbClr val="0070C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FontTx/>
              <a:buNone/>
            </a:pPr>
            <a:endParaRPr lang="en-US" sz="1100" kern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D428AE9-ABB0-553B-1401-BBB213329DB3}"/>
              </a:ext>
            </a:extLst>
          </p:cNvPr>
          <p:cNvSpPr/>
          <p:nvPr/>
        </p:nvSpPr>
        <p:spPr bwMode="auto">
          <a:xfrm>
            <a:off x="67242" y="3098940"/>
            <a:ext cx="4038600" cy="277292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FA6F33-6096-C79B-6D0F-3BE484BECACE}"/>
              </a:ext>
            </a:extLst>
          </p:cNvPr>
          <p:cNvSpPr/>
          <p:nvPr/>
        </p:nvSpPr>
        <p:spPr bwMode="auto">
          <a:xfrm>
            <a:off x="4585447" y="3088647"/>
            <a:ext cx="4038600" cy="283203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957E1D-6EB6-3327-EC71-31FF9C4BCD54}"/>
              </a:ext>
            </a:extLst>
          </p:cNvPr>
          <p:cNvSpPr txBox="1"/>
          <p:nvPr/>
        </p:nvSpPr>
        <p:spPr>
          <a:xfrm>
            <a:off x="1234805" y="3886200"/>
            <a:ext cx="65771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Can also include constraints to target specific nodes</a:t>
            </a:r>
          </a:p>
          <a:p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BE2A6D-C6F0-8F90-FA0D-B3201BB25E2F}"/>
              </a:ext>
            </a:extLst>
          </p:cNvPr>
          <p:cNvSpPr txBox="1"/>
          <p:nvPr/>
        </p:nvSpPr>
        <p:spPr>
          <a:xfrm>
            <a:off x="1438191" y="4993821"/>
            <a:ext cx="61703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This can be memory avail, </a:t>
            </a:r>
            <a:r>
              <a:rPr lang="en-US" dirty="0" err="1">
                <a:solidFill>
                  <a:srgbClr val="FF0000"/>
                </a:solidFill>
                <a:sym typeface="Wingdings" panose="05000000000000000000" pitchFamily="2" charset="2"/>
              </a:rPr>
              <a:t>cpu</a:t>
            </a:r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 count, specific owner nodes, </a:t>
            </a:r>
            <a:r>
              <a:rPr lang="en-US" dirty="0" err="1">
                <a:solidFill>
                  <a:srgbClr val="FF0000"/>
                </a:solidFill>
                <a:sym typeface="Wingdings" panose="05000000000000000000" pitchFamily="2" charset="2"/>
              </a:rPr>
              <a:t>etc</a:t>
            </a:r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endParaRPr lang="en-US" i="1" dirty="0">
              <a:solidFill>
                <a:srgbClr val="FF0000"/>
              </a:solidFill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599065064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37333" y="1066800"/>
            <a:ext cx="8972107" cy="2286000"/>
          </a:xfrm>
        </p:spPr>
        <p:txBody>
          <a:bodyPr/>
          <a:lstStyle/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#!/bin/bash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--account=owner-guest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--partition=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kingspeak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-shared-guest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qos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kingspeak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-guest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--time=02:00:00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--nodes=1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</a:t>
            </a:r>
            <a:r>
              <a:rPr lang="en-US" sz="11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cpus</a:t>
            </a: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-per-task=8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--mem=32G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-o 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slurmjob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j.out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-%N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-e 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slurmjob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j.err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-%N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--constraints “c40&amp;m768”</a:t>
            </a:r>
          </a:p>
          <a:p>
            <a:pPr marL="0" indent="0">
              <a:buNone/>
            </a:pPr>
            <a:endParaRPr lang="en-US" sz="11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605E7F2-F066-6712-2BF3-AB8CFD1CB8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4071" y="1062318"/>
            <a:ext cx="8972107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#!/bin/</a:t>
            </a:r>
            <a:r>
              <a:rPr lang="en-US" sz="11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tcsh</a:t>
            </a:r>
            <a:endParaRPr lang="en-US" sz="1100" kern="0" dirty="0">
              <a:solidFill>
                <a:srgbClr val="0070C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--account=owner-guest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--partition=</a:t>
            </a:r>
            <a:r>
              <a:rPr lang="en-US" sz="11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kingspeak</a:t>
            </a: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-shared-guest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qos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kingspeak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-guest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--time=02:00:00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--nodes=1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</a:t>
            </a:r>
            <a:r>
              <a:rPr lang="en-US" sz="11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cpus</a:t>
            </a: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-per-task=8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--mem=32G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-o </a:t>
            </a:r>
            <a:r>
              <a:rPr lang="en-US" sz="11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slurmjob</a:t>
            </a: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</a:t>
            </a:r>
            <a:r>
              <a:rPr lang="en-US" sz="11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j.out</a:t>
            </a: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-%N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-e </a:t>
            </a:r>
            <a:r>
              <a:rPr lang="en-US" sz="11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slurmjob</a:t>
            </a: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</a:t>
            </a:r>
            <a:r>
              <a:rPr lang="en-US" sz="11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j.err</a:t>
            </a: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-%N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--constraints “c40|c36”</a:t>
            </a:r>
          </a:p>
          <a:p>
            <a:pPr marL="0" indent="0">
              <a:buFontTx/>
              <a:buNone/>
            </a:pPr>
            <a:endParaRPr lang="en-US" sz="1100" kern="0" dirty="0">
              <a:solidFill>
                <a:srgbClr val="0070C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FontTx/>
              <a:buNone/>
            </a:pPr>
            <a:endParaRPr lang="en-US" sz="1100" kern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D428AE9-ABB0-553B-1401-BBB213329DB3}"/>
              </a:ext>
            </a:extLst>
          </p:cNvPr>
          <p:cNvSpPr/>
          <p:nvPr/>
        </p:nvSpPr>
        <p:spPr bwMode="auto">
          <a:xfrm>
            <a:off x="67242" y="3103524"/>
            <a:ext cx="4038600" cy="277292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FA6F33-6096-C79B-6D0F-3BE484BECACE}"/>
              </a:ext>
            </a:extLst>
          </p:cNvPr>
          <p:cNvSpPr/>
          <p:nvPr/>
        </p:nvSpPr>
        <p:spPr bwMode="auto">
          <a:xfrm>
            <a:off x="4583980" y="3107193"/>
            <a:ext cx="4038600" cy="283203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957E1D-6EB6-3327-EC71-31FF9C4BCD54}"/>
              </a:ext>
            </a:extLst>
          </p:cNvPr>
          <p:cNvSpPr txBox="1"/>
          <p:nvPr/>
        </p:nvSpPr>
        <p:spPr>
          <a:xfrm>
            <a:off x="1234805" y="3886200"/>
            <a:ext cx="65771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Can also include constraints to target specific nodes</a:t>
            </a:r>
          </a:p>
          <a:p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BE2A6D-C6F0-8F90-FA0D-B3201BB25E2F}"/>
              </a:ext>
            </a:extLst>
          </p:cNvPr>
          <p:cNvSpPr txBox="1"/>
          <p:nvPr/>
        </p:nvSpPr>
        <p:spPr>
          <a:xfrm>
            <a:off x="1438191" y="4993821"/>
            <a:ext cx="61703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This can be memory avail, </a:t>
            </a:r>
            <a:r>
              <a:rPr lang="en-US" dirty="0" err="1">
                <a:solidFill>
                  <a:srgbClr val="FF0000"/>
                </a:solidFill>
                <a:sym typeface="Wingdings" panose="05000000000000000000" pitchFamily="2" charset="2"/>
              </a:rPr>
              <a:t>cpu</a:t>
            </a:r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 count, specific owner nodes, </a:t>
            </a:r>
            <a:r>
              <a:rPr lang="en-US" dirty="0" err="1">
                <a:solidFill>
                  <a:srgbClr val="FF0000"/>
                </a:solidFill>
                <a:sym typeface="Wingdings" panose="05000000000000000000" pitchFamily="2" charset="2"/>
              </a:rPr>
              <a:t>etc</a:t>
            </a:r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endParaRPr lang="en-US" i="1" dirty="0">
              <a:solidFill>
                <a:srgbClr val="FF0000"/>
              </a:solidFill>
              <a:sym typeface="Wingdings" panose="05000000000000000000" pitchFamily="2" charset="2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CE6028E-B449-D813-D61B-0DE639E053F8}"/>
              </a:ext>
            </a:extLst>
          </p:cNvPr>
          <p:cNvCxnSpPr/>
          <p:nvPr/>
        </p:nvCxnSpPr>
        <p:spPr bwMode="auto">
          <a:xfrm>
            <a:off x="2514600" y="3429000"/>
            <a:ext cx="0" cy="22860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accent5">
                <a:lumMod val="1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9E56227-4274-EB1A-4374-C87F23B9B008}"/>
              </a:ext>
            </a:extLst>
          </p:cNvPr>
          <p:cNvCxnSpPr/>
          <p:nvPr/>
        </p:nvCxnSpPr>
        <p:spPr bwMode="auto">
          <a:xfrm>
            <a:off x="7010400" y="3429000"/>
            <a:ext cx="0" cy="22860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accent5">
                <a:lumMod val="1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1824A9C-F9E7-D4DA-788D-CE3895568755}"/>
              </a:ext>
            </a:extLst>
          </p:cNvPr>
          <p:cNvSpPr txBox="1"/>
          <p:nvPr/>
        </p:nvSpPr>
        <p:spPr>
          <a:xfrm>
            <a:off x="1071331" y="3564521"/>
            <a:ext cx="29193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5">
                    <a:lumMod val="10000"/>
                  </a:schemeClr>
                </a:solidFill>
              </a:rPr>
              <a:t>Include c40 </a:t>
            </a:r>
            <a:r>
              <a:rPr lang="en-US" sz="1600" b="1" dirty="0">
                <a:solidFill>
                  <a:schemeClr val="accent5">
                    <a:lumMod val="10000"/>
                  </a:schemeClr>
                </a:solidFill>
              </a:rPr>
              <a:t>AND</a:t>
            </a:r>
            <a:r>
              <a:rPr lang="en-US" sz="1600" dirty="0">
                <a:solidFill>
                  <a:schemeClr val="accent5">
                    <a:lumMod val="10000"/>
                  </a:schemeClr>
                </a:solidFill>
              </a:rPr>
              <a:t> m768 nodes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9E19922-CF52-B5E8-91E3-44BCAACBB392}"/>
              </a:ext>
            </a:extLst>
          </p:cNvPr>
          <p:cNvSpPr txBox="1"/>
          <p:nvPr/>
        </p:nvSpPr>
        <p:spPr>
          <a:xfrm>
            <a:off x="5498738" y="3568910"/>
            <a:ext cx="26019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5">
                    <a:lumMod val="10000"/>
                  </a:schemeClr>
                </a:solidFill>
              </a:rPr>
              <a:t>Include c40 </a:t>
            </a:r>
            <a:r>
              <a:rPr lang="en-US" sz="1600" b="1" dirty="0">
                <a:solidFill>
                  <a:schemeClr val="accent5">
                    <a:lumMod val="10000"/>
                  </a:schemeClr>
                </a:solidFill>
              </a:rPr>
              <a:t>OR</a:t>
            </a:r>
            <a:r>
              <a:rPr lang="en-US" sz="1600" dirty="0">
                <a:solidFill>
                  <a:schemeClr val="accent5">
                    <a:lumMod val="10000"/>
                  </a:schemeClr>
                </a:solidFill>
              </a:rPr>
              <a:t> c36 nodes</a:t>
            </a:r>
          </a:p>
        </p:txBody>
      </p:sp>
    </p:spTree>
    <p:extLst>
      <p:ext uri="{BB962C8B-B14F-4D97-AF65-F5344CB8AC3E}">
        <p14:creationId xmlns:p14="http://schemas.microsoft.com/office/powerpoint/2010/main" val="76420930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37333" y="1066800"/>
            <a:ext cx="8972107" cy="5791200"/>
          </a:xfrm>
        </p:spPr>
        <p:txBody>
          <a:bodyPr/>
          <a:lstStyle/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#!/bin/bash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--account=owner-guest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--partition=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kingspeak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-shared-guest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qos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kingspeak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-guest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--time=02:00:00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--nodes=1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</a:t>
            </a:r>
            <a:r>
              <a:rPr lang="en-US" sz="11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cpus</a:t>
            </a: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-per-task=8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--mem=32G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-o 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slurmjob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j.out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-%N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-e 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slurmjob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j.err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-%N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#set up the temporary directory</a:t>
            </a:r>
          </a:p>
          <a:p>
            <a:pPr marL="0" indent="0">
              <a:buNone/>
            </a:pP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SCRDIR=/scratch/general/vast/$USER/$SLURM_JOB_ID</a:t>
            </a:r>
          </a:p>
          <a:p>
            <a:pPr marL="0" indent="0">
              <a:buNone/>
            </a:pPr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mkdir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 -p $SCRDIR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#copy over input files</a:t>
            </a:r>
          </a:p>
          <a:p>
            <a:pPr marL="0" indent="0">
              <a:buNone/>
            </a:pP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cp </a:t>
            </a:r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file.input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 $SCRDIR/.</a:t>
            </a:r>
          </a:p>
          <a:p>
            <a:pPr marL="0" indent="0">
              <a:buNone/>
            </a:pP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cd $SCRDIR</a:t>
            </a:r>
            <a:endParaRPr lang="en-US" sz="1100" dirty="0">
              <a:solidFill>
                <a:srgbClr val="0070C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605E7F2-F066-6712-2BF3-AB8CFD1CB8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4071" y="1062318"/>
            <a:ext cx="8972107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#!/bin/</a:t>
            </a:r>
            <a:r>
              <a:rPr lang="en-US" sz="11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tcsh</a:t>
            </a:r>
            <a:endParaRPr lang="en-US" sz="1100" kern="0" dirty="0">
              <a:solidFill>
                <a:srgbClr val="0070C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--account=owner-guest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--partition=</a:t>
            </a:r>
            <a:r>
              <a:rPr lang="en-US" sz="11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kingspeak</a:t>
            </a: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-shared-guest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qos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kingspeak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-guest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--time=02:00:00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--nodes=1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</a:t>
            </a:r>
            <a:r>
              <a:rPr lang="en-US" sz="11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cpus</a:t>
            </a: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-per-task=8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--mem=32G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-o </a:t>
            </a:r>
            <a:r>
              <a:rPr lang="en-US" sz="11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slurmjob</a:t>
            </a: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</a:t>
            </a:r>
            <a:r>
              <a:rPr lang="en-US" sz="11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j.out</a:t>
            </a: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-%N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-e </a:t>
            </a:r>
            <a:r>
              <a:rPr lang="en-US" sz="11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slurmjob</a:t>
            </a: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</a:t>
            </a:r>
            <a:r>
              <a:rPr lang="en-US" sz="11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j.err</a:t>
            </a: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-%N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#set up the scratch directory</a:t>
            </a:r>
          </a:p>
          <a:p>
            <a:pPr marL="0" indent="0">
              <a:buFontTx/>
              <a:buNone/>
            </a:pPr>
            <a:r>
              <a:rPr lang="en-US" sz="1100" kern="0" dirty="0">
                <a:latin typeface="Consolas" panose="020B0609020204030204" pitchFamily="49" charset="0"/>
                <a:cs typeface="Consolas" panose="020B0609020204030204" pitchFamily="49" charset="0"/>
              </a:rPr>
              <a:t>set SCRDIR /scratch/local/$USER/$SLURM_JOB_ID</a:t>
            </a:r>
          </a:p>
          <a:p>
            <a:pPr marL="0" indent="0">
              <a:buFontTx/>
              <a:buNone/>
            </a:pPr>
            <a:r>
              <a:rPr lang="en-US" sz="110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mkdir</a:t>
            </a:r>
            <a:r>
              <a:rPr lang="en-US" sz="1100" kern="0" dirty="0">
                <a:latin typeface="Consolas" panose="020B0609020204030204" pitchFamily="49" charset="0"/>
                <a:cs typeface="Consolas" panose="020B0609020204030204" pitchFamily="49" charset="0"/>
              </a:rPr>
              <a:t> -p $SCRDIR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#move input files into scratch directory</a:t>
            </a:r>
          </a:p>
          <a:p>
            <a:pPr marL="0" indent="0">
              <a:buFontTx/>
              <a:buNone/>
            </a:pPr>
            <a:r>
              <a:rPr lang="en-US" sz="1100" kern="0" dirty="0">
                <a:latin typeface="Consolas" panose="020B0609020204030204" pitchFamily="49" charset="0"/>
                <a:cs typeface="Consolas" panose="020B0609020204030204" pitchFamily="49" charset="0"/>
              </a:rPr>
              <a:t>cp </a:t>
            </a:r>
            <a:r>
              <a:rPr lang="en-US" sz="110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file.input</a:t>
            </a:r>
            <a:r>
              <a:rPr lang="en-US" sz="1100" kern="0" dirty="0">
                <a:latin typeface="Consolas" panose="020B0609020204030204" pitchFamily="49" charset="0"/>
                <a:cs typeface="Consolas" panose="020B0609020204030204" pitchFamily="49" charset="0"/>
              </a:rPr>
              <a:t> $SCRDIR/.</a:t>
            </a:r>
          </a:p>
          <a:p>
            <a:pPr marL="0" indent="0">
              <a:buFontTx/>
              <a:buNone/>
            </a:pPr>
            <a:r>
              <a:rPr lang="en-US" sz="1100" kern="0" dirty="0">
                <a:latin typeface="Consolas" panose="020B0609020204030204" pitchFamily="49" charset="0"/>
                <a:cs typeface="Consolas" panose="020B0609020204030204" pitchFamily="49" charset="0"/>
              </a:rPr>
              <a:t>cd $SCRDIR</a:t>
            </a:r>
            <a:endParaRPr lang="en-US" sz="1100" kern="0" dirty="0">
              <a:solidFill>
                <a:srgbClr val="0070C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AA972FA-D2A0-2630-F2CB-A67F11B4F98C}"/>
              </a:ext>
            </a:extLst>
          </p:cNvPr>
          <p:cNvSpPr/>
          <p:nvPr/>
        </p:nvSpPr>
        <p:spPr bwMode="auto">
          <a:xfrm>
            <a:off x="57504" y="3124200"/>
            <a:ext cx="4496567" cy="1524000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399402-5621-2371-8B7C-9851FAD6A99E}"/>
              </a:ext>
            </a:extLst>
          </p:cNvPr>
          <p:cNvSpPr/>
          <p:nvPr/>
        </p:nvSpPr>
        <p:spPr bwMode="auto">
          <a:xfrm>
            <a:off x="4567518" y="3133165"/>
            <a:ext cx="4267200" cy="1524000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3FDF60-3253-698D-B652-ADEB139EA966}"/>
              </a:ext>
            </a:extLst>
          </p:cNvPr>
          <p:cNvSpPr txBox="1"/>
          <p:nvPr/>
        </p:nvSpPr>
        <p:spPr>
          <a:xfrm>
            <a:off x="1589686" y="5071381"/>
            <a:ext cx="5867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Now, we will discuss the best way to stage your files for analysis</a:t>
            </a:r>
          </a:p>
        </p:txBody>
      </p:sp>
    </p:spTree>
    <p:extLst>
      <p:ext uri="{BB962C8B-B14F-4D97-AF65-F5344CB8AC3E}">
        <p14:creationId xmlns:p14="http://schemas.microsoft.com/office/powerpoint/2010/main" val="353708222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EF2E3-7154-1D26-A182-26468454E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C08DED39-9AC1-7F43-0355-06B9086F8C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143000"/>
            <a:ext cx="8153400" cy="762000"/>
          </a:xfrm>
        </p:spPr>
        <p:txBody>
          <a:bodyPr/>
          <a:lstStyle/>
          <a:p>
            <a:pPr algn="ctr" eaLnBrk="1" hangingPunct="1"/>
            <a:r>
              <a:rPr lang="en-US" sz="4000" b="1" dirty="0">
                <a:solidFill>
                  <a:srgbClr val="990000"/>
                </a:solidFill>
                <a:latin typeface="+mn-lt"/>
              </a:rPr>
              <a:t>SLURM Environment Variables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DB621CFF-2137-BD0A-0680-80E6BC6637E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5692" y="1905000"/>
            <a:ext cx="9048308" cy="4419600"/>
          </a:xfrm>
        </p:spPr>
        <p:txBody>
          <a:bodyPr/>
          <a:lstStyle/>
          <a:p>
            <a:r>
              <a:rPr lang="en-US" sz="2400" dirty="0"/>
              <a:t>Some useful environment variables:</a:t>
            </a:r>
          </a:p>
          <a:p>
            <a:pPr lvl="1"/>
            <a:r>
              <a:rPr lang="en-US" sz="2400" dirty="0"/>
              <a:t>$SLURM_JOB_ID</a:t>
            </a:r>
          </a:p>
          <a:p>
            <a:pPr lvl="1"/>
            <a:r>
              <a:rPr lang="en-US" sz="2400" dirty="0"/>
              <a:t>$SLURM_SUBMIT_DIR</a:t>
            </a:r>
          </a:p>
          <a:p>
            <a:pPr lvl="1"/>
            <a:r>
              <a:rPr lang="en-US" sz="2400" dirty="0"/>
              <a:t>$SLURM_NNODES</a:t>
            </a:r>
          </a:p>
          <a:p>
            <a:pPr lvl="1"/>
            <a:r>
              <a:rPr lang="en-US" sz="2400" dirty="0"/>
              <a:t>$SLURM_NTASKS</a:t>
            </a:r>
          </a:p>
          <a:p>
            <a:r>
              <a:rPr lang="en-US" sz="2400" dirty="0"/>
              <a:t>Can get them for a given set of directives by using the 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env</a:t>
            </a:r>
            <a:r>
              <a:rPr lang="en-US" sz="2400" dirty="0"/>
              <a:t> command inside a script (or in a </a:t>
            </a:r>
            <a:r>
              <a:rPr lang="en-US" sz="2400" dirty="0" err="1"/>
              <a:t>srun</a:t>
            </a:r>
            <a:r>
              <a:rPr lang="en-US" sz="2400" dirty="0"/>
              <a:t> session).</a:t>
            </a:r>
          </a:p>
          <a:p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457200" lvl="1" indent="0">
              <a:buNone/>
            </a:pPr>
            <a:r>
              <a:rPr lang="en-US" sz="1800" dirty="0"/>
              <a:t>See: </a:t>
            </a:r>
            <a:r>
              <a:rPr lang="en-US" sz="1800" dirty="0">
                <a:hlinkClick r:id="rId3"/>
              </a:rPr>
              <a:t>https://slurm.schedmd.com/sbatch.html#SECTION_OUTPUT-ENVIRONMENT-VARIABLES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041237758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37333" y="1066800"/>
            <a:ext cx="8972107" cy="5791200"/>
          </a:xfrm>
        </p:spPr>
        <p:txBody>
          <a:bodyPr/>
          <a:lstStyle/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#!/bin/bash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--account=owner-guest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--partition=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kingspeak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-shared-guest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qos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kingspeak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-guest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--time=02:00:00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--nodes=1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</a:t>
            </a:r>
            <a:r>
              <a:rPr lang="en-US" sz="11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cpus</a:t>
            </a: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-per-task=8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--mem=32G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-o 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slurmjob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j.out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-%N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-e 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slurmjob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j.err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-%N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#set up the temporary directory</a:t>
            </a:r>
          </a:p>
          <a:p>
            <a:pPr marL="0" indent="0">
              <a:buNone/>
            </a:pP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SCRDIR=/scratch/general/vast/$USER/$SLURM_JOB_ID</a:t>
            </a:r>
          </a:p>
          <a:p>
            <a:pPr marL="0" indent="0">
              <a:buNone/>
            </a:pPr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mkdir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 -p $SCRDIR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#copy over input files</a:t>
            </a:r>
          </a:p>
          <a:p>
            <a:pPr marL="0" indent="0">
              <a:buNone/>
            </a:pP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cp </a:t>
            </a:r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file.input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 $SCRDIR/.</a:t>
            </a:r>
          </a:p>
          <a:p>
            <a:pPr marL="0" indent="0">
              <a:buNone/>
            </a:pP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cd $SCRDIR</a:t>
            </a:r>
            <a:endParaRPr lang="en-US" sz="1100" dirty="0">
              <a:solidFill>
                <a:srgbClr val="0070C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605E7F2-F066-6712-2BF3-AB8CFD1CB8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4071" y="1062318"/>
            <a:ext cx="8972107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#!/bin/</a:t>
            </a:r>
            <a:r>
              <a:rPr lang="en-US" sz="11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tcsh</a:t>
            </a:r>
            <a:endParaRPr lang="en-US" sz="1100" kern="0" dirty="0">
              <a:solidFill>
                <a:srgbClr val="0070C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--account=owner-guest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--partition=</a:t>
            </a:r>
            <a:r>
              <a:rPr lang="en-US" sz="11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kingspeak</a:t>
            </a: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-shared-guest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qos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kingspeak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-guest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--time=02:00:00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--nodes=1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</a:t>
            </a:r>
            <a:r>
              <a:rPr lang="en-US" sz="11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cpus</a:t>
            </a: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-per-task=8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--mem=32G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-o </a:t>
            </a:r>
            <a:r>
              <a:rPr lang="en-US" sz="11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slurmjob</a:t>
            </a: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</a:t>
            </a:r>
            <a:r>
              <a:rPr lang="en-US" sz="11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j.out</a:t>
            </a: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-%N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-e </a:t>
            </a:r>
            <a:r>
              <a:rPr lang="en-US" sz="11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slurmjob</a:t>
            </a: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</a:t>
            </a:r>
            <a:r>
              <a:rPr lang="en-US" sz="11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j.err</a:t>
            </a: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-%N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#set up the scratch directory</a:t>
            </a:r>
          </a:p>
          <a:p>
            <a:pPr marL="0" indent="0">
              <a:buFontTx/>
              <a:buNone/>
            </a:pPr>
            <a:r>
              <a:rPr lang="en-US" sz="1100" kern="0" dirty="0">
                <a:latin typeface="Consolas" panose="020B0609020204030204" pitchFamily="49" charset="0"/>
                <a:cs typeface="Consolas" panose="020B0609020204030204" pitchFamily="49" charset="0"/>
              </a:rPr>
              <a:t>set SCRDIR /scratch/local/$USER/$SLURM_JOB_ID</a:t>
            </a:r>
          </a:p>
          <a:p>
            <a:pPr marL="0" indent="0">
              <a:buFontTx/>
              <a:buNone/>
            </a:pPr>
            <a:r>
              <a:rPr lang="en-US" sz="110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mkdir</a:t>
            </a:r>
            <a:r>
              <a:rPr lang="en-US" sz="1100" kern="0" dirty="0">
                <a:latin typeface="Consolas" panose="020B0609020204030204" pitchFamily="49" charset="0"/>
                <a:cs typeface="Consolas" panose="020B0609020204030204" pitchFamily="49" charset="0"/>
              </a:rPr>
              <a:t> -p $SCRDIR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#move input files into scratch directory</a:t>
            </a:r>
          </a:p>
          <a:p>
            <a:pPr marL="0" indent="0">
              <a:buFontTx/>
              <a:buNone/>
            </a:pPr>
            <a:r>
              <a:rPr lang="en-US" sz="1100" kern="0" dirty="0">
                <a:latin typeface="Consolas" panose="020B0609020204030204" pitchFamily="49" charset="0"/>
                <a:cs typeface="Consolas" panose="020B0609020204030204" pitchFamily="49" charset="0"/>
              </a:rPr>
              <a:t>cp </a:t>
            </a:r>
            <a:r>
              <a:rPr lang="en-US" sz="110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file.input</a:t>
            </a:r>
            <a:r>
              <a:rPr lang="en-US" sz="1100" kern="0" dirty="0">
                <a:latin typeface="Consolas" panose="020B0609020204030204" pitchFamily="49" charset="0"/>
                <a:cs typeface="Consolas" panose="020B0609020204030204" pitchFamily="49" charset="0"/>
              </a:rPr>
              <a:t> $SCRDIR/.</a:t>
            </a:r>
          </a:p>
          <a:p>
            <a:pPr marL="0" indent="0">
              <a:buFontTx/>
              <a:buNone/>
            </a:pPr>
            <a:r>
              <a:rPr lang="en-US" sz="1100" kern="0" dirty="0">
                <a:latin typeface="Consolas" panose="020B0609020204030204" pitchFamily="49" charset="0"/>
                <a:cs typeface="Consolas" panose="020B0609020204030204" pitchFamily="49" charset="0"/>
              </a:rPr>
              <a:t>cd $SCRDIR</a:t>
            </a:r>
            <a:endParaRPr lang="en-US" sz="1100" kern="0" dirty="0">
              <a:solidFill>
                <a:srgbClr val="0070C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AA972FA-D2A0-2630-F2CB-A67F11B4F98C}"/>
              </a:ext>
            </a:extLst>
          </p:cNvPr>
          <p:cNvSpPr/>
          <p:nvPr/>
        </p:nvSpPr>
        <p:spPr bwMode="auto">
          <a:xfrm>
            <a:off x="57503" y="3287326"/>
            <a:ext cx="4496567" cy="446474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399402-5621-2371-8B7C-9851FAD6A99E}"/>
              </a:ext>
            </a:extLst>
          </p:cNvPr>
          <p:cNvSpPr/>
          <p:nvPr/>
        </p:nvSpPr>
        <p:spPr bwMode="auto">
          <a:xfrm>
            <a:off x="4554845" y="3296880"/>
            <a:ext cx="4267200" cy="436919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3FDF60-3253-698D-B652-ADEB139EA966}"/>
              </a:ext>
            </a:extLst>
          </p:cNvPr>
          <p:cNvSpPr txBox="1"/>
          <p:nvPr/>
        </p:nvSpPr>
        <p:spPr>
          <a:xfrm>
            <a:off x="1589686" y="4724400"/>
            <a:ext cx="5867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Create the scratch directory where your job will run.</a:t>
            </a:r>
          </a:p>
        </p:txBody>
      </p:sp>
    </p:spTree>
    <p:extLst>
      <p:ext uri="{BB962C8B-B14F-4D97-AF65-F5344CB8AC3E}">
        <p14:creationId xmlns:p14="http://schemas.microsoft.com/office/powerpoint/2010/main" val="51849290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37333" y="1066800"/>
            <a:ext cx="8972107" cy="5791200"/>
          </a:xfrm>
        </p:spPr>
        <p:txBody>
          <a:bodyPr/>
          <a:lstStyle/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#!/bin/bash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--account=owner-guest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--partition=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kingspeak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-shared-guest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qos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kingspeak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-guest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--time=02:00:00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--nodes=1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</a:t>
            </a:r>
            <a:r>
              <a:rPr lang="en-US" sz="11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cpus</a:t>
            </a: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-per-task=8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--mem=32G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-o 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slurmjob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j.out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-%N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-e 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slurmjob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j.err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-%N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#set up the temporary directory</a:t>
            </a:r>
          </a:p>
          <a:p>
            <a:pPr marL="0" indent="0">
              <a:buNone/>
            </a:pP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SCRDIR=/scratch/general/vast/$USER/$SLURM_JOB_ID</a:t>
            </a:r>
          </a:p>
          <a:p>
            <a:pPr marL="0" indent="0">
              <a:buNone/>
            </a:pPr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mkdir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 -p $SCRDIR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#copy over input files</a:t>
            </a:r>
          </a:p>
          <a:p>
            <a:pPr marL="0" indent="0">
              <a:buNone/>
            </a:pP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cp </a:t>
            </a:r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file.input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 $SCRDIR/.</a:t>
            </a:r>
          </a:p>
          <a:p>
            <a:pPr marL="0" indent="0">
              <a:buNone/>
            </a:pP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cd $SCRDIR</a:t>
            </a:r>
            <a:endParaRPr lang="en-US" sz="1100" dirty="0">
              <a:solidFill>
                <a:srgbClr val="0070C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605E7F2-F066-6712-2BF3-AB8CFD1CB8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4071" y="1062318"/>
            <a:ext cx="8972107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#!/bin/</a:t>
            </a:r>
            <a:r>
              <a:rPr lang="en-US" sz="11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tcsh</a:t>
            </a:r>
            <a:endParaRPr lang="en-US" sz="1100" kern="0" dirty="0">
              <a:solidFill>
                <a:srgbClr val="0070C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--account=owner-guest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--partition=</a:t>
            </a:r>
            <a:r>
              <a:rPr lang="en-US" sz="11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kingspeak</a:t>
            </a: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-shared-guest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qos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kingspeak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-guest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--time=02:00:00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--nodes=1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</a:t>
            </a:r>
            <a:r>
              <a:rPr lang="en-US" sz="11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cpus</a:t>
            </a: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-per-task=8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--mem=32G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-o </a:t>
            </a:r>
            <a:r>
              <a:rPr lang="en-US" sz="11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slurmjob</a:t>
            </a: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</a:t>
            </a:r>
            <a:r>
              <a:rPr lang="en-US" sz="11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j.out</a:t>
            </a: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-%N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-e </a:t>
            </a:r>
            <a:r>
              <a:rPr lang="en-US" sz="11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slurmjob</a:t>
            </a: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</a:t>
            </a:r>
            <a:r>
              <a:rPr lang="en-US" sz="11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j.err</a:t>
            </a: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-%N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#set up the scratch directory</a:t>
            </a:r>
          </a:p>
          <a:p>
            <a:pPr marL="0" indent="0">
              <a:buFontTx/>
              <a:buNone/>
            </a:pPr>
            <a:r>
              <a:rPr lang="en-US" sz="1100" kern="0" dirty="0">
                <a:latin typeface="Consolas" panose="020B0609020204030204" pitchFamily="49" charset="0"/>
                <a:cs typeface="Consolas" panose="020B0609020204030204" pitchFamily="49" charset="0"/>
              </a:rPr>
              <a:t>set SCRDIR /scratch/local/$USER/$SLURM_JOB_ID</a:t>
            </a:r>
          </a:p>
          <a:p>
            <a:pPr marL="0" indent="0">
              <a:buFontTx/>
              <a:buNone/>
            </a:pPr>
            <a:r>
              <a:rPr lang="en-US" sz="110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mkdir</a:t>
            </a:r>
            <a:r>
              <a:rPr lang="en-US" sz="1100" kern="0" dirty="0">
                <a:latin typeface="Consolas" panose="020B0609020204030204" pitchFamily="49" charset="0"/>
                <a:cs typeface="Consolas" panose="020B0609020204030204" pitchFamily="49" charset="0"/>
              </a:rPr>
              <a:t> -p $SCRDIR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#move input files into scratch directory</a:t>
            </a:r>
          </a:p>
          <a:p>
            <a:pPr marL="0" indent="0">
              <a:buFontTx/>
              <a:buNone/>
            </a:pPr>
            <a:r>
              <a:rPr lang="en-US" sz="1100" kern="0" dirty="0">
                <a:latin typeface="Consolas" panose="020B0609020204030204" pitchFamily="49" charset="0"/>
                <a:cs typeface="Consolas" panose="020B0609020204030204" pitchFamily="49" charset="0"/>
              </a:rPr>
              <a:t>cp </a:t>
            </a:r>
            <a:r>
              <a:rPr lang="en-US" sz="110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file.input</a:t>
            </a:r>
            <a:r>
              <a:rPr lang="en-US" sz="1100" kern="0" dirty="0">
                <a:latin typeface="Consolas" panose="020B0609020204030204" pitchFamily="49" charset="0"/>
                <a:cs typeface="Consolas" panose="020B0609020204030204" pitchFamily="49" charset="0"/>
              </a:rPr>
              <a:t> $SCRDIR/.</a:t>
            </a:r>
          </a:p>
          <a:p>
            <a:pPr marL="0" indent="0">
              <a:buFontTx/>
              <a:buNone/>
            </a:pPr>
            <a:r>
              <a:rPr lang="en-US" sz="1100" kern="0" dirty="0">
                <a:latin typeface="Consolas" panose="020B0609020204030204" pitchFamily="49" charset="0"/>
                <a:cs typeface="Consolas" panose="020B0609020204030204" pitchFamily="49" charset="0"/>
              </a:rPr>
              <a:t>cd $SCRDIR</a:t>
            </a:r>
            <a:endParaRPr lang="en-US" sz="1100" kern="0" dirty="0">
              <a:solidFill>
                <a:srgbClr val="0070C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AA972FA-D2A0-2630-F2CB-A67F11B4F98C}"/>
              </a:ext>
            </a:extLst>
          </p:cNvPr>
          <p:cNvSpPr/>
          <p:nvPr/>
        </p:nvSpPr>
        <p:spPr bwMode="auto">
          <a:xfrm>
            <a:off x="83278" y="3657600"/>
            <a:ext cx="4496567" cy="748552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399402-5621-2371-8B7C-9851FAD6A99E}"/>
              </a:ext>
            </a:extLst>
          </p:cNvPr>
          <p:cNvSpPr/>
          <p:nvPr/>
        </p:nvSpPr>
        <p:spPr bwMode="auto">
          <a:xfrm>
            <a:off x="4572000" y="3657600"/>
            <a:ext cx="4267200" cy="748552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3FDF60-3253-698D-B652-ADEB139EA966}"/>
              </a:ext>
            </a:extLst>
          </p:cNvPr>
          <p:cNvSpPr txBox="1"/>
          <p:nvPr/>
        </p:nvSpPr>
        <p:spPr>
          <a:xfrm>
            <a:off x="1589686" y="4724400"/>
            <a:ext cx="5867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Copy over input files and move on over to $SCRDIR</a:t>
            </a:r>
          </a:p>
        </p:txBody>
      </p:sp>
    </p:spTree>
    <p:extLst>
      <p:ext uri="{BB962C8B-B14F-4D97-AF65-F5344CB8AC3E}">
        <p14:creationId xmlns:p14="http://schemas.microsoft.com/office/powerpoint/2010/main" val="18358547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37333" y="1066800"/>
            <a:ext cx="8972107" cy="5791200"/>
          </a:xfrm>
        </p:spPr>
        <p:txBody>
          <a:bodyPr/>
          <a:lstStyle/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#!/bin/bash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--account=owner-guest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--partition=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kingspeak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-shared-guest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qos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kingspeak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-guest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--time=02:00:00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--nodes=1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</a:t>
            </a:r>
            <a:r>
              <a:rPr lang="en-US" sz="11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cpus</a:t>
            </a: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-per-task=8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--mem=32G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-o 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slurmjob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j.out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-%N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-e 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slurmjob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j.err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-%N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#set up the temporary directory</a:t>
            </a:r>
          </a:p>
          <a:p>
            <a:pPr marL="0" indent="0">
              <a:buNone/>
            </a:pP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SCRDIR=/scratch/general/vast/$USER/$SLURM_JOB_ID</a:t>
            </a:r>
          </a:p>
          <a:p>
            <a:pPr marL="0" indent="0">
              <a:buNone/>
            </a:pPr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mkdir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 -p $SCRDIR</a:t>
            </a:r>
          </a:p>
          <a:p>
            <a:pPr marL="0" indent="0">
              <a:buNone/>
            </a:pPr>
            <a:endParaRPr lang="en-US" sz="11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#copy over input files</a:t>
            </a:r>
          </a:p>
          <a:p>
            <a:pPr marL="0" indent="0">
              <a:buNone/>
            </a:pP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cp </a:t>
            </a:r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file.input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 $SCRDIR/.</a:t>
            </a:r>
          </a:p>
          <a:p>
            <a:pPr marL="0" indent="0">
              <a:buNone/>
            </a:pP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cd $SCRDIR</a:t>
            </a:r>
            <a:endParaRPr lang="en-US" sz="1100" dirty="0">
              <a:solidFill>
                <a:srgbClr val="0070C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endParaRPr lang="en-US" sz="11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#Set up whatever package we need to run with</a:t>
            </a:r>
          </a:p>
          <a:p>
            <a:pPr marL="0" indent="0">
              <a:buNone/>
            </a:pP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module load &lt;some-module&gt;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605E7F2-F066-6712-2BF3-AB8CFD1CB8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4071" y="1062318"/>
            <a:ext cx="8972107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#!/bin/</a:t>
            </a:r>
            <a:r>
              <a:rPr lang="en-US" sz="11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tcsh</a:t>
            </a:r>
            <a:endParaRPr lang="en-US" sz="1100" kern="0" dirty="0">
              <a:solidFill>
                <a:srgbClr val="0070C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--account=owner-guest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--partition=</a:t>
            </a:r>
            <a:r>
              <a:rPr lang="en-US" sz="11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kingspeak</a:t>
            </a: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-shared-guest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qos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kingspeak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-guest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--time=02:00:00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--nodes=1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</a:t>
            </a:r>
            <a:r>
              <a:rPr lang="en-US" sz="11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cpus</a:t>
            </a: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-per-task=8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--mem=32G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-o </a:t>
            </a:r>
            <a:r>
              <a:rPr lang="en-US" sz="11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slurmjob</a:t>
            </a: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</a:t>
            </a:r>
            <a:r>
              <a:rPr lang="en-US" sz="11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j.out</a:t>
            </a: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-%N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-e </a:t>
            </a:r>
            <a:r>
              <a:rPr lang="en-US" sz="11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slurmjob</a:t>
            </a: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</a:t>
            </a:r>
            <a:r>
              <a:rPr lang="en-US" sz="11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j.err</a:t>
            </a: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-%N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#set up the scratch directory</a:t>
            </a:r>
          </a:p>
          <a:p>
            <a:pPr marL="0" indent="0">
              <a:buFontTx/>
              <a:buNone/>
            </a:pPr>
            <a:r>
              <a:rPr lang="en-US" sz="1100" kern="0" dirty="0">
                <a:latin typeface="Consolas" panose="020B0609020204030204" pitchFamily="49" charset="0"/>
                <a:cs typeface="Consolas" panose="020B0609020204030204" pitchFamily="49" charset="0"/>
              </a:rPr>
              <a:t>set SCRDIR /scratch/local/$USER/$SLURM_JOB_ID</a:t>
            </a:r>
          </a:p>
          <a:p>
            <a:pPr marL="0" indent="0">
              <a:buFontTx/>
              <a:buNone/>
            </a:pPr>
            <a:r>
              <a:rPr lang="en-US" sz="110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mkdir</a:t>
            </a:r>
            <a:r>
              <a:rPr lang="en-US" sz="1100" kern="0" dirty="0">
                <a:latin typeface="Consolas" panose="020B0609020204030204" pitchFamily="49" charset="0"/>
                <a:cs typeface="Consolas" panose="020B0609020204030204" pitchFamily="49" charset="0"/>
              </a:rPr>
              <a:t> -p $SCRDIR</a:t>
            </a:r>
          </a:p>
          <a:p>
            <a:pPr marL="0" indent="0">
              <a:buFontTx/>
              <a:buNone/>
            </a:pPr>
            <a:endParaRPr lang="en-US" sz="1100" kern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#move input files into scratch directory</a:t>
            </a:r>
          </a:p>
          <a:p>
            <a:pPr marL="0" indent="0">
              <a:buFontTx/>
              <a:buNone/>
            </a:pPr>
            <a:r>
              <a:rPr lang="en-US" sz="1100" kern="0" dirty="0">
                <a:latin typeface="Consolas" panose="020B0609020204030204" pitchFamily="49" charset="0"/>
                <a:cs typeface="Consolas" panose="020B0609020204030204" pitchFamily="49" charset="0"/>
              </a:rPr>
              <a:t>cp </a:t>
            </a:r>
            <a:r>
              <a:rPr lang="en-US" sz="110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file.input</a:t>
            </a:r>
            <a:r>
              <a:rPr lang="en-US" sz="1100" kern="0" dirty="0">
                <a:latin typeface="Consolas" panose="020B0609020204030204" pitchFamily="49" charset="0"/>
                <a:cs typeface="Consolas" panose="020B0609020204030204" pitchFamily="49" charset="0"/>
              </a:rPr>
              <a:t> $SCRDIR/.</a:t>
            </a:r>
          </a:p>
          <a:p>
            <a:pPr marL="0" indent="0">
              <a:buFontTx/>
              <a:buNone/>
            </a:pPr>
            <a:r>
              <a:rPr lang="en-US" sz="1100" kern="0" dirty="0">
                <a:latin typeface="Consolas" panose="020B0609020204030204" pitchFamily="49" charset="0"/>
                <a:cs typeface="Consolas" panose="020B0609020204030204" pitchFamily="49" charset="0"/>
              </a:rPr>
              <a:t>cd $SCRDIR</a:t>
            </a:r>
            <a:endParaRPr lang="en-US" sz="1100" kern="0" dirty="0">
              <a:solidFill>
                <a:srgbClr val="0070C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FontTx/>
              <a:buNone/>
            </a:pPr>
            <a:endParaRPr lang="en-US" sz="1100" kern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#Set up whatever package we need to run with</a:t>
            </a:r>
          </a:p>
          <a:p>
            <a:pPr marL="0" indent="0">
              <a:buFontTx/>
              <a:buNone/>
            </a:pPr>
            <a:r>
              <a:rPr lang="en-US" sz="1100" kern="0" dirty="0">
                <a:latin typeface="Consolas" panose="020B0609020204030204" pitchFamily="49" charset="0"/>
                <a:cs typeface="Consolas" panose="020B0609020204030204" pitchFamily="49" charset="0"/>
              </a:rPr>
              <a:t>module load &lt;some-module&gt;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2C2B6D-6602-98FE-A854-C2070253B3FD}"/>
              </a:ext>
            </a:extLst>
          </p:cNvPr>
          <p:cNvSpPr/>
          <p:nvPr/>
        </p:nvSpPr>
        <p:spPr bwMode="auto">
          <a:xfrm>
            <a:off x="57504" y="4724400"/>
            <a:ext cx="4496567" cy="533400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382C57-D247-9C62-4314-B197A9105116}"/>
              </a:ext>
            </a:extLst>
          </p:cNvPr>
          <p:cNvSpPr/>
          <p:nvPr/>
        </p:nvSpPr>
        <p:spPr bwMode="auto">
          <a:xfrm>
            <a:off x="4572001" y="4724400"/>
            <a:ext cx="4267200" cy="533400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9D339C-7D63-B211-FDFF-837161BE8BCA}"/>
              </a:ext>
            </a:extLst>
          </p:cNvPr>
          <p:cNvSpPr txBox="1"/>
          <p:nvPr/>
        </p:nvSpPr>
        <p:spPr>
          <a:xfrm>
            <a:off x="2706746" y="5564849"/>
            <a:ext cx="37305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Load the desired modules</a:t>
            </a:r>
          </a:p>
        </p:txBody>
      </p:sp>
    </p:spTree>
    <p:extLst>
      <p:ext uri="{BB962C8B-B14F-4D97-AF65-F5344CB8AC3E}">
        <p14:creationId xmlns:p14="http://schemas.microsoft.com/office/powerpoint/2010/main" val="80538068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37333" y="1066800"/>
            <a:ext cx="8972107" cy="5791200"/>
          </a:xfrm>
        </p:spPr>
        <p:txBody>
          <a:bodyPr/>
          <a:lstStyle/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#!/bin/bash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--account=owner-guest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--partition=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kingspeak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-shared-guest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qos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kingspeak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-guest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--time=02:00:00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--nodes=1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</a:t>
            </a:r>
            <a:r>
              <a:rPr lang="en-US" sz="11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cpus</a:t>
            </a: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-per-task=8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--mem=32G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-o 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slurmjob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j.out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-%N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-e 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slurmjob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j.err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-%N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#set up the temporary directory</a:t>
            </a:r>
          </a:p>
          <a:p>
            <a:pPr marL="0" indent="0">
              <a:buNone/>
            </a:pP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SCRDIR=/scratch/general/vast/$USER/$SLURM_JOB_ID</a:t>
            </a:r>
          </a:p>
          <a:p>
            <a:pPr marL="0" indent="0">
              <a:buNone/>
            </a:pPr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mkdir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 -p $SCRDIR</a:t>
            </a:r>
          </a:p>
          <a:p>
            <a:pPr marL="0" indent="0">
              <a:buNone/>
            </a:pPr>
            <a:endParaRPr lang="en-US" sz="11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#copy over input files</a:t>
            </a:r>
          </a:p>
          <a:p>
            <a:pPr marL="0" indent="0">
              <a:buNone/>
            </a:pP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cp </a:t>
            </a:r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file.input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 $SCRDIR/.</a:t>
            </a:r>
          </a:p>
          <a:p>
            <a:pPr marL="0" indent="0">
              <a:buNone/>
            </a:pP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cd $SCRDIR</a:t>
            </a:r>
            <a:endParaRPr lang="en-US" sz="1100" dirty="0">
              <a:solidFill>
                <a:srgbClr val="0070C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endParaRPr lang="en-US" sz="11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#Set up whatever package we need to run with</a:t>
            </a:r>
          </a:p>
          <a:p>
            <a:pPr marL="0" indent="0">
              <a:buNone/>
            </a:pP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module load &lt;some-module&gt;</a:t>
            </a:r>
          </a:p>
          <a:p>
            <a:pPr marL="0" indent="0">
              <a:buNone/>
            </a:pPr>
            <a:endParaRPr lang="en-US" sz="1100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#Run the program with our input</a:t>
            </a:r>
          </a:p>
          <a:p>
            <a:pPr marL="0" indent="0">
              <a:buNone/>
            </a:pPr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myprogram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 &lt; </a:t>
            </a:r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file.input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 &gt; </a:t>
            </a:r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file.output</a:t>
            </a:r>
            <a:endParaRPr lang="en-US" sz="11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605E7F2-F066-6712-2BF3-AB8CFD1CB8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4071" y="1062318"/>
            <a:ext cx="8972107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#!/bin/</a:t>
            </a:r>
            <a:r>
              <a:rPr lang="en-US" sz="11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tcsh</a:t>
            </a:r>
            <a:endParaRPr lang="en-US" sz="1100" kern="0" dirty="0">
              <a:solidFill>
                <a:srgbClr val="0070C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--account=owner-guest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--partition=</a:t>
            </a:r>
            <a:r>
              <a:rPr lang="en-US" sz="11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kingspeak</a:t>
            </a: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-shared-guest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qos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kingspeak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-guest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--time=02:00:00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--nodes=1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</a:t>
            </a:r>
            <a:r>
              <a:rPr lang="en-US" sz="11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cpus</a:t>
            </a: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-per-task=8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--mem=32G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-o </a:t>
            </a:r>
            <a:r>
              <a:rPr lang="en-US" sz="11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slurmjob</a:t>
            </a: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</a:t>
            </a:r>
            <a:r>
              <a:rPr lang="en-US" sz="11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j.out</a:t>
            </a: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-%N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-e </a:t>
            </a:r>
            <a:r>
              <a:rPr lang="en-US" sz="11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slurmjob</a:t>
            </a: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</a:t>
            </a:r>
            <a:r>
              <a:rPr lang="en-US" sz="11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j.err</a:t>
            </a: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-%N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#set up the scratch directory</a:t>
            </a:r>
          </a:p>
          <a:p>
            <a:pPr marL="0" indent="0">
              <a:buFontTx/>
              <a:buNone/>
            </a:pPr>
            <a:r>
              <a:rPr lang="en-US" sz="1100" kern="0" dirty="0">
                <a:latin typeface="Consolas" panose="020B0609020204030204" pitchFamily="49" charset="0"/>
                <a:cs typeface="Consolas" panose="020B0609020204030204" pitchFamily="49" charset="0"/>
              </a:rPr>
              <a:t>set SCRDIR /scratch/local/$USER/$SLURM_JOB_ID</a:t>
            </a:r>
          </a:p>
          <a:p>
            <a:pPr marL="0" indent="0">
              <a:buFontTx/>
              <a:buNone/>
            </a:pPr>
            <a:r>
              <a:rPr lang="en-US" sz="110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mkdir</a:t>
            </a:r>
            <a:r>
              <a:rPr lang="en-US" sz="1100" kern="0" dirty="0">
                <a:latin typeface="Consolas" panose="020B0609020204030204" pitchFamily="49" charset="0"/>
                <a:cs typeface="Consolas" panose="020B0609020204030204" pitchFamily="49" charset="0"/>
              </a:rPr>
              <a:t> -p $SCRDIR</a:t>
            </a:r>
          </a:p>
          <a:p>
            <a:pPr marL="0" indent="0">
              <a:buFontTx/>
              <a:buNone/>
            </a:pPr>
            <a:endParaRPr lang="en-US" sz="1100" kern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#move input files into scratch directory</a:t>
            </a:r>
          </a:p>
          <a:p>
            <a:pPr marL="0" indent="0">
              <a:buFontTx/>
              <a:buNone/>
            </a:pPr>
            <a:r>
              <a:rPr lang="en-US" sz="1100" kern="0" dirty="0">
                <a:latin typeface="Consolas" panose="020B0609020204030204" pitchFamily="49" charset="0"/>
                <a:cs typeface="Consolas" panose="020B0609020204030204" pitchFamily="49" charset="0"/>
              </a:rPr>
              <a:t>cp </a:t>
            </a:r>
            <a:r>
              <a:rPr lang="en-US" sz="110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file.input</a:t>
            </a:r>
            <a:r>
              <a:rPr lang="en-US" sz="1100" kern="0" dirty="0">
                <a:latin typeface="Consolas" panose="020B0609020204030204" pitchFamily="49" charset="0"/>
                <a:cs typeface="Consolas" panose="020B0609020204030204" pitchFamily="49" charset="0"/>
              </a:rPr>
              <a:t> $SCRDIR/.</a:t>
            </a:r>
          </a:p>
          <a:p>
            <a:pPr marL="0" indent="0">
              <a:buFontTx/>
              <a:buNone/>
            </a:pPr>
            <a:r>
              <a:rPr lang="en-US" sz="1100" kern="0" dirty="0">
                <a:latin typeface="Consolas" panose="020B0609020204030204" pitchFamily="49" charset="0"/>
                <a:cs typeface="Consolas" panose="020B0609020204030204" pitchFamily="49" charset="0"/>
              </a:rPr>
              <a:t>cd $SCRDIR</a:t>
            </a:r>
            <a:endParaRPr lang="en-US" sz="1100" kern="0" dirty="0">
              <a:solidFill>
                <a:srgbClr val="0070C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FontTx/>
              <a:buNone/>
            </a:pPr>
            <a:endParaRPr lang="en-US" sz="1100" kern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#Set up whatever package we need to run with</a:t>
            </a:r>
          </a:p>
          <a:p>
            <a:pPr marL="0" indent="0">
              <a:buFontTx/>
              <a:buNone/>
            </a:pPr>
            <a:r>
              <a:rPr lang="en-US" sz="1100" kern="0" dirty="0">
                <a:latin typeface="Consolas" panose="020B0609020204030204" pitchFamily="49" charset="0"/>
                <a:cs typeface="Consolas" panose="020B0609020204030204" pitchFamily="49" charset="0"/>
              </a:rPr>
              <a:t>module load &lt;some-module&gt;</a:t>
            </a:r>
          </a:p>
          <a:p>
            <a:pPr marL="0" indent="0">
              <a:buFontTx/>
              <a:buNone/>
            </a:pPr>
            <a:endParaRPr lang="en-US" sz="1100" kern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#Run the program with our input</a:t>
            </a:r>
          </a:p>
          <a:p>
            <a:pPr marL="0" indent="0">
              <a:buFontTx/>
              <a:buNone/>
            </a:pPr>
            <a:r>
              <a:rPr lang="en-US" sz="110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myprogram</a:t>
            </a:r>
            <a:r>
              <a:rPr lang="en-US" sz="1100" kern="0" dirty="0">
                <a:latin typeface="Consolas" panose="020B0609020204030204" pitchFamily="49" charset="0"/>
                <a:cs typeface="Consolas" panose="020B0609020204030204" pitchFamily="49" charset="0"/>
              </a:rPr>
              <a:t> &lt; </a:t>
            </a:r>
            <a:r>
              <a:rPr lang="en-US" sz="110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file.input</a:t>
            </a:r>
            <a:r>
              <a:rPr lang="en-US" sz="1100" kern="0" dirty="0">
                <a:latin typeface="Consolas" panose="020B0609020204030204" pitchFamily="49" charset="0"/>
                <a:cs typeface="Consolas" panose="020B0609020204030204" pitchFamily="49" charset="0"/>
              </a:rPr>
              <a:t> &gt; </a:t>
            </a:r>
            <a:r>
              <a:rPr lang="en-US" sz="110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file.output</a:t>
            </a:r>
            <a:endParaRPr lang="en-US" sz="1100" kern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66E6117-61F2-34C5-5CEB-7CCA14446DAC}"/>
              </a:ext>
            </a:extLst>
          </p:cNvPr>
          <p:cNvSpPr/>
          <p:nvPr/>
        </p:nvSpPr>
        <p:spPr bwMode="auto">
          <a:xfrm>
            <a:off x="75433" y="5195049"/>
            <a:ext cx="4496567" cy="587187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DE3D78-6E9C-7066-FB2E-045CAA4C06CB}"/>
              </a:ext>
            </a:extLst>
          </p:cNvPr>
          <p:cNvSpPr/>
          <p:nvPr/>
        </p:nvSpPr>
        <p:spPr bwMode="auto">
          <a:xfrm>
            <a:off x="4572000" y="5199531"/>
            <a:ext cx="4267200" cy="587187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A1BB6A-8426-F0E8-E9E2-C89DF906C421}"/>
              </a:ext>
            </a:extLst>
          </p:cNvPr>
          <p:cNvSpPr txBox="1"/>
          <p:nvPr/>
        </p:nvSpPr>
        <p:spPr>
          <a:xfrm flipH="1">
            <a:off x="2667000" y="5856211"/>
            <a:ext cx="4267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Run the program you need to</a:t>
            </a:r>
          </a:p>
        </p:txBody>
      </p:sp>
    </p:spTree>
    <p:extLst>
      <p:ext uri="{BB962C8B-B14F-4D97-AF65-F5344CB8AC3E}">
        <p14:creationId xmlns:p14="http://schemas.microsoft.com/office/powerpoint/2010/main" val="95196296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37333" y="1066800"/>
            <a:ext cx="8972107" cy="5791200"/>
          </a:xfrm>
        </p:spPr>
        <p:txBody>
          <a:bodyPr/>
          <a:lstStyle/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#!/bin/bash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--account=owner-guest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--partition=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kingspeak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-shared-guest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qos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kingspeak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-guest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--time=02:00:00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--nodes=1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</a:t>
            </a:r>
            <a:r>
              <a:rPr lang="en-US" sz="11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cpus</a:t>
            </a: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-per-task=8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--mem=32G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-o 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slurmjob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j.out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-%N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-e 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slurmjob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j.err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-%N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#set up the temporary directory</a:t>
            </a:r>
          </a:p>
          <a:p>
            <a:pPr marL="0" indent="0">
              <a:buNone/>
            </a:pP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SCRDIR=/scratch/general/vast/$USER/$SLURM_JOB_ID</a:t>
            </a:r>
          </a:p>
          <a:p>
            <a:pPr marL="0" indent="0">
              <a:buNone/>
            </a:pPr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mkdir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 -p $SCRDIR</a:t>
            </a:r>
          </a:p>
          <a:p>
            <a:pPr marL="0" indent="0">
              <a:buNone/>
            </a:pPr>
            <a:endParaRPr lang="en-US" sz="11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#copy over input files</a:t>
            </a:r>
          </a:p>
          <a:p>
            <a:pPr marL="0" indent="0">
              <a:buNone/>
            </a:pP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cp </a:t>
            </a:r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file.input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 $SCRDIR/.</a:t>
            </a:r>
          </a:p>
          <a:p>
            <a:pPr marL="0" indent="0">
              <a:buNone/>
            </a:pP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cd $SCRDIR</a:t>
            </a:r>
            <a:endParaRPr lang="en-US" sz="1100" dirty="0">
              <a:solidFill>
                <a:srgbClr val="0070C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endParaRPr lang="en-US" sz="11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#Set up whatever package we need to run with</a:t>
            </a:r>
          </a:p>
          <a:p>
            <a:pPr marL="0" indent="0">
              <a:buNone/>
            </a:pP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module load &lt;some-module&gt;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#Run the program with our input</a:t>
            </a:r>
          </a:p>
          <a:p>
            <a:pPr marL="0" indent="0">
              <a:buNone/>
            </a:pPr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myprogram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 &lt; </a:t>
            </a:r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file.input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 &gt; </a:t>
            </a:r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file.output</a:t>
            </a:r>
            <a:endParaRPr lang="en-US" sz="11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endParaRPr lang="en-US" sz="11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#Move files out of working directory and clean up</a:t>
            </a:r>
          </a:p>
          <a:p>
            <a:pPr marL="0" indent="0">
              <a:buNone/>
            </a:pP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cp </a:t>
            </a:r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file.output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 $HOME/.</a:t>
            </a:r>
          </a:p>
          <a:p>
            <a:pPr marL="0" indent="0">
              <a:buNone/>
            </a:pP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cd $HOME</a:t>
            </a:r>
          </a:p>
          <a:p>
            <a:pPr marL="0" indent="0">
              <a:buNone/>
            </a:pPr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rm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 -</a:t>
            </a:r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rf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 $SCRDIR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605E7F2-F066-6712-2BF3-AB8CFD1CB8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4071" y="1062318"/>
            <a:ext cx="8972107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#!/bin/</a:t>
            </a:r>
            <a:r>
              <a:rPr lang="en-US" sz="11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tcsh</a:t>
            </a:r>
            <a:endParaRPr lang="en-US" sz="1100" kern="0" dirty="0">
              <a:solidFill>
                <a:srgbClr val="0070C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--account=owner-guest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--partition=</a:t>
            </a:r>
            <a:r>
              <a:rPr lang="en-US" sz="11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kingspeak</a:t>
            </a: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-shared-guest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qos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kingspeak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-guest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--time=02:00:00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--nodes=1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</a:t>
            </a:r>
            <a:r>
              <a:rPr lang="en-US" sz="11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cpus</a:t>
            </a: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-per-task=8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--mem=32G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-o </a:t>
            </a:r>
            <a:r>
              <a:rPr lang="en-US" sz="11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slurmjob</a:t>
            </a: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</a:t>
            </a:r>
            <a:r>
              <a:rPr lang="en-US" sz="11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j.out</a:t>
            </a: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-%N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-e </a:t>
            </a:r>
            <a:r>
              <a:rPr lang="en-US" sz="11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slurmjob</a:t>
            </a: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</a:t>
            </a:r>
            <a:r>
              <a:rPr lang="en-US" sz="11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j.err</a:t>
            </a: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-%N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#set up the scratch directory</a:t>
            </a:r>
          </a:p>
          <a:p>
            <a:pPr marL="0" indent="0">
              <a:buFontTx/>
              <a:buNone/>
            </a:pPr>
            <a:r>
              <a:rPr lang="en-US" sz="1100" kern="0" dirty="0">
                <a:latin typeface="Consolas" panose="020B0609020204030204" pitchFamily="49" charset="0"/>
                <a:cs typeface="Consolas" panose="020B0609020204030204" pitchFamily="49" charset="0"/>
              </a:rPr>
              <a:t>set SCRDIR /scratch/local/$USER/$SLURM_JOB_ID</a:t>
            </a:r>
          </a:p>
          <a:p>
            <a:pPr marL="0" indent="0">
              <a:buFontTx/>
              <a:buNone/>
            </a:pPr>
            <a:r>
              <a:rPr lang="en-US" sz="110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mkdir</a:t>
            </a:r>
            <a:r>
              <a:rPr lang="en-US" sz="1100" kern="0" dirty="0">
                <a:latin typeface="Consolas" panose="020B0609020204030204" pitchFamily="49" charset="0"/>
                <a:cs typeface="Consolas" panose="020B0609020204030204" pitchFamily="49" charset="0"/>
              </a:rPr>
              <a:t> -p $SCRDIR</a:t>
            </a:r>
          </a:p>
          <a:p>
            <a:pPr marL="0" indent="0">
              <a:buFontTx/>
              <a:buNone/>
            </a:pPr>
            <a:endParaRPr lang="en-US" sz="1100" kern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#move input files into scratch directory</a:t>
            </a:r>
          </a:p>
          <a:p>
            <a:pPr marL="0" indent="0">
              <a:buFontTx/>
              <a:buNone/>
            </a:pPr>
            <a:r>
              <a:rPr lang="en-US" sz="1100" kern="0" dirty="0">
                <a:latin typeface="Consolas" panose="020B0609020204030204" pitchFamily="49" charset="0"/>
                <a:cs typeface="Consolas" panose="020B0609020204030204" pitchFamily="49" charset="0"/>
              </a:rPr>
              <a:t>cp </a:t>
            </a:r>
            <a:r>
              <a:rPr lang="en-US" sz="110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file.input</a:t>
            </a:r>
            <a:r>
              <a:rPr lang="en-US" sz="1100" kern="0" dirty="0">
                <a:latin typeface="Consolas" panose="020B0609020204030204" pitchFamily="49" charset="0"/>
                <a:cs typeface="Consolas" panose="020B0609020204030204" pitchFamily="49" charset="0"/>
              </a:rPr>
              <a:t> $SCRDIR/.</a:t>
            </a:r>
          </a:p>
          <a:p>
            <a:pPr marL="0" indent="0">
              <a:buFontTx/>
              <a:buNone/>
            </a:pPr>
            <a:r>
              <a:rPr lang="en-US" sz="1100" kern="0" dirty="0">
                <a:latin typeface="Consolas" panose="020B0609020204030204" pitchFamily="49" charset="0"/>
                <a:cs typeface="Consolas" panose="020B0609020204030204" pitchFamily="49" charset="0"/>
              </a:rPr>
              <a:t>cd $SCRDIR</a:t>
            </a:r>
            <a:endParaRPr lang="en-US" sz="1100" kern="0" dirty="0">
              <a:solidFill>
                <a:srgbClr val="0070C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FontTx/>
              <a:buNone/>
            </a:pPr>
            <a:endParaRPr lang="en-US" sz="1100" kern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#Set up whatever package we need to run with</a:t>
            </a:r>
          </a:p>
          <a:p>
            <a:pPr marL="0" indent="0">
              <a:buFontTx/>
              <a:buNone/>
            </a:pPr>
            <a:r>
              <a:rPr lang="en-US" sz="1100" kern="0" dirty="0">
                <a:latin typeface="Consolas" panose="020B0609020204030204" pitchFamily="49" charset="0"/>
                <a:cs typeface="Consolas" panose="020B0609020204030204" pitchFamily="49" charset="0"/>
              </a:rPr>
              <a:t>module load &lt;some-module&gt;</a:t>
            </a:r>
          </a:p>
          <a:p>
            <a:pPr marL="0" indent="0">
              <a:buFontTx/>
              <a:buNone/>
            </a:pPr>
            <a:endParaRPr lang="en-US" sz="1100" kern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#Run the program with our input</a:t>
            </a:r>
          </a:p>
          <a:p>
            <a:pPr marL="0" indent="0">
              <a:buFontTx/>
              <a:buNone/>
            </a:pPr>
            <a:r>
              <a:rPr lang="en-US" sz="110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myprogram</a:t>
            </a:r>
            <a:r>
              <a:rPr lang="en-US" sz="1100" kern="0" dirty="0">
                <a:latin typeface="Consolas" panose="020B0609020204030204" pitchFamily="49" charset="0"/>
                <a:cs typeface="Consolas" panose="020B0609020204030204" pitchFamily="49" charset="0"/>
              </a:rPr>
              <a:t> &lt; </a:t>
            </a:r>
            <a:r>
              <a:rPr lang="en-US" sz="110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file.input</a:t>
            </a:r>
            <a:r>
              <a:rPr lang="en-US" sz="1100" kern="0" dirty="0">
                <a:latin typeface="Consolas" panose="020B0609020204030204" pitchFamily="49" charset="0"/>
                <a:cs typeface="Consolas" panose="020B0609020204030204" pitchFamily="49" charset="0"/>
              </a:rPr>
              <a:t> &gt; </a:t>
            </a:r>
            <a:r>
              <a:rPr lang="en-US" sz="110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file.output</a:t>
            </a:r>
            <a:endParaRPr lang="en-US" sz="1100" kern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#Move files out of working directory and clean up</a:t>
            </a:r>
            <a:endParaRPr lang="en-US" sz="1100" kern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FontTx/>
              <a:buNone/>
            </a:pPr>
            <a:r>
              <a:rPr lang="en-US" sz="1100" kern="0" dirty="0">
                <a:latin typeface="Consolas" panose="020B0609020204030204" pitchFamily="49" charset="0"/>
                <a:cs typeface="Consolas" panose="020B0609020204030204" pitchFamily="49" charset="0"/>
              </a:rPr>
              <a:t>cp </a:t>
            </a:r>
            <a:r>
              <a:rPr lang="en-US" sz="110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file.output</a:t>
            </a:r>
            <a:r>
              <a:rPr lang="en-US" sz="1100" kern="0" dirty="0">
                <a:latin typeface="Consolas" panose="020B0609020204030204" pitchFamily="49" charset="0"/>
                <a:cs typeface="Consolas" panose="020B0609020204030204" pitchFamily="49" charset="0"/>
              </a:rPr>
              <a:t> $HOME/.</a:t>
            </a:r>
          </a:p>
          <a:p>
            <a:pPr marL="0" indent="0">
              <a:buFontTx/>
              <a:buNone/>
            </a:pPr>
            <a:r>
              <a:rPr lang="en-US" sz="1100" kern="0" dirty="0">
                <a:latin typeface="Consolas" panose="020B0609020204030204" pitchFamily="49" charset="0"/>
                <a:cs typeface="Consolas" panose="020B0609020204030204" pitchFamily="49" charset="0"/>
              </a:rPr>
              <a:t>cd $HOME</a:t>
            </a:r>
          </a:p>
          <a:p>
            <a:pPr marL="0" indent="0">
              <a:buFontTx/>
              <a:buNone/>
            </a:pPr>
            <a:r>
              <a:rPr lang="en-US" sz="1100" kern="0" dirty="0">
                <a:latin typeface="Consolas" panose="020B0609020204030204" pitchFamily="49" charset="0"/>
                <a:cs typeface="Consolas" panose="020B0609020204030204" pitchFamily="49" charset="0"/>
              </a:rPr>
              <a:t>rm -rf $SCRDIR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E0A8E04-1A3F-D2F0-A76C-E7239BA0C3B6}"/>
              </a:ext>
            </a:extLst>
          </p:cNvPr>
          <p:cNvSpPr/>
          <p:nvPr/>
        </p:nvSpPr>
        <p:spPr bwMode="auto">
          <a:xfrm>
            <a:off x="75433" y="5943600"/>
            <a:ext cx="4496567" cy="762000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DE13518-47F7-428C-84C0-037795683224}"/>
              </a:ext>
            </a:extLst>
          </p:cNvPr>
          <p:cNvSpPr/>
          <p:nvPr/>
        </p:nvSpPr>
        <p:spPr bwMode="auto">
          <a:xfrm>
            <a:off x="4566662" y="5943600"/>
            <a:ext cx="4267200" cy="762000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Arial" charset="0"/>
              <a:cs typeface="Arial" charset="0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6ECC034-92D2-80D8-E04B-462D0027E0A3}"/>
              </a:ext>
            </a:extLst>
          </p:cNvPr>
          <p:cNvCxnSpPr>
            <a:cxnSpLocks/>
            <a:stCxn id="12" idx="1"/>
          </p:cNvCxnSpPr>
          <p:nvPr/>
        </p:nvCxnSpPr>
        <p:spPr bwMode="auto">
          <a:xfrm flipH="1">
            <a:off x="2133600" y="6096000"/>
            <a:ext cx="352854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8BF7131-9190-8760-972B-360111A34EC1}"/>
              </a:ext>
            </a:extLst>
          </p:cNvPr>
          <p:cNvSpPr txBox="1"/>
          <p:nvPr/>
        </p:nvSpPr>
        <p:spPr>
          <a:xfrm>
            <a:off x="2486454" y="5957500"/>
            <a:ext cx="21146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Copy output to your $HOME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63301BE-C95E-4D0F-9E6C-54E30FA10470}"/>
              </a:ext>
            </a:extLst>
          </p:cNvPr>
          <p:cNvCxnSpPr>
            <a:cxnSpLocks/>
          </p:cNvCxnSpPr>
          <p:nvPr/>
        </p:nvCxnSpPr>
        <p:spPr bwMode="auto">
          <a:xfrm flipH="1">
            <a:off x="914400" y="6324600"/>
            <a:ext cx="352854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CB9927E-0081-D688-8289-981E318DA833}"/>
              </a:ext>
            </a:extLst>
          </p:cNvPr>
          <p:cNvCxnSpPr>
            <a:cxnSpLocks/>
          </p:cNvCxnSpPr>
          <p:nvPr/>
        </p:nvCxnSpPr>
        <p:spPr bwMode="auto">
          <a:xfrm flipH="1">
            <a:off x="1447800" y="6553200"/>
            <a:ext cx="352854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11FDA88-6255-73BD-F85E-5CC250328A4F}"/>
              </a:ext>
            </a:extLst>
          </p:cNvPr>
          <p:cNvCxnSpPr>
            <a:cxnSpLocks/>
          </p:cNvCxnSpPr>
          <p:nvPr/>
        </p:nvCxnSpPr>
        <p:spPr bwMode="auto">
          <a:xfrm flipH="1">
            <a:off x="5943600" y="6553200"/>
            <a:ext cx="352854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AFEEAC6-8E10-75D8-199E-6B1137134539}"/>
              </a:ext>
            </a:extLst>
          </p:cNvPr>
          <p:cNvCxnSpPr>
            <a:cxnSpLocks/>
          </p:cNvCxnSpPr>
          <p:nvPr/>
        </p:nvCxnSpPr>
        <p:spPr bwMode="auto">
          <a:xfrm flipH="1">
            <a:off x="5410200" y="6324600"/>
            <a:ext cx="352854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E530DC4-AC51-75C1-9404-AFC1CDA8AEB5}"/>
              </a:ext>
            </a:extLst>
          </p:cNvPr>
          <p:cNvCxnSpPr>
            <a:cxnSpLocks/>
          </p:cNvCxnSpPr>
          <p:nvPr/>
        </p:nvCxnSpPr>
        <p:spPr bwMode="auto">
          <a:xfrm flipH="1">
            <a:off x="6610590" y="6086580"/>
            <a:ext cx="352854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CEE28CC9-D915-4298-EC30-94C386D2DB1F}"/>
              </a:ext>
            </a:extLst>
          </p:cNvPr>
          <p:cNvSpPr txBox="1"/>
          <p:nvPr/>
        </p:nvSpPr>
        <p:spPr>
          <a:xfrm>
            <a:off x="1279052" y="6185192"/>
            <a:ext cx="16882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Move back to $HOME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16C83E4-D0AF-7480-8415-231C6CE80364}"/>
              </a:ext>
            </a:extLst>
          </p:cNvPr>
          <p:cNvSpPr txBox="1"/>
          <p:nvPr/>
        </p:nvSpPr>
        <p:spPr>
          <a:xfrm>
            <a:off x="5766449" y="6162780"/>
            <a:ext cx="16882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Move back to $HOME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E4C9C4F-D1C9-B175-8DB8-922CA7C305B7}"/>
              </a:ext>
            </a:extLst>
          </p:cNvPr>
          <p:cNvSpPr txBox="1"/>
          <p:nvPr/>
        </p:nvSpPr>
        <p:spPr>
          <a:xfrm>
            <a:off x="1813246" y="6401253"/>
            <a:ext cx="14718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Remove $SCRDIR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2190745-7BE5-B9F8-65D4-036B92DAFC00}"/>
              </a:ext>
            </a:extLst>
          </p:cNvPr>
          <p:cNvSpPr txBox="1"/>
          <p:nvPr/>
        </p:nvSpPr>
        <p:spPr>
          <a:xfrm>
            <a:off x="6309813" y="6395210"/>
            <a:ext cx="14718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Remove $SCRDIR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E6E840A-E45E-5FE4-2285-1D21B095AF00}"/>
              </a:ext>
            </a:extLst>
          </p:cNvPr>
          <p:cNvSpPr txBox="1"/>
          <p:nvPr/>
        </p:nvSpPr>
        <p:spPr>
          <a:xfrm>
            <a:off x="6909326" y="5941612"/>
            <a:ext cx="21146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Copy output to your $HOME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1891D32-82C8-3DF1-B84C-F0635D1542ED}"/>
              </a:ext>
            </a:extLst>
          </p:cNvPr>
          <p:cNvSpPr/>
          <p:nvPr/>
        </p:nvSpPr>
        <p:spPr bwMode="auto">
          <a:xfrm>
            <a:off x="1792917" y="6341619"/>
            <a:ext cx="1638794" cy="462790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55EF8548-EB27-2B25-AE23-3F5788E8C558}"/>
              </a:ext>
            </a:extLst>
          </p:cNvPr>
          <p:cNvSpPr/>
          <p:nvPr/>
        </p:nvSpPr>
        <p:spPr bwMode="auto">
          <a:xfrm>
            <a:off x="6296454" y="6299521"/>
            <a:ext cx="1638794" cy="462790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506251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9" grpId="0"/>
      <p:bldP spid="20" grpId="0"/>
      <p:bldP spid="21" grpId="0"/>
      <p:bldP spid="22" grpId="0"/>
      <p:bldP spid="23" grpId="0"/>
      <p:bldP spid="24" grpId="0" animBg="1"/>
      <p:bldP spid="2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37333" y="1066800"/>
            <a:ext cx="8972107" cy="5791200"/>
          </a:xfrm>
        </p:spPr>
        <p:txBody>
          <a:bodyPr/>
          <a:lstStyle/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#!/bin/bash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--account=owner-guest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--partition=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kingspeak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-shared-guest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qos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kingspeak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-guest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--time=02:00:00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--nodes=1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</a:t>
            </a:r>
            <a:r>
              <a:rPr lang="en-US" sz="11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cpus</a:t>
            </a: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-per-task=8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--mem=32G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-o 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slurmjob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j.out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-%N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-e 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slurmjob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j.err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-%N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#set up the temporary directory</a:t>
            </a:r>
          </a:p>
          <a:p>
            <a:pPr marL="0" indent="0">
              <a:buNone/>
            </a:pP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SCRDIR=/scratch/general/vast/$USER/$SLURM_JOB_ID</a:t>
            </a:r>
          </a:p>
          <a:p>
            <a:pPr marL="0" indent="0">
              <a:buNone/>
            </a:pPr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mkdir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 -p $SCRDIR</a:t>
            </a:r>
          </a:p>
          <a:p>
            <a:pPr marL="0" indent="0">
              <a:buNone/>
            </a:pPr>
            <a:endParaRPr lang="en-US" sz="11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#copy over input files</a:t>
            </a:r>
          </a:p>
          <a:p>
            <a:pPr marL="0" indent="0">
              <a:buNone/>
            </a:pP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cp </a:t>
            </a:r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file.input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 $SCRDIR/.</a:t>
            </a:r>
          </a:p>
          <a:p>
            <a:pPr marL="0" indent="0">
              <a:buNone/>
            </a:pP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cd $SCRDIR</a:t>
            </a:r>
            <a:endParaRPr lang="en-US" sz="1100" dirty="0">
              <a:solidFill>
                <a:srgbClr val="0070C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endParaRPr lang="en-US" sz="11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#Set up whatever package we need to run with</a:t>
            </a:r>
          </a:p>
          <a:p>
            <a:pPr marL="0" indent="0">
              <a:buNone/>
            </a:pP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module load &lt;some-module&gt;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#Run the program with our input</a:t>
            </a:r>
          </a:p>
          <a:p>
            <a:pPr marL="0" indent="0">
              <a:buNone/>
            </a:pPr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myprogram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 &lt; </a:t>
            </a:r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file.input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 &gt; </a:t>
            </a:r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file.output</a:t>
            </a:r>
            <a:endParaRPr lang="en-US" sz="11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endParaRPr lang="en-US" sz="11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#Move files out of working directory and clean up</a:t>
            </a:r>
          </a:p>
          <a:p>
            <a:pPr marL="0" indent="0">
              <a:buNone/>
            </a:pP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cp </a:t>
            </a:r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file.output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 $HOME/.</a:t>
            </a:r>
          </a:p>
          <a:p>
            <a:pPr marL="0" indent="0">
              <a:buNone/>
            </a:pP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cd $HOME</a:t>
            </a:r>
          </a:p>
          <a:p>
            <a:pPr marL="0" indent="0">
              <a:buNone/>
            </a:pPr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rm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 -</a:t>
            </a:r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rf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 $SCRDIR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605E7F2-F066-6712-2BF3-AB8CFD1CB8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4071" y="1062318"/>
            <a:ext cx="8972107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545454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#!/bin/</a:t>
            </a:r>
            <a:r>
              <a:rPr lang="en-US" sz="11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tcsh</a:t>
            </a:r>
            <a:endParaRPr lang="en-US" sz="1100" kern="0" dirty="0">
              <a:solidFill>
                <a:srgbClr val="0070C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--account=owner-guest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--partition=</a:t>
            </a:r>
            <a:r>
              <a:rPr lang="en-US" sz="11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kingspeak</a:t>
            </a: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-shared-guest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qos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kingspeak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-guest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--time=02:00:00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--nodes=1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</a:t>
            </a:r>
            <a:r>
              <a:rPr lang="en-US" sz="11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cpus</a:t>
            </a: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-per-task=8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--mem=32G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-o </a:t>
            </a:r>
            <a:r>
              <a:rPr lang="en-US" sz="11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slurmjob</a:t>
            </a: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</a:t>
            </a:r>
            <a:r>
              <a:rPr lang="en-US" sz="11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j.out</a:t>
            </a: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-%N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#SBATCH -e </a:t>
            </a:r>
            <a:r>
              <a:rPr lang="en-US" sz="11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slurmjob</a:t>
            </a: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</a:t>
            </a:r>
            <a:r>
              <a:rPr lang="en-US" sz="1100" kern="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j.err</a:t>
            </a:r>
            <a:r>
              <a:rPr lang="en-US" sz="1100" kern="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-%N</a:t>
            </a: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#set up the scratch directory</a:t>
            </a:r>
          </a:p>
          <a:p>
            <a:pPr marL="0" indent="0">
              <a:buFontTx/>
              <a:buNone/>
            </a:pPr>
            <a:r>
              <a:rPr lang="en-US" sz="1100" kern="0" dirty="0">
                <a:latin typeface="Consolas" panose="020B0609020204030204" pitchFamily="49" charset="0"/>
                <a:cs typeface="Consolas" panose="020B0609020204030204" pitchFamily="49" charset="0"/>
              </a:rPr>
              <a:t>set SCRDIR /scratch/local/$USER/$SLURM_JOB_ID</a:t>
            </a:r>
          </a:p>
          <a:p>
            <a:pPr marL="0" indent="0">
              <a:buFontTx/>
              <a:buNone/>
            </a:pPr>
            <a:r>
              <a:rPr lang="en-US" sz="110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mkdir</a:t>
            </a:r>
            <a:r>
              <a:rPr lang="en-US" sz="1100" kern="0" dirty="0">
                <a:latin typeface="Consolas" panose="020B0609020204030204" pitchFamily="49" charset="0"/>
                <a:cs typeface="Consolas" panose="020B0609020204030204" pitchFamily="49" charset="0"/>
              </a:rPr>
              <a:t> -p $SCRDIR</a:t>
            </a:r>
          </a:p>
          <a:p>
            <a:pPr marL="0" indent="0">
              <a:buFontTx/>
              <a:buNone/>
            </a:pPr>
            <a:endParaRPr lang="en-US" sz="1100" kern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#move input files into scratch directory</a:t>
            </a:r>
          </a:p>
          <a:p>
            <a:pPr marL="0" indent="0">
              <a:buFontTx/>
              <a:buNone/>
            </a:pPr>
            <a:r>
              <a:rPr lang="en-US" sz="1100" kern="0" dirty="0">
                <a:latin typeface="Consolas" panose="020B0609020204030204" pitchFamily="49" charset="0"/>
                <a:cs typeface="Consolas" panose="020B0609020204030204" pitchFamily="49" charset="0"/>
              </a:rPr>
              <a:t>cp </a:t>
            </a:r>
            <a:r>
              <a:rPr lang="en-US" sz="110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file.input</a:t>
            </a:r>
            <a:r>
              <a:rPr lang="en-US" sz="1100" kern="0" dirty="0">
                <a:latin typeface="Consolas" panose="020B0609020204030204" pitchFamily="49" charset="0"/>
                <a:cs typeface="Consolas" panose="020B0609020204030204" pitchFamily="49" charset="0"/>
              </a:rPr>
              <a:t> $SCRDIR/.</a:t>
            </a:r>
          </a:p>
          <a:p>
            <a:pPr marL="0" indent="0">
              <a:buFontTx/>
              <a:buNone/>
            </a:pPr>
            <a:r>
              <a:rPr lang="en-US" sz="1100" kern="0" dirty="0">
                <a:latin typeface="Consolas" panose="020B0609020204030204" pitchFamily="49" charset="0"/>
                <a:cs typeface="Consolas" panose="020B0609020204030204" pitchFamily="49" charset="0"/>
              </a:rPr>
              <a:t>cd $SCRDIR</a:t>
            </a:r>
            <a:endParaRPr lang="en-US" sz="1100" kern="0" dirty="0">
              <a:solidFill>
                <a:srgbClr val="0070C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FontTx/>
              <a:buNone/>
            </a:pPr>
            <a:endParaRPr lang="en-US" sz="1100" kern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#Set up whatever package we need to run with</a:t>
            </a:r>
          </a:p>
          <a:p>
            <a:pPr marL="0" indent="0">
              <a:buFontTx/>
              <a:buNone/>
            </a:pPr>
            <a:r>
              <a:rPr lang="en-US" sz="1100" kern="0" dirty="0">
                <a:latin typeface="Consolas" panose="020B0609020204030204" pitchFamily="49" charset="0"/>
                <a:cs typeface="Consolas" panose="020B0609020204030204" pitchFamily="49" charset="0"/>
              </a:rPr>
              <a:t>module load &lt;some-module&gt;</a:t>
            </a:r>
          </a:p>
          <a:p>
            <a:pPr marL="0" indent="0">
              <a:buFontTx/>
              <a:buNone/>
            </a:pPr>
            <a:endParaRPr lang="en-US" sz="1100" kern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#Run the program with our input</a:t>
            </a:r>
          </a:p>
          <a:p>
            <a:pPr marL="0" indent="0">
              <a:buFontTx/>
              <a:buNone/>
            </a:pPr>
            <a:r>
              <a:rPr lang="en-US" sz="110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myprogram</a:t>
            </a:r>
            <a:r>
              <a:rPr lang="en-US" sz="1100" kern="0" dirty="0">
                <a:latin typeface="Consolas" panose="020B0609020204030204" pitchFamily="49" charset="0"/>
                <a:cs typeface="Consolas" panose="020B0609020204030204" pitchFamily="49" charset="0"/>
              </a:rPr>
              <a:t> &lt; </a:t>
            </a:r>
            <a:r>
              <a:rPr lang="en-US" sz="110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file.input</a:t>
            </a:r>
            <a:r>
              <a:rPr lang="en-US" sz="1100" kern="0" dirty="0">
                <a:latin typeface="Consolas" panose="020B0609020204030204" pitchFamily="49" charset="0"/>
                <a:cs typeface="Consolas" panose="020B0609020204030204" pitchFamily="49" charset="0"/>
              </a:rPr>
              <a:t> &gt; </a:t>
            </a:r>
            <a:r>
              <a:rPr lang="en-US" sz="110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file.output</a:t>
            </a:r>
            <a:endParaRPr lang="en-US" sz="1100" kern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FontTx/>
              <a:buNone/>
            </a:pPr>
            <a:r>
              <a:rPr lang="en-US" sz="1100" kern="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#Move files out of working directory and clean up</a:t>
            </a:r>
            <a:endParaRPr lang="en-US" sz="1100" kern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FontTx/>
              <a:buNone/>
            </a:pPr>
            <a:r>
              <a:rPr lang="en-US" sz="1100" kern="0" dirty="0">
                <a:latin typeface="Consolas" panose="020B0609020204030204" pitchFamily="49" charset="0"/>
                <a:cs typeface="Consolas" panose="020B0609020204030204" pitchFamily="49" charset="0"/>
              </a:rPr>
              <a:t>cp </a:t>
            </a:r>
            <a:r>
              <a:rPr lang="en-US" sz="1100" kern="0" dirty="0" err="1">
                <a:latin typeface="Consolas" panose="020B0609020204030204" pitchFamily="49" charset="0"/>
                <a:cs typeface="Consolas" panose="020B0609020204030204" pitchFamily="49" charset="0"/>
              </a:rPr>
              <a:t>file.output</a:t>
            </a:r>
            <a:r>
              <a:rPr lang="en-US" sz="1100" kern="0" dirty="0">
                <a:latin typeface="Consolas" panose="020B0609020204030204" pitchFamily="49" charset="0"/>
                <a:cs typeface="Consolas" panose="020B0609020204030204" pitchFamily="49" charset="0"/>
              </a:rPr>
              <a:t> $HOME/.</a:t>
            </a:r>
          </a:p>
          <a:p>
            <a:pPr marL="0" indent="0">
              <a:buFontTx/>
              <a:buNone/>
            </a:pPr>
            <a:r>
              <a:rPr lang="en-US" sz="1100" kern="0" dirty="0">
                <a:latin typeface="Consolas" panose="020B0609020204030204" pitchFamily="49" charset="0"/>
                <a:cs typeface="Consolas" panose="020B0609020204030204" pitchFamily="49" charset="0"/>
              </a:rPr>
              <a:t>cd $HOME</a:t>
            </a:r>
          </a:p>
          <a:p>
            <a:pPr marL="0" indent="0">
              <a:buFontTx/>
              <a:buNone/>
            </a:pPr>
            <a:r>
              <a:rPr lang="en-US" sz="1100" kern="0" dirty="0">
                <a:latin typeface="Consolas" panose="020B0609020204030204" pitchFamily="49" charset="0"/>
                <a:cs typeface="Consolas" panose="020B0609020204030204" pitchFamily="49" charset="0"/>
              </a:rPr>
              <a:t>rm -rf $SCRDIR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D232DF1-58A4-1B5B-CF66-61C6C9AA5CB1}"/>
              </a:ext>
            </a:extLst>
          </p:cNvPr>
          <p:cNvSpPr/>
          <p:nvPr/>
        </p:nvSpPr>
        <p:spPr bwMode="auto">
          <a:xfrm>
            <a:off x="2057400" y="2514600"/>
            <a:ext cx="4495800" cy="1905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Arial" charset="0"/>
              <a:cs typeface="Arial" charset="0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Arial" charset="0"/>
                <a:cs typeface="Arial" charset="0"/>
              </a:rPr>
              <a:t>Done! Let’s call this file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Arial" charset="0"/>
              <a:ea typeface="Arial" charset="0"/>
              <a:cs typeface="Arial" charset="0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Arial" charset="0"/>
                <a:cs typeface="Arial" charset="0"/>
              </a:rPr>
              <a:t>FirstSlurmScript.sbatch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7165675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>
          <a:xfrm>
            <a:off x="24384" y="990600"/>
            <a:ext cx="9144000" cy="762000"/>
          </a:xfrm>
        </p:spPr>
        <p:txBody>
          <a:bodyPr/>
          <a:lstStyle/>
          <a:p>
            <a:pPr algn="ctr" eaLnBrk="1" hangingPunct="1"/>
            <a:r>
              <a:rPr lang="en-US" sz="3800" b="1" dirty="0">
                <a:solidFill>
                  <a:srgbClr val="990000"/>
                </a:solidFill>
                <a:latin typeface="Arial (Body)"/>
              </a:rPr>
              <a:t>Basic SLURM commands</a:t>
            </a:r>
            <a:br>
              <a:rPr lang="en-US" sz="4000" dirty="0"/>
            </a:br>
            <a:endParaRPr lang="en-US" sz="4000" b="1" dirty="0">
              <a:solidFill>
                <a:srgbClr val="990000"/>
              </a:solidFill>
              <a:latin typeface="+mn-lt"/>
            </a:endParaRPr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>
          <a:xfrm>
            <a:off x="0" y="1676400"/>
            <a:ext cx="9144000" cy="4876800"/>
          </a:xfrm>
        </p:spPr>
        <p:txBody>
          <a:bodyPr/>
          <a:lstStyle/>
          <a:p>
            <a:r>
              <a:rPr lang="en-US" sz="2400" b="1" dirty="0" err="1"/>
              <a:t>sbatch</a:t>
            </a:r>
            <a:r>
              <a:rPr lang="en-US" sz="2400" b="1" dirty="0"/>
              <a:t> </a:t>
            </a:r>
            <a:r>
              <a:rPr lang="en-US" sz="2400" b="1" dirty="0" err="1"/>
              <a:t>FirstSlurmScript.sbatch</a:t>
            </a:r>
            <a:r>
              <a:rPr lang="en-US" sz="2400" b="1" dirty="0"/>
              <a:t> - </a:t>
            </a:r>
            <a:r>
              <a:rPr lang="en-US" sz="2400" dirty="0"/>
              <a:t>launch a batch job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86F2E8F-9D1A-34E1-3E34-569B1A8A1C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184" y="2438400"/>
            <a:ext cx="7772400" cy="645743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09961F5-7ED8-B281-3834-2CBED724B66F}"/>
              </a:ext>
            </a:extLst>
          </p:cNvPr>
          <p:cNvCxnSpPr>
            <a:cxnSpLocks/>
          </p:cNvCxnSpPr>
          <p:nvPr/>
        </p:nvCxnSpPr>
        <p:spPr bwMode="auto">
          <a:xfrm flipV="1">
            <a:off x="3886200" y="2971800"/>
            <a:ext cx="0" cy="68580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B047BFC-120B-C026-9AC7-514E90A7F821}"/>
              </a:ext>
            </a:extLst>
          </p:cNvPr>
          <p:cNvSpPr txBox="1"/>
          <p:nvPr/>
        </p:nvSpPr>
        <p:spPr>
          <a:xfrm>
            <a:off x="3349033" y="3657600"/>
            <a:ext cx="10743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Job ID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>
          <a:xfrm>
            <a:off x="24384" y="990600"/>
            <a:ext cx="9144000" cy="762000"/>
          </a:xfrm>
        </p:spPr>
        <p:txBody>
          <a:bodyPr/>
          <a:lstStyle/>
          <a:p>
            <a:pPr algn="ctr" eaLnBrk="1" hangingPunct="1"/>
            <a:r>
              <a:rPr lang="en-US" sz="3800" b="1" dirty="0">
                <a:solidFill>
                  <a:srgbClr val="990000"/>
                </a:solidFill>
                <a:latin typeface="Arial (Body)"/>
              </a:rPr>
              <a:t>Basic SLURM commands</a:t>
            </a:r>
            <a:br>
              <a:rPr lang="en-US" sz="4000" dirty="0"/>
            </a:br>
            <a:endParaRPr lang="en-US" sz="4000" b="1" dirty="0">
              <a:solidFill>
                <a:srgbClr val="990000"/>
              </a:solidFill>
              <a:latin typeface="+mn-lt"/>
            </a:endParaRPr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>
          <a:xfrm>
            <a:off x="0" y="1453896"/>
            <a:ext cx="9144000" cy="4876800"/>
          </a:xfrm>
        </p:spPr>
        <p:txBody>
          <a:bodyPr/>
          <a:lstStyle/>
          <a:p>
            <a:r>
              <a:rPr lang="en-US" sz="2400" b="1" dirty="0" err="1"/>
              <a:t>sbatch</a:t>
            </a:r>
            <a:r>
              <a:rPr lang="en-US" sz="2400" b="1" dirty="0"/>
              <a:t> </a:t>
            </a:r>
            <a:r>
              <a:rPr lang="en-US" sz="2400" b="1" dirty="0" err="1"/>
              <a:t>FirstSlurmScript.sbatch</a:t>
            </a:r>
            <a:r>
              <a:rPr lang="en-US" sz="2400" b="1" dirty="0"/>
              <a:t> - </a:t>
            </a:r>
            <a:r>
              <a:rPr lang="en-US" sz="2400" dirty="0"/>
              <a:t>launch a batch job</a:t>
            </a:r>
          </a:p>
          <a:p>
            <a:r>
              <a:rPr lang="en-US" sz="2400" b="1" dirty="0" err="1"/>
              <a:t>squeue</a:t>
            </a:r>
            <a:r>
              <a:rPr lang="en-US" sz="2400" dirty="0"/>
              <a:t> - shows all jobs in queue</a:t>
            </a:r>
          </a:p>
          <a:p>
            <a:pPr lvl="1"/>
            <a:r>
              <a:rPr lang="en-US" sz="2000" b="1" dirty="0" err="1"/>
              <a:t>squeue</a:t>
            </a:r>
            <a:r>
              <a:rPr lang="en-US" sz="2000" b="1" dirty="0"/>
              <a:t> --me </a:t>
            </a:r>
            <a:r>
              <a:rPr lang="en-US" sz="2000" dirty="0"/>
              <a:t>- shows only your jobs</a:t>
            </a:r>
          </a:p>
          <a:p>
            <a:pPr lvl="1"/>
            <a:r>
              <a:rPr lang="en-US" sz="2000" b="1" dirty="0" err="1"/>
              <a:t>squeue</a:t>
            </a:r>
            <a:r>
              <a:rPr lang="en-US" sz="2000" b="1" dirty="0"/>
              <a:t> -u &lt;</a:t>
            </a:r>
            <a:r>
              <a:rPr lang="en-US" sz="2000" b="1" dirty="0" err="1"/>
              <a:t>uNID</a:t>
            </a:r>
            <a:r>
              <a:rPr lang="en-US" sz="2000" b="1" dirty="0"/>
              <a:t>&gt; </a:t>
            </a:r>
            <a:r>
              <a:rPr lang="en-US" sz="2000" dirty="0"/>
              <a:t>- shows only your jobs</a:t>
            </a:r>
            <a:endParaRPr lang="en-US" sz="2000" b="1" dirty="0"/>
          </a:p>
          <a:p>
            <a:pPr lvl="1"/>
            <a:r>
              <a:rPr lang="en-US" sz="2000" b="1" dirty="0" err="1"/>
              <a:t>mysqueue</a:t>
            </a:r>
            <a:r>
              <a:rPr lang="en-US" sz="2000" b="1" dirty="0">
                <a:solidFill>
                  <a:srgbClr val="FF0000"/>
                </a:solidFill>
              </a:rPr>
              <a:t>*</a:t>
            </a:r>
            <a:r>
              <a:rPr lang="en-US" sz="2000" b="1" dirty="0"/>
              <a:t> - </a:t>
            </a:r>
            <a:r>
              <a:rPr lang="en-US" sz="2000" dirty="0"/>
              <a:t>shows</a:t>
            </a:r>
            <a:r>
              <a:rPr lang="en-US" sz="2000" b="1" dirty="0"/>
              <a:t> </a:t>
            </a:r>
            <a:r>
              <a:rPr lang="en-US" sz="2000" dirty="0"/>
              <a:t>job queue per partition and associated accounts you have access to on the cluster</a:t>
            </a:r>
            <a:endParaRPr lang="en-US" sz="5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7D49DE-BEEA-77E2-CDE9-FA4079EFF20A}"/>
              </a:ext>
            </a:extLst>
          </p:cNvPr>
          <p:cNvSpPr txBox="1"/>
          <p:nvPr/>
        </p:nvSpPr>
        <p:spPr>
          <a:xfrm>
            <a:off x="24384" y="6096000"/>
            <a:ext cx="56906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</a:rPr>
              <a:t>*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Arial"/>
                <a:cs typeface="Arial"/>
              </a:rPr>
              <a:t>CHPC developed programs. See 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Arial"/>
                <a:cs typeface="Arial"/>
                <a:hlinkClick r:id="rId3"/>
              </a:rPr>
              <a:t>CHPC Newsletter 2023 Summer 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545454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28149599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>
          <a:xfrm>
            <a:off x="24384" y="990600"/>
            <a:ext cx="9144000" cy="762000"/>
          </a:xfrm>
        </p:spPr>
        <p:txBody>
          <a:bodyPr/>
          <a:lstStyle/>
          <a:p>
            <a:pPr algn="ctr" eaLnBrk="1" hangingPunct="1"/>
            <a:r>
              <a:rPr lang="en-US" sz="3800" b="1" dirty="0">
                <a:solidFill>
                  <a:srgbClr val="990000"/>
                </a:solidFill>
                <a:latin typeface="Arial (Body)"/>
              </a:rPr>
              <a:t>Basic SLURM commands</a:t>
            </a:r>
            <a:br>
              <a:rPr lang="en-US" sz="4000" dirty="0"/>
            </a:br>
            <a:endParaRPr lang="en-US" sz="4000" b="1" dirty="0">
              <a:solidFill>
                <a:srgbClr val="990000"/>
              </a:solidFill>
              <a:latin typeface="+mn-lt"/>
            </a:endParaRPr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>
          <a:xfrm>
            <a:off x="0" y="1453896"/>
            <a:ext cx="9144000" cy="4876800"/>
          </a:xfrm>
        </p:spPr>
        <p:txBody>
          <a:bodyPr/>
          <a:lstStyle/>
          <a:p>
            <a:r>
              <a:rPr lang="en-US" sz="2400" b="1" dirty="0" err="1"/>
              <a:t>sbatch</a:t>
            </a:r>
            <a:r>
              <a:rPr lang="en-US" sz="2400" b="1" dirty="0"/>
              <a:t> </a:t>
            </a:r>
            <a:r>
              <a:rPr lang="en-US" sz="2400" b="1" dirty="0" err="1"/>
              <a:t>FirstSlurmScript.sbatch</a:t>
            </a:r>
            <a:r>
              <a:rPr lang="en-US" sz="2400" b="1" dirty="0"/>
              <a:t> - </a:t>
            </a:r>
            <a:r>
              <a:rPr lang="en-US" sz="2400" dirty="0"/>
              <a:t>launch a batch job</a:t>
            </a:r>
          </a:p>
          <a:p>
            <a:r>
              <a:rPr lang="en-US" sz="2400" b="1" dirty="0" err="1"/>
              <a:t>squeue</a:t>
            </a:r>
            <a:r>
              <a:rPr lang="en-US" sz="2400" dirty="0"/>
              <a:t> - shows all jobs in queue</a:t>
            </a:r>
          </a:p>
          <a:p>
            <a:pPr lvl="1"/>
            <a:r>
              <a:rPr lang="en-US" sz="2000" b="1" dirty="0" err="1"/>
              <a:t>squeue</a:t>
            </a:r>
            <a:r>
              <a:rPr lang="en-US" sz="2000" b="1" dirty="0"/>
              <a:t> --me </a:t>
            </a:r>
            <a:r>
              <a:rPr lang="en-US" sz="2000" dirty="0"/>
              <a:t>- shows only your jobs</a:t>
            </a:r>
          </a:p>
          <a:p>
            <a:pPr lvl="1"/>
            <a:r>
              <a:rPr lang="en-US" sz="2000" b="1" dirty="0" err="1"/>
              <a:t>squeue</a:t>
            </a:r>
            <a:r>
              <a:rPr lang="en-US" sz="2000" b="1" dirty="0"/>
              <a:t> -u &lt;</a:t>
            </a:r>
            <a:r>
              <a:rPr lang="en-US" sz="2000" b="1" dirty="0" err="1"/>
              <a:t>uNID</a:t>
            </a:r>
            <a:r>
              <a:rPr lang="en-US" sz="2000" b="1" dirty="0"/>
              <a:t>&gt; </a:t>
            </a:r>
            <a:r>
              <a:rPr lang="en-US" sz="2000" dirty="0"/>
              <a:t>- shows only your jobs</a:t>
            </a:r>
          </a:p>
          <a:p>
            <a:pPr lvl="1"/>
            <a:r>
              <a:rPr lang="en-US" sz="2000" b="1" dirty="0" err="1"/>
              <a:t>mysqueue</a:t>
            </a:r>
            <a:r>
              <a:rPr lang="en-US" sz="2000" b="1" dirty="0">
                <a:solidFill>
                  <a:srgbClr val="FF0000"/>
                </a:solidFill>
              </a:rPr>
              <a:t>*</a:t>
            </a:r>
            <a:r>
              <a:rPr lang="en-US" sz="2000" b="1" dirty="0"/>
              <a:t> - </a:t>
            </a:r>
            <a:r>
              <a:rPr lang="en-US" sz="2000" dirty="0"/>
              <a:t>shows</a:t>
            </a:r>
            <a:r>
              <a:rPr lang="en-US" sz="2000" b="1" dirty="0"/>
              <a:t> </a:t>
            </a:r>
            <a:r>
              <a:rPr lang="en-US" sz="2000" dirty="0"/>
              <a:t>job queue per partition and associated accounts you have access to on the cluster</a:t>
            </a:r>
          </a:p>
          <a:p>
            <a:r>
              <a:rPr lang="en-US" sz="2400" b="1" dirty="0" err="1"/>
              <a:t>scancel</a:t>
            </a:r>
            <a:r>
              <a:rPr lang="en-US" sz="2400" b="1" dirty="0"/>
              <a:t> &lt;</a:t>
            </a:r>
            <a:r>
              <a:rPr lang="en-US" sz="2400" b="1" dirty="0" err="1"/>
              <a:t>jobid</a:t>
            </a:r>
            <a:r>
              <a:rPr lang="en-US" sz="2400" b="1" dirty="0"/>
              <a:t>&gt; </a:t>
            </a:r>
            <a:r>
              <a:rPr lang="en-US" sz="2400" dirty="0"/>
              <a:t>- cancel a job</a:t>
            </a:r>
          </a:p>
          <a:p>
            <a:pPr marL="0" indent="0">
              <a:buNone/>
            </a:pPr>
            <a:endParaRPr lang="en-US" sz="500" dirty="0"/>
          </a:p>
          <a:p>
            <a:pPr marL="0" indent="0">
              <a:buNone/>
            </a:pPr>
            <a:endParaRPr lang="en-US" sz="500" dirty="0"/>
          </a:p>
          <a:p>
            <a:pPr marL="0" indent="0">
              <a:buNone/>
            </a:pPr>
            <a:endParaRPr lang="en-US" sz="140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sz="140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sz="140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sz="140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sz="140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sz="140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sz="14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FF0000"/>
                </a:solidFill>
              </a:rPr>
              <a:t>*</a:t>
            </a:r>
            <a:r>
              <a:rPr lang="en-US" sz="1400" dirty="0"/>
              <a:t>CHPC developed programs. See </a:t>
            </a:r>
            <a:r>
              <a:rPr lang="en-US" sz="1400" dirty="0">
                <a:hlinkClick r:id="rId3"/>
              </a:rPr>
              <a:t>CHPC Newsletter 2023 Summer </a:t>
            </a:r>
            <a:endParaRPr lang="en-US" sz="14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BCBA16B-19C9-031F-903A-5988B3A25C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184" y="4341769"/>
            <a:ext cx="7772400" cy="64574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DF5791C-0066-9229-5C92-4FA76A4E62DB}"/>
              </a:ext>
            </a:extLst>
          </p:cNvPr>
          <p:cNvSpPr txBox="1"/>
          <p:nvPr/>
        </p:nvSpPr>
        <p:spPr>
          <a:xfrm>
            <a:off x="2895600" y="5105400"/>
            <a:ext cx="29033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scancel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13335248</a:t>
            </a:r>
          </a:p>
        </p:txBody>
      </p:sp>
    </p:spTree>
    <p:extLst>
      <p:ext uri="{BB962C8B-B14F-4D97-AF65-F5344CB8AC3E}">
        <p14:creationId xmlns:p14="http://schemas.microsoft.com/office/powerpoint/2010/main" val="402291170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 txBox="1">
            <a:spLocks noGrp="1"/>
          </p:cNvSpPr>
          <p:nvPr>
            <p:ph type="title"/>
          </p:nvPr>
        </p:nvSpPr>
        <p:spPr>
          <a:xfrm>
            <a:off x="0" y="1078848"/>
            <a:ext cx="9144000" cy="838201"/>
          </a:xfrm>
          <a:prstGeom prst="rect">
            <a:avLst/>
          </a:prstGeom>
          <a:noFill/>
          <a:ln>
            <a:noFill/>
          </a:ln>
        </p:spPr>
        <p:txBody>
          <a:bodyPr lIns="64275" tIns="64275" rIns="64275" bIns="64275" anchor="ctr" anchorCtr="0">
            <a:noAutofit/>
          </a:bodyPr>
          <a:lstStyle/>
          <a:p>
            <a:pPr marL="0" marR="0" lvl="0" indent="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lang="en-US" sz="4000" b="1" dirty="0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  <a:rtl val="0"/>
              </a:rPr>
              <a:t>Overview of Talk</a:t>
            </a:r>
            <a:endParaRPr lang="en-US" sz="4000" b="1" i="0" u="none" strike="noStrike" cap="none" baseline="0" dirty="0">
              <a:solidFill>
                <a:srgbClr val="990000"/>
              </a:solidFill>
              <a:latin typeface="Arial"/>
              <a:ea typeface="Arial"/>
              <a:cs typeface="Arial"/>
              <a:sym typeface="Arial"/>
              <a:rtl val="0"/>
            </a:endParaRPr>
          </a:p>
        </p:txBody>
      </p:sp>
      <p:sp>
        <p:nvSpPr>
          <p:cNvPr id="5" name="Shape 34"/>
          <p:cNvSpPr txBox="1">
            <a:spLocks noGrp="1"/>
          </p:cNvSpPr>
          <p:nvPr>
            <p:ph type="body" idx="1"/>
          </p:nvPr>
        </p:nvSpPr>
        <p:spPr>
          <a:xfrm>
            <a:off x="0" y="1752600"/>
            <a:ext cx="9005776" cy="5105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452438"/>
            <a:r>
              <a:rPr lang="en-US" sz="2400" dirty="0">
                <a:solidFill>
                  <a:schemeClr val="tx1"/>
                </a:solidFill>
                <a:sym typeface="Arial"/>
                <a:rtl val="0"/>
              </a:rPr>
              <a:t>Overview</a:t>
            </a:r>
          </a:p>
          <a:p>
            <a:pPr marL="452438"/>
            <a:r>
              <a:rPr lang="en-US" sz="2400" dirty="0">
                <a:solidFill>
                  <a:schemeClr val="tx1"/>
                </a:solidFill>
                <a:sym typeface="Arial"/>
                <a:rtl val="0"/>
              </a:rPr>
              <a:t>Basics of a </a:t>
            </a:r>
            <a:r>
              <a:rPr lang="en-US" sz="2400" dirty="0" err="1">
                <a:solidFill>
                  <a:schemeClr val="tx1"/>
                </a:solidFill>
                <a:sym typeface="Arial"/>
                <a:rtl val="0"/>
              </a:rPr>
              <a:t>Slurm</a:t>
            </a:r>
            <a:r>
              <a:rPr lang="en-US" sz="2400" dirty="0">
                <a:solidFill>
                  <a:schemeClr val="tx1"/>
                </a:solidFill>
                <a:sym typeface="Arial"/>
                <a:rtl val="0"/>
              </a:rPr>
              <a:t> Script</a:t>
            </a:r>
          </a:p>
          <a:p>
            <a:pPr marL="452438"/>
            <a:r>
              <a:rPr lang="en-US" sz="2400" dirty="0">
                <a:solidFill>
                  <a:schemeClr val="accent2"/>
                </a:solidFill>
                <a:sym typeface="Arial"/>
                <a:rtl val="0"/>
              </a:rPr>
              <a:t>Getting Started</a:t>
            </a:r>
          </a:p>
          <a:p>
            <a:pPr marL="452438"/>
            <a:r>
              <a:rPr lang="en-US" sz="2400" dirty="0">
                <a:solidFill>
                  <a:schemeClr val="tx1"/>
                </a:solidFill>
                <a:sym typeface="Arial"/>
                <a:rtl val="0"/>
              </a:rPr>
              <a:t>Example Dataset</a:t>
            </a:r>
          </a:p>
          <a:p>
            <a:pPr marL="452438"/>
            <a:r>
              <a:rPr lang="en-US" sz="2400" dirty="0">
                <a:solidFill>
                  <a:schemeClr val="tx1"/>
                </a:solidFill>
                <a:sym typeface="Arial"/>
                <a:rtl val="0"/>
              </a:rPr>
              <a:t>Hands On: Batch Scripting</a:t>
            </a:r>
          </a:p>
          <a:p>
            <a:pPr marL="852488" lvl="1"/>
            <a:r>
              <a:rPr lang="en-US" sz="2000" dirty="0">
                <a:solidFill>
                  <a:schemeClr val="tx1"/>
                </a:solidFill>
                <a:sym typeface="Arial"/>
                <a:rtl val="0"/>
              </a:rPr>
              <a:t>#1: Submitting to </a:t>
            </a:r>
            <a:r>
              <a:rPr lang="en-US" sz="2000" dirty="0" err="1">
                <a:solidFill>
                  <a:schemeClr val="tx1"/>
                </a:solidFill>
                <a:sym typeface="Arial"/>
                <a:rtl val="0"/>
              </a:rPr>
              <a:t>Notchpeak</a:t>
            </a:r>
            <a:r>
              <a:rPr lang="en-US" sz="2000" dirty="0">
                <a:solidFill>
                  <a:schemeClr val="tx1"/>
                </a:solidFill>
                <a:sym typeface="Arial"/>
                <a:rtl val="0"/>
              </a:rPr>
              <a:t> Cluster</a:t>
            </a:r>
          </a:p>
          <a:p>
            <a:pPr marL="852488" lvl="1"/>
            <a:r>
              <a:rPr lang="en-US" sz="2000" dirty="0">
                <a:solidFill>
                  <a:schemeClr val="tx1"/>
                </a:solidFill>
                <a:sym typeface="Arial"/>
                <a:rtl val="0"/>
              </a:rPr>
              <a:t>#2: Submitting to Owner Nodes</a:t>
            </a:r>
          </a:p>
          <a:p>
            <a:pPr marL="452438"/>
            <a:r>
              <a:rPr lang="en-US" sz="2400" dirty="0">
                <a:solidFill>
                  <a:schemeClr val="tx1"/>
                </a:solidFill>
                <a:sym typeface="Arial"/>
                <a:rtl val="0"/>
              </a:rPr>
              <a:t>Hands On #3: Start an Interactive Job</a:t>
            </a:r>
          </a:p>
          <a:p>
            <a:pPr marL="452438"/>
            <a:r>
              <a:rPr lang="en-US" sz="2400" dirty="0">
                <a:solidFill>
                  <a:schemeClr val="tx1"/>
                </a:solidFill>
                <a:sym typeface="Arial"/>
                <a:rtl val="0"/>
              </a:rPr>
              <a:t>Hands On #4: Open OnDemand’s Job Composer</a:t>
            </a:r>
          </a:p>
        </p:txBody>
      </p:sp>
    </p:spTree>
    <p:extLst>
      <p:ext uri="{BB962C8B-B14F-4D97-AF65-F5344CB8AC3E}">
        <p14:creationId xmlns:p14="http://schemas.microsoft.com/office/powerpoint/2010/main" val="1180680042"/>
      </p:ext>
    </p:extLst>
  </p:cSld>
  <p:clrMapOvr>
    <a:masterClrMapping/>
  </p:clrMapOvr>
  <p:transition spd="slow">
    <p:cut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 txBox="1">
            <a:spLocks noGrp="1"/>
          </p:cNvSpPr>
          <p:nvPr>
            <p:ph type="title"/>
          </p:nvPr>
        </p:nvSpPr>
        <p:spPr>
          <a:xfrm>
            <a:off x="0" y="1078848"/>
            <a:ext cx="9144000" cy="838201"/>
          </a:xfrm>
          <a:prstGeom prst="rect">
            <a:avLst/>
          </a:prstGeom>
          <a:noFill/>
          <a:ln>
            <a:noFill/>
          </a:ln>
        </p:spPr>
        <p:txBody>
          <a:bodyPr lIns="64275" tIns="64275" rIns="64275" bIns="64275" anchor="ctr" anchorCtr="0">
            <a:noAutofit/>
          </a:bodyPr>
          <a:lstStyle/>
          <a:p>
            <a:pPr marL="0" marR="0" lvl="0" indent="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lang="en-US" sz="4000" b="1" dirty="0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  <a:rtl val="0"/>
              </a:rPr>
              <a:t>Getting Started</a:t>
            </a:r>
            <a:endParaRPr lang="en-US" sz="4000" b="1" i="0" u="none" strike="noStrike" cap="none" baseline="0" dirty="0">
              <a:solidFill>
                <a:srgbClr val="990000"/>
              </a:solidFill>
              <a:latin typeface="Arial"/>
              <a:ea typeface="Arial"/>
              <a:cs typeface="Arial"/>
              <a:sym typeface="Arial"/>
              <a:rtl val="0"/>
            </a:endParaRPr>
          </a:p>
        </p:txBody>
      </p:sp>
      <p:sp>
        <p:nvSpPr>
          <p:cNvPr id="5" name="Shape 34"/>
          <p:cNvSpPr txBox="1">
            <a:spLocks noGrp="1"/>
          </p:cNvSpPr>
          <p:nvPr>
            <p:ph type="body" idx="1"/>
          </p:nvPr>
        </p:nvSpPr>
        <p:spPr>
          <a:xfrm>
            <a:off x="0" y="1752600"/>
            <a:ext cx="9005776" cy="5105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452438"/>
            <a:r>
              <a:rPr lang="en-US" sz="2400" dirty="0">
                <a:solidFill>
                  <a:schemeClr val="tx1"/>
                </a:solidFill>
                <a:sym typeface="Arial"/>
                <a:rtl val="0"/>
              </a:rPr>
              <a:t>Download </a:t>
            </a:r>
            <a:r>
              <a:rPr lang="en-US" sz="2400" dirty="0" err="1">
                <a:solidFill>
                  <a:schemeClr val="tx1"/>
                </a:solidFill>
                <a:sym typeface="Arial"/>
                <a:rtl val="0"/>
              </a:rPr>
              <a:t>github</a:t>
            </a:r>
            <a:r>
              <a:rPr lang="en-US" sz="2400">
                <a:solidFill>
                  <a:schemeClr val="tx1"/>
                </a:solidFill>
                <a:sym typeface="Arial"/>
                <a:rtl val="0"/>
              </a:rPr>
              <a:t> repo:</a:t>
            </a:r>
            <a:endParaRPr lang="en-US" sz="2400" dirty="0">
              <a:solidFill>
                <a:schemeClr val="tx1"/>
              </a:solidFill>
              <a:sym typeface="Arial"/>
              <a:rtl val="0"/>
            </a:endParaRPr>
          </a:p>
          <a:p>
            <a:pPr marL="452438"/>
            <a:r>
              <a:rPr lang="en-US" sz="2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Arial"/>
                <a:rtl val="0"/>
              </a:rPr>
              <a:t>git clone </a:t>
            </a:r>
            <a:r>
              <a:rPr lang="en-US" sz="2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Arial"/>
                <a:hlinkClick r:id="rId3"/>
                <a:rtl val="0"/>
              </a:rPr>
              <a:t>https://github.com/chpc-uofu/slurm-lectures.git</a:t>
            </a:r>
            <a:endParaRPr lang="en-US" sz="2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  <a:sym typeface="Arial"/>
              <a:rtl val="0"/>
            </a:endParaRPr>
          </a:p>
        </p:txBody>
      </p:sp>
    </p:spTree>
    <p:extLst>
      <p:ext uri="{BB962C8B-B14F-4D97-AF65-F5344CB8AC3E}">
        <p14:creationId xmlns:p14="http://schemas.microsoft.com/office/powerpoint/2010/main" val="580475800"/>
      </p:ext>
    </p:extLst>
  </p:cSld>
  <p:clrMapOvr>
    <a:masterClrMapping/>
  </p:clrMapOvr>
  <p:transition spd="slow">
    <p:cut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 txBox="1">
            <a:spLocks noGrp="1"/>
          </p:cNvSpPr>
          <p:nvPr>
            <p:ph type="title"/>
          </p:nvPr>
        </p:nvSpPr>
        <p:spPr>
          <a:xfrm>
            <a:off x="0" y="1078848"/>
            <a:ext cx="9144000" cy="838201"/>
          </a:xfrm>
          <a:prstGeom prst="rect">
            <a:avLst/>
          </a:prstGeom>
          <a:noFill/>
          <a:ln>
            <a:noFill/>
          </a:ln>
        </p:spPr>
        <p:txBody>
          <a:bodyPr lIns="64275" tIns="64275" rIns="64275" bIns="64275" anchor="ctr" anchorCtr="0">
            <a:noAutofit/>
          </a:bodyPr>
          <a:lstStyle/>
          <a:p>
            <a:pPr marL="0" marR="0" lvl="0" indent="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lang="en-US" sz="4000" b="1" dirty="0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  <a:rtl val="0"/>
              </a:rPr>
              <a:t>Overview of Talk</a:t>
            </a:r>
            <a:endParaRPr lang="en-US" sz="4000" b="1" i="0" u="none" strike="noStrike" cap="none" baseline="0" dirty="0">
              <a:solidFill>
                <a:srgbClr val="990000"/>
              </a:solidFill>
              <a:latin typeface="Arial"/>
              <a:ea typeface="Arial"/>
              <a:cs typeface="Arial"/>
              <a:sym typeface="Arial"/>
              <a:rtl val="0"/>
            </a:endParaRPr>
          </a:p>
        </p:txBody>
      </p:sp>
      <p:sp>
        <p:nvSpPr>
          <p:cNvPr id="5" name="Shape 34"/>
          <p:cNvSpPr txBox="1">
            <a:spLocks noGrp="1"/>
          </p:cNvSpPr>
          <p:nvPr>
            <p:ph type="body" idx="1"/>
          </p:nvPr>
        </p:nvSpPr>
        <p:spPr>
          <a:xfrm>
            <a:off x="0" y="1752600"/>
            <a:ext cx="9005776" cy="5105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452438"/>
            <a:r>
              <a:rPr lang="en-US" sz="2400" dirty="0">
                <a:solidFill>
                  <a:schemeClr val="tx1"/>
                </a:solidFill>
                <a:sym typeface="Arial"/>
                <a:rtl val="0"/>
              </a:rPr>
              <a:t>Overview</a:t>
            </a:r>
          </a:p>
          <a:p>
            <a:pPr marL="452438"/>
            <a:r>
              <a:rPr lang="en-US" sz="2400" dirty="0">
                <a:solidFill>
                  <a:schemeClr val="tx1"/>
                </a:solidFill>
                <a:sym typeface="Arial"/>
                <a:rtl val="0"/>
              </a:rPr>
              <a:t>Basics of a </a:t>
            </a:r>
            <a:r>
              <a:rPr lang="en-US" sz="2400" dirty="0" err="1">
                <a:solidFill>
                  <a:schemeClr val="tx1"/>
                </a:solidFill>
                <a:sym typeface="Arial"/>
                <a:rtl val="0"/>
              </a:rPr>
              <a:t>Slurm</a:t>
            </a:r>
            <a:r>
              <a:rPr lang="en-US" sz="2400" dirty="0">
                <a:solidFill>
                  <a:schemeClr val="tx1"/>
                </a:solidFill>
                <a:sym typeface="Arial"/>
                <a:rtl val="0"/>
              </a:rPr>
              <a:t> Script</a:t>
            </a:r>
          </a:p>
          <a:p>
            <a:pPr marL="452438"/>
            <a:r>
              <a:rPr lang="en-US" sz="2400" dirty="0">
                <a:solidFill>
                  <a:schemeClr val="tx1"/>
                </a:solidFill>
                <a:sym typeface="Arial"/>
                <a:rtl val="0"/>
              </a:rPr>
              <a:t>Getting Started</a:t>
            </a:r>
          </a:p>
          <a:p>
            <a:pPr marL="452438"/>
            <a:r>
              <a:rPr lang="en-US" sz="2400" dirty="0">
                <a:solidFill>
                  <a:schemeClr val="accent2"/>
                </a:solidFill>
                <a:sym typeface="Arial"/>
                <a:rtl val="0"/>
              </a:rPr>
              <a:t>Example Dataset</a:t>
            </a:r>
          </a:p>
          <a:p>
            <a:pPr marL="452438"/>
            <a:r>
              <a:rPr lang="en-US" sz="2400" dirty="0">
                <a:solidFill>
                  <a:schemeClr val="tx1"/>
                </a:solidFill>
                <a:sym typeface="Arial"/>
                <a:rtl val="0"/>
              </a:rPr>
              <a:t>Hands On: Batch Scripting</a:t>
            </a:r>
          </a:p>
          <a:p>
            <a:pPr marL="852488" lvl="1"/>
            <a:r>
              <a:rPr lang="en-US" sz="2000" dirty="0">
                <a:solidFill>
                  <a:schemeClr val="tx1"/>
                </a:solidFill>
                <a:sym typeface="Arial"/>
                <a:rtl val="0"/>
              </a:rPr>
              <a:t>#1: Submitting to </a:t>
            </a:r>
            <a:r>
              <a:rPr lang="en-US" sz="2000" dirty="0" err="1">
                <a:solidFill>
                  <a:schemeClr val="tx1"/>
                </a:solidFill>
                <a:sym typeface="Arial"/>
                <a:rtl val="0"/>
              </a:rPr>
              <a:t>Notchpeak</a:t>
            </a:r>
            <a:r>
              <a:rPr lang="en-US" sz="2000" dirty="0">
                <a:solidFill>
                  <a:schemeClr val="tx1"/>
                </a:solidFill>
                <a:sym typeface="Arial"/>
                <a:rtl val="0"/>
              </a:rPr>
              <a:t> Cluster</a:t>
            </a:r>
          </a:p>
          <a:p>
            <a:pPr marL="852488" lvl="1"/>
            <a:r>
              <a:rPr lang="en-US" sz="2000" dirty="0">
                <a:solidFill>
                  <a:schemeClr val="tx1"/>
                </a:solidFill>
                <a:sym typeface="Arial"/>
                <a:rtl val="0"/>
              </a:rPr>
              <a:t>#2: Submitting to Owner Nodes</a:t>
            </a:r>
          </a:p>
          <a:p>
            <a:pPr marL="452438"/>
            <a:r>
              <a:rPr lang="en-US" sz="2400" dirty="0">
                <a:solidFill>
                  <a:schemeClr val="tx1"/>
                </a:solidFill>
                <a:sym typeface="Arial"/>
                <a:rtl val="0"/>
              </a:rPr>
              <a:t>Hands On #3: Start an Interactive Job</a:t>
            </a:r>
          </a:p>
          <a:p>
            <a:pPr marL="452438"/>
            <a:r>
              <a:rPr lang="en-US" sz="2400" dirty="0">
                <a:solidFill>
                  <a:schemeClr val="tx1"/>
                </a:solidFill>
                <a:sym typeface="Arial"/>
                <a:rtl val="0"/>
              </a:rPr>
              <a:t>Hands On #4: Open OnDemand’s Job Composer</a:t>
            </a:r>
          </a:p>
        </p:txBody>
      </p:sp>
    </p:spTree>
    <p:extLst>
      <p:ext uri="{BB962C8B-B14F-4D97-AF65-F5344CB8AC3E}">
        <p14:creationId xmlns:p14="http://schemas.microsoft.com/office/powerpoint/2010/main" val="2131987983"/>
      </p:ext>
    </p:extLst>
  </p:cSld>
  <p:clrMapOvr>
    <a:masterClrMapping/>
  </p:clrMapOvr>
  <p:transition spd="slow">
    <p:cut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 txBox="1">
            <a:spLocks noGrp="1"/>
          </p:cNvSpPr>
          <p:nvPr>
            <p:ph type="title"/>
          </p:nvPr>
        </p:nvSpPr>
        <p:spPr>
          <a:xfrm>
            <a:off x="0" y="1078848"/>
            <a:ext cx="9144000" cy="838201"/>
          </a:xfrm>
          <a:prstGeom prst="rect">
            <a:avLst/>
          </a:prstGeom>
          <a:noFill/>
          <a:ln>
            <a:noFill/>
          </a:ln>
        </p:spPr>
        <p:txBody>
          <a:bodyPr lIns="64275" tIns="64275" rIns="64275" bIns="64275" anchor="ctr" anchorCtr="0">
            <a:noAutofit/>
          </a:bodyPr>
          <a:lstStyle/>
          <a:p>
            <a:pPr marL="0" marR="0" lvl="0" indent="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lang="en-US" sz="4000" b="1" dirty="0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  <a:rtl val="0"/>
              </a:rPr>
              <a:t>Example Dataset</a:t>
            </a:r>
            <a:endParaRPr lang="en-US" sz="4000" b="1" i="0" u="none" strike="noStrike" cap="none" baseline="0" dirty="0">
              <a:solidFill>
                <a:srgbClr val="990000"/>
              </a:solidFill>
              <a:latin typeface="Arial"/>
              <a:ea typeface="Arial"/>
              <a:cs typeface="Arial"/>
              <a:sym typeface="Arial"/>
              <a:rtl val="0"/>
            </a:endParaRPr>
          </a:p>
        </p:txBody>
      </p:sp>
      <p:sp>
        <p:nvSpPr>
          <p:cNvPr id="5" name="Shape 34"/>
          <p:cNvSpPr txBox="1">
            <a:spLocks noGrp="1"/>
          </p:cNvSpPr>
          <p:nvPr>
            <p:ph type="body" idx="1"/>
          </p:nvPr>
        </p:nvSpPr>
        <p:spPr>
          <a:xfrm>
            <a:off x="0" y="1752600"/>
            <a:ext cx="9005776" cy="5105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452438"/>
            <a:r>
              <a:rPr lang="en-US" sz="2400" dirty="0">
                <a:solidFill>
                  <a:schemeClr val="tx1"/>
                </a:solidFill>
                <a:sym typeface="Arial"/>
                <a:rtl val="0"/>
              </a:rPr>
              <a:t>R has built-in datasets</a:t>
            </a:r>
          </a:p>
          <a:p>
            <a:pPr marL="452438"/>
            <a:r>
              <a:rPr lang="en-US" sz="2400" dirty="0">
                <a:solidFill>
                  <a:schemeClr val="tx1"/>
                </a:solidFill>
                <a:sym typeface="Arial"/>
                <a:rtl val="0"/>
              </a:rPr>
              <a:t>Using the </a:t>
            </a:r>
            <a:r>
              <a:rPr lang="en-US" sz="2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Arial"/>
                <a:rtl val="0"/>
              </a:rPr>
              <a:t>iris</a:t>
            </a:r>
            <a:r>
              <a:rPr lang="en-US" sz="2400" dirty="0">
                <a:solidFill>
                  <a:schemeClr val="tx1"/>
                </a:solidFill>
                <a:sym typeface="Arial"/>
                <a:rtl val="0"/>
              </a:rPr>
              <a:t> dataset</a:t>
            </a:r>
          </a:p>
          <a:p>
            <a:pPr marL="452438"/>
            <a:endParaRPr lang="en-US" sz="2400" dirty="0">
              <a:solidFill>
                <a:schemeClr val="tx1"/>
              </a:solidFill>
              <a:sym typeface="Arial"/>
              <a:rtl val="0"/>
            </a:endParaRPr>
          </a:p>
          <a:p>
            <a:pPr marL="452438"/>
            <a:endParaRPr lang="en-US" sz="2400" dirty="0">
              <a:solidFill>
                <a:schemeClr val="tx1"/>
              </a:solidFill>
              <a:sym typeface="Arial"/>
              <a:rtl val="0"/>
            </a:endParaRPr>
          </a:p>
          <a:p>
            <a:pPr marL="452438"/>
            <a:endParaRPr lang="en-US" sz="2400" dirty="0">
              <a:solidFill>
                <a:schemeClr val="tx1"/>
              </a:solidFill>
              <a:sym typeface="Arial"/>
              <a:rtl val="0"/>
            </a:endParaRPr>
          </a:p>
          <a:p>
            <a:pPr marL="109538" indent="0">
              <a:buNone/>
            </a:pPr>
            <a:endParaRPr lang="en-US" sz="2400" dirty="0">
              <a:solidFill>
                <a:schemeClr val="tx1"/>
              </a:solidFill>
              <a:sym typeface="Arial"/>
              <a:rtl val="0"/>
            </a:endParaRPr>
          </a:p>
          <a:p>
            <a:pPr marL="109538" indent="0">
              <a:buNone/>
            </a:pPr>
            <a:endParaRPr lang="en-US" sz="2400" dirty="0">
              <a:solidFill>
                <a:schemeClr val="tx1"/>
              </a:solidFill>
              <a:sym typeface="Arial"/>
              <a:rtl val="0"/>
            </a:endParaRPr>
          </a:p>
          <a:p>
            <a:pPr marL="452438"/>
            <a:endParaRPr lang="en-US" sz="2400" dirty="0">
              <a:solidFill>
                <a:schemeClr val="tx1"/>
              </a:solidFill>
              <a:sym typeface="Arial"/>
              <a:rtl val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sz="2400" b="0" i="0" u="none" strike="noStrike" cap="none" baseline="0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  <a:rtl val="0"/>
            </a:endParaRPr>
          </a:p>
        </p:txBody>
      </p:sp>
      <p:pic>
        <p:nvPicPr>
          <p:cNvPr id="3" name="Picture 2" descr="A black and white screen with white text&#10;&#10;Description automatically generated">
            <a:extLst>
              <a:ext uri="{FF2B5EF4-FFF2-40B4-BE49-F238E27FC236}">
                <a16:creationId xmlns:a16="http://schemas.microsoft.com/office/drawing/2014/main" id="{0DBE846F-75C5-D40B-5A10-194B72AAC7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207" y="2895600"/>
            <a:ext cx="7777586" cy="2145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994150"/>
      </p:ext>
    </p:extLst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 txBox="1">
            <a:spLocks noGrp="1"/>
          </p:cNvSpPr>
          <p:nvPr>
            <p:ph type="title"/>
          </p:nvPr>
        </p:nvSpPr>
        <p:spPr>
          <a:xfrm>
            <a:off x="0" y="1078848"/>
            <a:ext cx="9144000" cy="838201"/>
          </a:xfrm>
          <a:prstGeom prst="rect">
            <a:avLst/>
          </a:prstGeom>
          <a:noFill/>
          <a:ln>
            <a:noFill/>
          </a:ln>
        </p:spPr>
        <p:txBody>
          <a:bodyPr lIns="64275" tIns="64275" rIns="64275" bIns="64275" anchor="ctr" anchorCtr="0">
            <a:noAutofit/>
          </a:bodyPr>
          <a:lstStyle/>
          <a:p>
            <a:pPr marL="0" marR="0" lvl="0" indent="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lang="en-US" sz="4000" b="1" dirty="0" err="1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  <a:rtl val="0"/>
              </a:rPr>
              <a:t>data_visualization.r</a:t>
            </a:r>
            <a:endParaRPr lang="en-US" sz="4000" b="1" i="0" u="none" strike="noStrike" cap="none" baseline="0" dirty="0">
              <a:solidFill>
                <a:srgbClr val="990000"/>
              </a:solidFill>
              <a:latin typeface="Arial"/>
              <a:ea typeface="Arial"/>
              <a:cs typeface="Arial"/>
              <a:sym typeface="Arial"/>
              <a:rtl val="0"/>
            </a:endParaRPr>
          </a:p>
        </p:txBody>
      </p:sp>
      <p:sp>
        <p:nvSpPr>
          <p:cNvPr id="5" name="Shape 34"/>
          <p:cNvSpPr txBox="1">
            <a:spLocks noGrp="1"/>
          </p:cNvSpPr>
          <p:nvPr>
            <p:ph type="body" idx="1"/>
          </p:nvPr>
        </p:nvSpPr>
        <p:spPr>
          <a:xfrm>
            <a:off x="0" y="1752600"/>
            <a:ext cx="9005776" cy="5105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452438"/>
            <a:r>
              <a:rPr lang="en-US" sz="2400" dirty="0">
                <a:solidFill>
                  <a:schemeClr val="tx1"/>
                </a:solidFill>
                <a:sym typeface="Arial"/>
                <a:rtl val="0"/>
              </a:rPr>
              <a:t>Script takes in </a:t>
            </a:r>
            <a:r>
              <a:rPr lang="en-US" sz="2400" dirty="0" err="1">
                <a:solidFill>
                  <a:schemeClr val="tx1"/>
                </a:solidFill>
                <a:sym typeface="Arial"/>
                <a:rtl val="0"/>
              </a:rPr>
              <a:t>iris.csv</a:t>
            </a:r>
            <a:r>
              <a:rPr lang="en-US" sz="2400" dirty="0">
                <a:solidFill>
                  <a:schemeClr val="tx1"/>
                </a:solidFill>
                <a:sym typeface="Arial"/>
                <a:rtl val="0"/>
              </a:rPr>
              <a:t> as a </a:t>
            </a:r>
            <a:r>
              <a:rPr lang="en-US" sz="2400" i="1" dirty="0">
                <a:solidFill>
                  <a:schemeClr val="tx1"/>
                </a:solidFill>
                <a:sym typeface="Arial"/>
                <a:rtl val="0"/>
              </a:rPr>
              <a:t>parameter</a:t>
            </a:r>
          </a:p>
          <a:p>
            <a:pPr marL="452438"/>
            <a:r>
              <a:rPr lang="en-US" sz="2400" dirty="0">
                <a:solidFill>
                  <a:schemeClr val="tx1"/>
                </a:solidFill>
                <a:sym typeface="Arial"/>
                <a:rtl val="0"/>
              </a:rPr>
              <a:t>Plots sepal width vs. sepal length</a:t>
            </a:r>
          </a:p>
          <a:p>
            <a:pPr marL="452438"/>
            <a:r>
              <a:rPr lang="en-US" sz="2400" dirty="0">
                <a:solidFill>
                  <a:schemeClr val="tx1"/>
                </a:solidFill>
                <a:sym typeface="Arial"/>
                <a:rtl val="0"/>
              </a:rPr>
              <a:t>Saves graph as </a:t>
            </a:r>
            <a:r>
              <a:rPr lang="en-US" sz="2400" dirty="0" err="1">
                <a:solidFill>
                  <a:schemeClr val="tx1"/>
                </a:solidFill>
                <a:sym typeface="Arial"/>
                <a:rtl val="0"/>
              </a:rPr>
              <a:t>IrisData.png</a:t>
            </a:r>
            <a:endParaRPr lang="en-US" sz="2400" dirty="0">
              <a:solidFill>
                <a:schemeClr val="tx1"/>
              </a:solidFill>
              <a:sym typeface="Arial"/>
              <a:rtl val="0"/>
            </a:endParaRPr>
          </a:p>
          <a:p>
            <a:pPr marL="452438"/>
            <a:endParaRPr lang="en-US" sz="2400" dirty="0">
              <a:solidFill>
                <a:schemeClr val="tx1"/>
              </a:solidFill>
              <a:sym typeface="Arial"/>
              <a:rtl val="0"/>
            </a:endParaRPr>
          </a:p>
          <a:p>
            <a:pPr marL="452438"/>
            <a:endParaRPr lang="en-US" sz="2400" dirty="0">
              <a:solidFill>
                <a:schemeClr val="tx1"/>
              </a:solidFill>
              <a:sym typeface="Arial"/>
              <a:rtl val="0"/>
            </a:endParaRPr>
          </a:p>
          <a:p>
            <a:pPr marL="452438"/>
            <a:endParaRPr lang="en-US" sz="2400" dirty="0">
              <a:solidFill>
                <a:schemeClr val="tx1"/>
              </a:solidFill>
              <a:sym typeface="Arial"/>
              <a:rtl val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sz="2400" b="0" i="0" u="none" strike="noStrike" cap="none" baseline="0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  <a:rtl val="0"/>
            </a:endParaRPr>
          </a:p>
        </p:txBody>
      </p:sp>
      <p:pic>
        <p:nvPicPr>
          <p:cNvPr id="3" name="Picture 2" descr="A graph with different colored dots&#10;&#10;Description automatically generated">
            <a:extLst>
              <a:ext uri="{FF2B5EF4-FFF2-40B4-BE49-F238E27FC236}">
                <a16:creationId xmlns:a16="http://schemas.microsoft.com/office/drawing/2014/main" id="{508FE4F0-4D73-FE88-99BD-13CACEF16F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0" y="3124200"/>
            <a:ext cx="4876800" cy="3413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315968"/>
      </p:ext>
    </p:extLst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 txBox="1">
            <a:spLocks noGrp="1"/>
          </p:cNvSpPr>
          <p:nvPr>
            <p:ph type="title"/>
          </p:nvPr>
        </p:nvSpPr>
        <p:spPr>
          <a:xfrm>
            <a:off x="0" y="1078848"/>
            <a:ext cx="9144000" cy="838201"/>
          </a:xfrm>
          <a:prstGeom prst="rect">
            <a:avLst/>
          </a:prstGeom>
          <a:noFill/>
          <a:ln>
            <a:noFill/>
          </a:ln>
        </p:spPr>
        <p:txBody>
          <a:bodyPr lIns="64275" tIns="64275" rIns="64275" bIns="64275" anchor="ctr" anchorCtr="0">
            <a:noAutofit/>
          </a:bodyPr>
          <a:lstStyle/>
          <a:p>
            <a:pPr marL="0" marR="0" lvl="0" indent="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lang="en-US" sz="4000" b="1" dirty="0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  <a:rtl val="0"/>
              </a:rPr>
              <a:t>Overview of Talk</a:t>
            </a:r>
            <a:endParaRPr lang="en-US" sz="4000" b="1" i="0" u="none" strike="noStrike" cap="none" baseline="0" dirty="0">
              <a:solidFill>
                <a:srgbClr val="990000"/>
              </a:solidFill>
              <a:latin typeface="Arial"/>
              <a:ea typeface="Arial"/>
              <a:cs typeface="Arial"/>
              <a:sym typeface="Arial"/>
              <a:rtl val="0"/>
            </a:endParaRPr>
          </a:p>
        </p:txBody>
      </p:sp>
      <p:sp>
        <p:nvSpPr>
          <p:cNvPr id="5" name="Shape 34"/>
          <p:cNvSpPr txBox="1">
            <a:spLocks noGrp="1"/>
          </p:cNvSpPr>
          <p:nvPr>
            <p:ph type="body" idx="1"/>
          </p:nvPr>
        </p:nvSpPr>
        <p:spPr>
          <a:xfrm>
            <a:off x="0" y="1752600"/>
            <a:ext cx="9005776" cy="5105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452438"/>
            <a:r>
              <a:rPr lang="en-US" sz="2400" dirty="0">
                <a:solidFill>
                  <a:schemeClr val="tx1"/>
                </a:solidFill>
                <a:sym typeface="Arial"/>
                <a:rtl val="0"/>
              </a:rPr>
              <a:t>Overview</a:t>
            </a:r>
          </a:p>
          <a:p>
            <a:pPr marL="452438"/>
            <a:r>
              <a:rPr lang="en-US" sz="2400" dirty="0">
                <a:solidFill>
                  <a:schemeClr val="tx1"/>
                </a:solidFill>
                <a:sym typeface="Arial"/>
                <a:rtl val="0"/>
              </a:rPr>
              <a:t>Basics of a </a:t>
            </a:r>
            <a:r>
              <a:rPr lang="en-US" sz="2400" dirty="0" err="1">
                <a:solidFill>
                  <a:schemeClr val="tx1"/>
                </a:solidFill>
                <a:sym typeface="Arial"/>
                <a:rtl val="0"/>
              </a:rPr>
              <a:t>Slurm</a:t>
            </a:r>
            <a:r>
              <a:rPr lang="en-US" sz="2400" dirty="0">
                <a:solidFill>
                  <a:schemeClr val="tx1"/>
                </a:solidFill>
                <a:sym typeface="Arial"/>
                <a:rtl val="0"/>
              </a:rPr>
              <a:t> Script</a:t>
            </a:r>
          </a:p>
          <a:p>
            <a:pPr marL="452438"/>
            <a:r>
              <a:rPr lang="en-US" sz="2400" dirty="0">
                <a:solidFill>
                  <a:schemeClr val="tx1"/>
                </a:solidFill>
                <a:sym typeface="Arial"/>
                <a:rtl val="0"/>
              </a:rPr>
              <a:t>Getting Started</a:t>
            </a:r>
          </a:p>
          <a:p>
            <a:pPr marL="452438"/>
            <a:r>
              <a:rPr lang="en-US" sz="2400" dirty="0">
                <a:solidFill>
                  <a:schemeClr val="tx1"/>
                </a:solidFill>
                <a:sym typeface="Arial"/>
                <a:rtl val="0"/>
              </a:rPr>
              <a:t>Example Dataset</a:t>
            </a:r>
          </a:p>
          <a:p>
            <a:pPr marL="452438"/>
            <a:r>
              <a:rPr lang="en-US" sz="2400" dirty="0">
                <a:solidFill>
                  <a:schemeClr val="accent2"/>
                </a:solidFill>
                <a:sym typeface="Arial"/>
                <a:rtl val="0"/>
              </a:rPr>
              <a:t>Hands On: Batch Scripting</a:t>
            </a:r>
          </a:p>
          <a:p>
            <a:pPr marL="852488" lvl="1"/>
            <a:r>
              <a:rPr lang="en-US" sz="2000" dirty="0">
                <a:solidFill>
                  <a:schemeClr val="tx1"/>
                </a:solidFill>
                <a:sym typeface="Arial"/>
                <a:rtl val="0"/>
              </a:rPr>
              <a:t>#1: Submitting to </a:t>
            </a:r>
            <a:r>
              <a:rPr lang="en-US" sz="2000" dirty="0" err="1">
                <a:solidFill>
                  <a:schemeClr val="tx1"/>
                </a:solidFill>
                <a:sym typeface="Arial"/>
                <a:rtl val="0"/>
              </a:rPr>
              <a:t>Notchpeak</a:t>
            </a:r>
            <a:r>
              <a:rPr lang="en-US" sz="2000" dirty="0">
                <a:solidFill>
                  <a:schemeClr val="tx1"/>
                </a:solidFill>
                <a:sym typeface="Arial"/>
                <a:rtl val="0"/>
              </a:rPr>
              <a:t> Cluster</a:t>
            </a:r>
          </a:p>
          <a:p>
            <a:pPr marL="852488" lvl="1"/>
            <a:r>
              <a:rPr lang="en-US" sz="2000" dirty="0">
                <a:solidFill>
                  <a:schemeClr val="tx1"/>
                </a:solidFill>
                <a:sym typeface="Arial"/>
                <a:rtl val="0"/>
              </a:rPr>
              <a:t>#2: Submitting to Owner Nodes</a:t>
            </a:r>
          </a:p>
          <a:p>
            <a:pPr marL="452438"/>
            <a:r>
              <a:rPr lang="en-US" sz="2400" dirty="0">
                <a:solidFill>
                  <a:schemeClr val="tx1"/>
                </a:solidFill>
                <a:sym typeface="Arial"/>
                <a:rtl val="0"/>
              </a:rPr>
              <a:t>Hands On #3: Start an Interactive Job</a:t>
            </a:r>
          </a:p>
          <a:p>
            <a:pPr marL="452438"/>
            <a:r>
              <a:rPr lang="en-US" sz="2400" dirty="0">
                <a:solidFill>
                  <a:schemeClr val="tx1"/>
                </a:solidFill>
                <a:sym typeface="Arial"/>
                <a:rtl val="0"/>
              </a:rPr>
              <a:t>Hands On #4: Open OnDemand’s Job Composer</a:t>
            </a:r>
          </a:p>
        </p:txBody>
      </p:sp>
    </p:spTree>
    <p:extLst>
      <p:ext uri="{BB962C8B-B14F-4D97-AF65-F5344CB8AC3E}">
        <p14:creationId xmlns:p14="http://schemas.microsoft.com/office/powerpoint/2010/main" val="3922678708"/>
      </p:ext>
    </p:extLst>
  </p:cSld>
  <p:clrMapOvr>
    <a:masterClrMapping/>
  </p:clrMapOvr>
  <p:transition spd="slow">
    <p:cut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 txBox="1">
            <a:spLocks noGrp="1"/>
          </p:cNvSpPr>
          <p:nvPr>
            <p:ph type="title"/>
          </p:nvPr>
        </p:nvSpPr>
        <p:spPr>
          <a:xfrm>
            <a:off x="0" y="1078848"/>
            <a:ext cx="9144000" cy="838201"/>
          </a:xfrm>
          <a:prstGeom prst="rect">
            <a:avLst/>
          </a:prstGeom>
          <a:noFill/>
          <a:ln>
            <a:noFill/>
          </a:ln>
        </p:spPr>
        <p:txBody>
          <a:bodyPr lIns="64275" tIns="64275" rIns="64275" bIns="64275" anchor="ctr" anchorCtr="0">
            <a:noAutofit/>
          </a:bodyPr>
          <a:lstStyle/>
          <a:p>
            <a:pPr marL="0" marR="0" lvl="0" indent="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lang="en-US" sz="4000" b="1" dirty="0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  <a:rtl val="0"/>
              </a:rPr>
              <a:t>Overview of Talk</a:t>
            </a:r>
            <a:endParaRPr lang="en-US" sz="4000" b="1" i="0" u="none" strike="noStrike" cap="none" baseline="0" dirty="0">
              <a:solidFill>
                <a:srgbClr val="990000"/>
              </a:solidFill>
              <a:latin typeface="Arial"/>
              <a:ea typeface="Arial"/>
              <a:cs typeface="Arial"/>
              <a:sym typeface="Arial"/>
              <a:rtl val="0"/>
            </a:endParaRPr>
          </a:p>
        </p:txBody>
      </p:sp>
      <p:sp>
        <p:nvSpPr>
          <p:cNvPr id="5" name="Shape 34"/>
          <p:cNvSpPr txBox="1">
            <a:spLocks noGrp="1"/>
          </p:cNvSpPr>
          <p:nvPr>
            <p:ph type="body" idx="1"/>
          </p:nvPr>
        </p:nvSpPr>
        <p:spPr>
          <a:xfrm>
            <a:off x="0" y="1752600"/>
            <a:ext cx="9005776" cy="5105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452438"/>
            <a:r>
              <a:rPr lang="en-US" sz="2400" dirty="0">
                <a:solidFill>
                  <a:schemeClr val="tx1"/>
                </a:solidFill>
                <a:sym typeface="Arial"/>
                <a:rtl val="0"/>
              </a:rPr>
              <a:t>Overview</a:t>
            </a:r>
          </a:p>
          <a:p>
            <a:pPr marL="452438"/>
            <a:r>
              <a:rPr lang="en-US" sz="2400" dirty="0">
                <a:solidFill>
                  <a:schemeClr val="tx1"/>
                </a:solidFill>
                <a:sym typeface="Arial"/>
                <a:rtl val="0"/>
              </a:rPr>
              <a:t>Basics of a </a:t>
            </a:r>
            <a:r>
              <a:rPr lang="en-US" sz="2400" dirty="0" err="1">
                <a:solidFill>
                  <a:schemeClr val="tx1"/>
                </a:solidFill>
                <a:sym typeface="Arial"/>
                <a:rtl val="0"/>
              </a:rPr>
              <a:t>Slurm</a:t>
            </a:r>
            <a:r>
              <a:rPr lang="en-US" sz="2400" dirty="0">
                <a:solidFill>
                  <a:schemeClr val="tx1"/>
                </a:solidFill>
                <a:sym typeface="Arial"/>
                <a:rtl val="0"/>
              </a:rPr>
              <a:t> Script</a:t>
            </a:r>
          </a:p>
          <a:p>
            <a:pPr marL="452438"/>
            <a:r>
              <a:rPr lang="en-US" sz="2400" dirty="0">
                <a:solidFill>
                  <a:schemeClr val="tx1"/>
                </a:solidFill>
                <a:sym typeface="Arial"/>
                <a:rtl val="0"/>
              </a:rPr>
              <a:t>Getting Started</a:t>
            </a:r>
          </a:p>
          <a:p>
            <a:pPr marL="452438"/>
            <a:r>
              <a:rPr lang="en-US" sz="2400" dirty="0">
                <a:solidFill>
                  <a:schemeClr val="tx1"/>
                </a:solidFill>
                <a:sym typeface="Arial"/>
                <a:rtl val="0"/>
              </a:rPr>
              <a:t>Example Dataset</a:t>
            </a:r>
          </a:p>
          <a:p>
            <a:pPr marL="452438"/>
            <a:r>
              <a:rPr lang="en-US" sz="2400" dirty="0">
                <a:solidFill>
                  <a:schemeClr val="accent2"/>
                </a:solidFill>
                <a:sym typeface="Arial"/>
                <a:rtl val="0"/>
              </a:rPr>
              <a:t>Hands On: Batch Scripting</a:t>
            </a:r>
          </a:p>
          <a:p>
            <a:pPr marL="852488" lvl="1"/>
            <a:r>
              <a:rPr lang="en-US" sz="2000" dirty="0">
                <a:solidFill>
                  <a:schemeClr val="accent2"/>
                </a:solidFill>
                <a:sym typeface="Arial"/>
                <a:rtl val="0"/>
              </a:rPr>
              <a:t>#1: Submitting to </a:t>
            </a:r>
            <a:r>
              <a:rPr lang="en-US" sz="2000" dirty="0" err="1">
                <a:solidFill>
                  <a:schemeClr val="accent2"/>
                </a:solidFill>
                <a:sym typeface="Arial"/>
                <a:rtl val="0"/>
              </a:rPr>
              <a:t>Notchpeak</a:t>
            </a:r>
            <a:r>
              <a:rPr lang="en-US" sz="2000" dirty="0">
                <a:solidFill>
                  <a:schemeClr val="accent2"/>
                </a:solidFill>
                <a:sym typeface="Arial"/>
                <a:rtl val="0"/>
              </a:rPr>
              <a:t> Cluster</a:t>
            </a:r>
          </a:p>
          <a:p>
            <a:pPr marL="852488" lvl="1"/>
            <a:r>
              <a:rPr lang="en-US" sz="2000" dirty="0">
                <a:solidFill>
                  <a:schemeClr val="tx1"/>
                </a:solidFill>
                <a:sym typeface="Arial"/>
                <a:rtl val="0"/>
              </a:rPr>
              <a:t>#2: Submitting to Owner Nodes</a:t>
            </a:r>
          </a:p>
          <a:p>
            <a:pPr marL="452438"/>
            <a:r>
              <a:rPr lang="en-US" sz="2400" dirty="0">
                <a:solidFill>
                  <a:schemeClr val="tx1"/>
                </a:solidFill>
                <a:sym typeface="Arial"/>
                <a:rtl val="0"/>
              </a:rPr>
              <a:t>Hands On #3: Start an Interactive Job</a:t>
            </a:r>
          </a:p>
          <a:p>
            <a:pPr marL="452438"/>
            <a:r>
              <a:rPr lang="en-US" sz="2400" dirty="0">
                <a:solidFill>
                  <a:schemeClr val="tx1"/>
                </a:solidFill>
                <a:sym typeface="Arial"/>
                <a:rtl val="0"/>
              </a:rPr>
              <a:t>Hands On #4: Open OnDemand’s Job Composer</a:t>
            </a:r>
          </a:p>
        </p:txBody>
      </p:sp>
    </p:spTree>
    <p:extLst>
      <p:ext uri="{BB962C8B-B14F-4D97-AF65-F5344CB8AC3E}">
        <p14:creationId xmlns:p14="http://schemas.microsoft.com/office/powerpoint/2010/main" val="1362420291"/>
      </p:ext>
    </p:extLst>
  </p:cSld>
  <p:clrMapOvr>
    <a:masterClrMapping/>
  </p:clrMapOvr>
  <p:transition spd="slow">
    <p:cut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 txBox="1">
            <a:spLocks noGrp="1"/>
          </p:cNvSpPr>
          <p:nvPr>
            <p:ph type="title"/>
          </p:nvPr>
        </p:nvSpPr>
        <p:spPr>
          <a:xfrm>
            <a:off x="0" y="1078848"/>
            <a:ext cx="9144000" cy="838201"/>
          </a:xfrm>
          <a:prstGeom prst="rect">
            <a:avLst/>
          </a:prstGeom>
          <a:noFill/>
          <a:ln>
            <a:noFill/>
          </a:ln>
        </p:spPr>
        <p:txBody>
          <a:bodyPr lIns="64275" tIns="64275" rIns="64275" bIns="64275" anchor="ctr" anchorCtr="0">
            <a:noAutofit/>
          </a:bodyPr>
          <a:lstStyle/>
          <a:p>
            <a:pPr marL="0" marR="0" lvl="0" indent="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lang="en-US" sz="4000" b="1" dirty="0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  <a:rtl val="0"/>
              </a:rPr>
              <a:t>Hands On #1: Batch Scripting</a:t>
            </a:r>
            <a:endParaRPr lang="en-US" sz="4000" b="1" i="0" u="none" strike="noStrike" cap="none" baseline="0" dirty="0">
              <a:solidFill>
                <a:srgbClr val="990000"/>
              </a:solidFill>
              <a:latin typeface="Arial"/>
              <a:ea typeface="Arial"/>
              <a:cs typeface="Arial"/>
              <a:sym typeface="Arial"/>
              <a:rtl val="0"/>
            </a:endParaRPr>
          </a:p>
        </p:txBody>
      </p:sp>
      <p:sp>
        <p:nvSpPr>
          <p:cNvPr id="5" name="Shape 34"/>
          <p:cNvSpPr txBox="1">
            <a:spLocks noGrp="1"/>
          </p:cNvSpPr>
          <p:nvPr>
            <p:ph type="body" idx="1"/>
          </p:nvPr>
        </p:nvSpPr>
        <p:spPr>
          <a:xfrm>
            <a:off x="0" y="1752600"/>
            <a:ext cx="9005776" cy="5105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452438"/>
            <a:r>
              <a:rPr lang="en-US" sz="2400" dirty="0">
                <a:solidFill>
                  <a:schemeClr val="tx1"/>
                </a:solidFill>
                <a:sym typeface="Arial"/>
                <a:rtl val="0"/>
              </a:rPr>
              <a:t>Goal: Write a </a:t>
            </a:r>
            <a:r>
              <a:rPr lang="en-US" sz="2400" dirty="0" err="1">
                <a:solidFill>
                  <a:schemeClr val="tx1"/>
                </a:solidFill>
                <a:sym typeface="Arial"/>
                <a:rtl val="0"/>
              </a:rPr>
              <a:t>Slurm</a:t>
            </a:r>
            <a:r>
              <a:rPr lang="en-US" sz="2400" dirty="0">
                <a:solidFill>
                  <a:schemeClr val="tx1"/>
                </a:solidFill>
                <a:sym typeface="Arial"/>
                <a:rtl val="0"/>
              </a:rPr>
              <a:t> script that will </a:t>
            </a:r>
            <a:r>
              <a:rPr lang="en-US" sz="2400" b="1" dirty="0">
                <a:solidFill>
                  <a:schemeClr val="tx1"/>
                </a:solidFill>
                <a:sym typeface="Arial"/>
                <a:rtl val="0"/>
              </a:rPr>
              <a:t>copy</a:t>
            </a:r>
            <a:r>
              <a:rPr lang="en-US" sz="2400" dirty="0">
                <a:solidFill>
                  <a:schemeClr val="tx1"/>
                </a:solidFill>
                <a:sym typeface="Arial"/>
                <a:rtl val="0"/>
              </a:rPr>
              <a:t> the input data and R script over to a </a:t>
            </a:r>
            <a:r>
              <a:rPr lang="en-US" sz="2400" b="1" dirty="0">
                <a:solidFill>
                  <a:schemeClr val="tx1"/>
                </a:solidFill>
                <a:sym typeface="Arial"/>
                <a:rtl val="0"/>
              </a:rPr>
              <a:t>scratch directory</a:t>
            </a:r>
            <a:r>
              <a:rPr lang="en-US" sz="2400" dirty="0">
                <a:solidFill>
                  <a:schemeClr val="tx1"/>
                </a:solidFill>
                <a:sym typeface="Arial"/>
                <a:rtl val="0"/>
              </a:rPr>
              <a:t> and run the </a:t>
            </a:r>
            <a:r>
              <a:rPr lang="en-US" sz="2400" b="1" dirty="0">
                <a:solidFill>
                  <a:schemeClr val="tx1"/>
                </a:solidFill>
                <a:sym typeface="Arial"/>
                <a:rtl val="0"/>
              </a:rPr>
              <a:t>R script</a:t>
            </a:r>
            <a:r>
              <a:rPr lang="en-US" sz="2400" dirty="0">
                <a:solidFill>
                  <a:schemeClr val="tx1"/>
                </a:solidFill>
                <a:sym typeface="Arial"/>
                <a:rtl val="0"/>
              </a:rPr>
              <a:t>, meeting the following requirements:</a:t>
            </a:r>
          </a:p>
          <a:p>
            <a:pPr marL="852488" lvl="1"/>
            <a:r>
              <a:rPr lang="en-US" sz="2000" dirty="0">
                <a:solidFill>
                  <a:schemeClr val="tx1"/>
                </a:solidFill>
                <a:sym typeface="Arial"/>
                <a:rtl val="0"/>
              </a:rPr>
              <a:t>Submit to </a:t>
            </a:r>
            <a:r>
              <a:rPr lang="en-US" sz="2000" b="1" dirty="0" err="1">
                <a:solidFill>
                  <a:schemeClr val="tx1"/>
                </a:solidFill>
                <a:sym typeface="Arial"/>
                <a:rtl val="0"/>
              </a:rPr>
              <a:t>Notchpeak’s</a:t>
            </a:r>
            <a:r>
              <a:rPr lang="en-US" sz="2000" b="1" dirty="0">
                <a:solidFill>
                  <a:schemeClr val="tx1"/>
                </a:solidFill>
                <a:sym typeface="Arial"/>
                <a:rtl val="0"/>
              </a:rPr>
              <a:t> shared-short partition</a:t>
            </a:r>
          </a:p>
          <a:p>
            <a:pPr marL="852488" lvl="1"/>
            <a:r>
              <a:rPr lang="en-US" sz="2000" dirty="0">
                <a:solidFill>
                  <a:schemeClr val="tx1"/>
                </a:solidFill>
                <a:sym typeface="Arial"/>
                <a:rtl val="0"/>
              </a:rPr>
              <a:t>Request </a:t>
            </a:r>
            <a:r>
              <a:rPr lang="en-US" sz="2000" b="1" dirty="0">
                <a:solidFill>
                  <a:schemeClr val="tx1"/>
                </a:solidFill>
                <a:sym typeface="Arial"/>
                <a:rtl val="0"/>
              </a:rPr>
              <a:t>1 </a:t>
            </a:r>
            <a:r>
              <a:rPr lang="en-US" sz="2000" dirty="0">
                <a:solidFill>
                  <a:schemeClr val="tx1"/>
                </a:solidFill>
                <a:sym typeface="Arial"/>
                <a:rtl val="0"/>
              </a:rPr>
              <a:t>CPU</a:t>
            </a:r>
          </a:p>
          <a:p>
            <a:pPr marL="852488" lvl="1"/>
            <a:r>
              <a:rPr lang="en-US" sz="2000" dirty="0">
                <a:solidFill>
                  <a:schemeClr val="tx1"/>
                </a:solidFill>
                <a:sym typeface="Arial"/>
                <a:rtl val="0"/>
              </a:rPr>
              <a:t>Requests </a:t>
            </a:r>
            <a:r>
              <a:rPr lang="en-US" sz="2000" b="1" dirty="0">
                <a:solidFill>
                  <a:schemeClr val="tx1"/>
                </a:solidFill>
                <a:sym typeface="Arial"/>
                <a:rtl val="0"/>
              </a:rPr>
              <a:t>25GB</a:t>
            </a:r>
            <a:r>
              <a:rPr lang="en-US" sz="2000" dirty="0">
                <a:solidFill>
                  <a:schemeClr val="tx1"/>
                </a:solidFill>
                <a:sym typeface="Arial"/>
                <a:rtl val="0"/>
              </a:rPr>
              <a:t> of memory</a:t>
            </a:r>
          </a:p>
          <a:p>
            <a:pPr marL="852488" lvl="1"/>
            <a:r>
              <a:rPr lang="en-US" sz="2000" dirty="0">
                <a:solidFill>
                  <a:schemeClr val="tx1"/>
                </a:solidFill>
                <a:sym typeface="Arial"/>
                <a:rtl val="0"/>
              </a:rPr>
              <a:t>Runs for </a:t>
            </a:r>
            <a:r>
              <a:rPr lang="en-US" sz="2000" b="1" dirty="0">
                <a:solidFill>
                  <a:schemeClr val="tx1"/>
                </a:solidFill>
                <a:sym typeface="Arial"/>
                <a:rtl val="0"/>
              </a:rPr>
              <a:t>5 minutes</a:t>
            </a:r>
          </a:p>
          <a:p>
            <a:pPr marL="852488" lvl="1"/>
            <a:r>
              <a:rPr lang="en-US" sz="2000" dirty="0">
                <a:solidFill>
                  <a:schemeClr val="tx1"/>
                </a:solidFill>
                <a:sym typeface="Arial"/>
                <a:rtl val="0"/>
              </a:rPr>
              <a:t>Creates </a:t>
            </a:r>
            <a:r>
              <a:rPr lang="en-US" sz="2000" b="1" dirty="0">
                <a:solidFill>
                  <a:schemeClr val="tx1"/>
                </a:solidFill>
                <a:sym typeface="Arial"/>
                <a:rtl val="0"/>
              </a:rPr>
              <a:t>.out and .err </a:t>
            </a:r>
            <a:r>
              <a:rPr lang="en-US" sz="2000" dirty="0">
                <a:solidFill>
                  <a:schemeClr val="tx1"/>
                </a:solidFill>
                <a:sym typeface="Arial"/>
                <a:rtl val="0"/>
              </a:rPr>
              <a:t>files</a:t>
            </a:r>
          </a:p>
          <a:p>
            <a:pPr marL="852488" lvl="1"/>
            <a:endParaRPr lang="en-US" sz="2000" dirty="0">
              <a:solidFill>
                <a:schemeClr val="tx1"/>
              </a:solidFill>
              <a:sym typeface="Arial"/>
              <a:rtl val="0"/>
            </a:endParaRPr>
          </a:p>
          <a:p>
            <a:pPr marL="852488" lvl="1"/>
            <a:endParaRPr lang="en-US" sz="2000" dirty="0">
              <a:solidFill>
                <a:schemeClr val="tx1"/>
              </a:solidFill>
              <a:sym typeface="Arial"/>
              <a:rtl val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sz="2400" b="0" i="0" u="none" strike="noStrike" cap="none" baseline="0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  <a:rtl val="0"/>
            </a:endParaRPr>
          </a:p>
        </p:txBody>
      </p:sp>
    </p:spTree>
    <p:extLst>
      <p:ext uri="{BB962C8B-B14F-4D97-AF65-F5344CB8AC3E}">
        <p14:creationId xmlns:p14="http://schemas.microsoft.com/office/powerpoint/2010/main" val="1973907802"/>
      </p:ext>
    </p:extLst>
  </p:cSld>
  <p:clrMapOvr>
    <a:masterClrMapping/>
  </p:clrMapOvr>
  <p:transition spd="slow">
    <p:cut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 txBox="1">
            <a:spLocks noGrp="1"/>
          </p:cNvSpPr>
          <p:nvPr>
            <p:ph type="title"/>
          </p:nvPr>
        </p:nvSpPr>
        <p:spPr>
          <a:xfrm>
            <a:off x="0" y="1078848"/>
            <a:ext cx="9144000" cy="838201"/>
          </a:xfrm>
          <a:prstGeom prst="rect">
            <a:avLst/>
          </a:prstGeom>
          <a:noFill/>
          <a:ln>
            <a:noFill/>
          </a:ln>
        </p:spPr>
        <p:txBody>
          <a:bodyPr lIns="64275" tIns="64275" rIns="64275" bIns="64275" anchor="ctr" anchorCtr="0">
            <a:noAutofit/>
          </a:bodyPr>
          <a:lstStyle/>
          <a:p>
            <a:pPr marL="0" marR="0" lvl="0" indent="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lang="en-US" sz="4000" b="1" dirty="0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  <a:rtl val="0"/>
              </a:rPr>
              <a:t>Overview of Talk</a:t>
            </a:r>
            <a:endParaRPr lang="en-US" sz="4000" b="1" i="0" u="none" strike="noStrike" cap="none" baseline="0" dirty="0">
              <a:solidFill>
                <a:srgbClr val="990000"/>
              </a:solidFill>
              <a:latin typeface="Arial"/>
              <a:ea typeface="Arial"/>
              <a:cs typeface="Arial"/>
              <a:sym typeface="Arial"/>
              <a:rtl val="0"/>
            </a:endParaRPr>
          </a:p>
        </p:txBody>
      </p:sp>
      <p:sp>
        <p:nvSpPr>
          <p:cNvPr id="5" name="Shape 34"/>
          <p:cNvSpPr txBox="1">
            <a:spLocks noGrp="1"/>
          </p:cNvSpPr>
          <p:nvPr>
            <p:ph type="body" idx="1"/>
          </p:nvPr>
        </p:nvSpPr>
        <p:spPr>
          <a:xfrm>
            <a:off x="0" y="1752600"/>
            <a:ext cx="9005776" cy="5105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452438"/>
            <a:r>
              <a:rPr lang="en-US" sz="2400" dirty="0">
                <a:solidFill>
                  <a:schemeClr val="tx1"/>
                </a:solidFill>
                <a:sym typeface="Arial"/>
                <a:rtl val="0"/>
              </a:rPr>
              <a:t>Overview</a:t>
            </a:r>
          </a:p>
          <a:p>
            <a:pPr marL="452438"/>
            <a:r>
              <a:rPr lang="en-US" sz="2400" dirty="0">
                <a:solidFill>
                  <a:schemeClr val="tx1"/>
                </a:solidFill>
                <a:sym typeface="Arial"/>
                <a:rtl val="0"/>
              </a:rPr>
              <a:t>Basics of a </a:t>
            </a:r>
            <a:r>
              <a:rPr lang="en-US" sz="2400" dirty="0" err="1">
                <a:solidFill>
                  <a:schemeClr val="tx1"/>
                </a:solidFill>
                <a:sym typeface="Arial"/>
                <a:rtl val="0"/>
              </a:rPr>
              <a:t>Slurm</a:t>
            </a:r>
            <a:r>
              <a:rPr lang="en-US" sz="2400" dirty="0">
                <a:solidFill>
                  <a:schemeClr val="tx1"/>
                </a:solidFill>
                <a:sym typeface="Arial"/>
                <a:rtl val="0"/>
              </a:rPr>
              <a:t> Script</a:t>
            </a:r>
          </a:p>
          <a:p>
            <a:pPr marL="452438"/>
            <a:r>
              <a:rPr lang="en-US" sz="2400" dirty="0">
                <a:solidFill>
                  <a:schemeClr val="tx1"/>
                </a:solidFill>
                <a:sym typeface="Arial"/>
                <a:rtl val="0"/>
              </a:rPr>
              <a:t>Getting Started</a:t>
            </a:r>
          </a:p>
          <a:p>
            <a:pPr marL="452438"/>
            <a:r>
              <a:rPr lang="en-US" sz="2400" dirty="0">
                <a:solidFill>
                  <a:schemeClr val="tx1"/>
                </a:solidFill>
                <a:sym typeface="Arial"/>
                <a:rtl val="0"/>
              </a:rPr>
              <a:t>Example Dataset</a:t>
            </a:r>
          </a:p>
          <a:p>
            <a:pPr marL="452438"/>
            <a:r>
              <a:rPr lang="en-US" sz="2400" dirty="0">
                <a:solidFill>
                  <a:schemeClr val="accent2"/>
                </a:solidFill>
                <a:sym typeface="Arial"/>
                <a:rtl val="0"/>
              </a:rPr>
              <a:t>Hands On: Batch Scripting</a:t>
            </a:r>
          </a:p>
          <a:p>
            <a:pPr marL="852488" lvl="1"/>
            <a:r>
              <a:rPr lang="en-US" sz="2000" dirty="0">
                <a:solidFill>
                  <a:schemeClr val="tx1"/>
                </a:solidFill>
                <a:sym typeface="Arial"/>
                <a:rtl val="0"/>
              </a:rPr>
              <a:t>#1: Submitting to </a:t>
            </a:r>
            <a:r>
              <a:rPr lang="en-US" sz="2000" dirty="0" err="1">
                <a:solidFill>
                  <a:schemeClr val="tx1"/>
                </a:solidFill>
                <a:sym typeface="Arial"/>
                <a:rtl val="0"/>
              </a:rPr>
              <a:t>Notchpeak</a:t>
            </a:r>
            <a:r>
              <a:rPr lang="en-US" sz="2000" dirty="0">
                <a:solidFill>
                  <a:schemeClr val="tx1"/>
                </a:solidFill>
                <a:sym typeface="Arial"/>
                <a:rtl val="0"/>
              </a:rPr>
              <a:t> Cluster</a:t>
            </a:r>
          </a:p>
          <a:p>
            <a:pPr marL="852488" lvl="1"/>
            <a:r>
              <a:rPr lang="en-US" sz="2000" dirty="0">
                <a:solidFill>
                  <a:schemeClr val="accent2"/>
                </a:solidFill>
                <a:sym typeface="Arial"/>
                <a:rtl val="0"/>
              </a:rPr>
              <a:t>#2: Submitting to Owner Nodes</a:t>
            </a:r>
          </a:p>
          <a:p>
            <a:pPr marL="452438"/>
            <a:r>
              <a:rPr lang="en-US" sz="2400" dirty="0">
                <a:solidFill>
                  <a:schemeClr val="tx1"/>
                </a:solidFill>
                <a:sym typeface="Arial"/>
                <a:rtl val="0"/>
              </a:rPr>
              <a:t>Hands On #3: Start an Interactive Job</a:t>
            </a:r>
          </a:p>
          <a:p>
            <a:pPr marL="452438"/>
            <a:r>
              <a:rPr lang="en-US" sz="2400" dirty="0">
                <a:solidFill>
                  <a:schemeClr val="tx1"/>
                </a:solidFill>
                <a:sym typeface="Arial"/>
                <a:rtl val="0"/>
              </a:rPr>
              <a:t>Hands On #4: Open OnDemand’s Job Composer</a:t>
            </a:r>
          </a:p>
        </p:txBody>
      </p:sp>
    </p:spTree>
    <p:extLst>
      <p:ext uri="{BB962C8B-B14F-4D97-AF65-F5344CB8AC3E}">
        <p14:creationId xmlns:p14="http://schemas.microsoft.com/office/powerpoint/2010/main" val="3430859401"/>
      </p:ext>
    </p:extLst>
  </p:cSld>
  <p:clrMapOvr>
    <a:masterClrMapping/>
  </p:clrMapOvr>
  <p:transition spd="slow">
    <p:cut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 txBox="1">
            <a:spLocks noGrp="1"/>
          </p:cNvSpPr>
          <p:nvPr>
            <p:ph type="title"/>
          </p:nvPr>
        </p:nvSpPr>
        <p:spPr>
          <a:xfrm>
            <a:off x="0" y="1078848"/>
            <a:ext cx="9144000" cy="838201"/>
          </a:xfrm>
          <a:prstGeom prst="rect">
            <a:avLst/>
          </a:prstGeom>
          <a:noFill/>
          <a:ln>
            <a:noFill/>
          </a:ln>
        </p:spPr>
        <p:txBody>
          <a:bodyPr lIns="64275" tIns="64275" rIns="64275" bIns="64275" anchor="ctr" anchorCtr="0">
            <a:noAutofit/>
          </a:bodyPr>
          <a:lstStyle/>
          <a:p>
            <a:pPr marL="0" marR="0" lvl="0" indent="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lang="en-US" sz="4000" b="1" dirty="0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  <a:rtl val="0"/>
              </a:rPr>
              <a:t>Hands On #2: Batch Scripting</a:t>
            </a:r>
            <a:endParaRPr lang="en-US" sz="4000" b="1" i="0" u="none" strike="noStrike" cap="none" baseline="0" dirty="0">
              <a:solidFill>
                <a:srgbClr val="990000"/>
              </a:solidFill>
              <a:latin typeface="Arial"/>
              <a:ea typeface="Arial"/>
              <a:cs typeface="Arial"/>
              <a:sym typeface="Arial"/>
              <a:rtl val="0"/>
            </a:endParaRPr>
          </a:p>
        </p:txBody>
      </p:sp>
      <p:sp>
        <p:nvSpPr>
          <p:cNvPr id="5" name="Shape 34"/>
          <p:cNvSpPr txBox="1">
            <a:spLocks noGrp="1"/>
          </p:cNvSpPr>
          <p:nvPr>
            <p:ph type="body" idx="1"/>
          </p:nvPr>
        </p:nvSpPr>
        <p:spPr>
          <a:xfrm>
            <a:off x="0" y="1752600"/>
            <a:ext cx="9005776" cy="5105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452438"/>
            <a:r>
              <a:rPr lang="en-US" sz="2400" dirty="0">
                <a:solidFill>
                  <a:schemeClr val="tx1"/>
                </a:solidFill>
                <a:sym typeface="Arial"/>
                <a:rtl val="0"/>
              </a:rPr>
              <a:t>Goal: Write a </a:t>
            </a:r>
            <a:r>
              <a:rPr lang="en-US" sz="2400" dirty="0" err="1">
                <a:solidFill>
                  <a:schemeClr val="tx1"/>
                </a:solidFill>
                <a:sym typeface="Arial"/>
                <a:rtl val="0"/>
              </a:rPr>
              <a:t>Slurm</a:t>
            </a:r>
            <a:r>
              <a:rPr lang="en-US" sz="2400" dirty="0">
                <a:solidFill>
                  <a:schemeClr val="tx1"/>
                </a:solidFill>
                <a:sym typeface="Arial"/>
                <a:rtl val="0"/>
              </a:rPr>
              <a:t> script that will </a:t>
            </a:r>
            <a:r>
              <a:rPr lang="en-US" sz="2400" b="1" dirty="0">
                <a:solidFill>
                  <a:schemeClr val="tx1"/>
                </a:solidFill>
                <a:sym typeface="Arial"/>
                <a:rtl val="0"/>
              </a:rPr>
              <a:t>copy</a:t>
            </a:r>
            <a:r>
              <a:rPr lang="en-US" sz="2400" dirty="0">
                <a:solidFill>
                  <a:schemeClr val="tx1"/>
                </a:solidFill>
                <a:sym typeface="Arial"/>
                <a:rtl val="0"/>
              </a:rPr>
              <a:t> the input data and R script over to a </a:t>
            </a:r>
            <a:r>
              <a:rPr lang="en-US" sz="2400" b="1" dirty="0">
                <a:solidFill>
                  <a:schemeClr val="tx1"/>
                </a:solidFill>
                <a:sym typeface="Arial"/>
                <a:rtl val="0"/>
              </a:rPr>
              <a:t>scratch directory</a:t>
            </a:r>
            <a:r>
              <a:rPr lang="en-US" sz="2400" dirty="0">
                <a:solidFill>
                  <a:schemeClr val="tx1"/>
                </a:solidFill>
                <a:sym typeface="Arial"/>
                <a:rtl val="0"/>
              </a:rPr>
              <a:t> and run the </a:t>
            </a:r>
            <a:r>
              <a:rPr lang="en-US" sz="2400" b="1" dirty="0">
                <a:solidFill>
                  <a:schemeClr val="tx1"/>
                </a:solidFill>
                <a:sym typeface="Arial"/>
                <a:rtl val="0"/>
              </a:rPr>
              <a:t>R script</a:t>
            </a:r>
            <a:r>
              <a:rPr lang="en-US" sz="2400" dirty="0">
                <a:solidFill>
                  <a:schemeClr val="tx1"/>
                </a:solidFill>
                <a:sym typeface="Arial"/>
                <a:rtl val="0"/>
              </a:rPr>
              <a:t>, meeting the following requirements:</a:t>
            </a:r>
          </a:p>
          <a:p>
            <a:pPr marL="852488" lvl="1"/>
            <a:r>
              <a:rPr lang="en-US" sz="2000" dirty="0">
                <a:solidFill>
                  <a:schemeClr val="tx1"/>
                </a:solidFill>
                <a:sym typeface="Arial"/>
                <a:rtl val="0"/>
              </a:rPr>
              <a:t>Submit to </a:t>
            </a:r>
            <a:r>
              <a:rPr lang="en-US" sz="2000" b="1" dirty="0">
                <a:solidFill>
                  <a:schemeClr val="tx1"/>
                </a:solidFill>
                <a:sym typeface="Arial"/>
                <a:rtl val="0"/>
              </a:rPr>
              <a:t>owner nodes </a:t>
            </a:r>
            <a:r>
              <a:rPr lang="en-US" sz="2000" dirty="0">
                <a:solidFill>
                  <a:schemeClr val="tx1"/>
                </a:solidFill>
                <a:sym typeface="Arial"/>
                <a:rtl val="0"/>
              </a:rPr>
              <a:t>on </a:t>
            </a:r>
            <a:r>
              <a:rPr lang="en-US" sz="2000" dirty="0" err="1">
                <a:solidFill>
                  <a:schemeClr val="tx1"/>
                </a:solidFill>
                <a:sym typeface="Arial"/>
                <a:rtl val="0"/>
              </a:rPr>
              <a:t>Notchpeak</a:t>
            </a:r>
            <a:endParaRPr lang="en-US" sz="2000" dirty="0">
              <a:solidFill>
                <a:schemeClr val="tx1"/>
              </a:solidFill>
              <a:sym typeface="Arial"/>
              <a:rtl val="0"/>
            </a:endParaRPr>
          </a:p>
          <a:p>
            <a:pPr marL="852488" lvl="1"/>
            <a:r>
              <a:rPr lang="en-US" sz="2000" dirty="0">
                <a:solidFill>
                  <a:schemeClr val="tx1"/>
                </a:solidFill>
                <a:sym typeface="Arial"/>
                <a:rtl val="0"/>
              </a:rPr>
              <a:t>Request </a:t>
            </a:r>
            <a:r>
              <a:rPr lang="en-US" sz="2000" b="1" dirty="0">
                <a:solidFill>
                  <a:schemeClr val="tx1"/>
                </a:solidFill>
                <a:sym typeface="Arial"/>
                <a:rtl val="0"/>
              </a:rPr>
              <a:t>1 CPU</a:t>
            </a:r>
          </a:p>
          <a:p>
            <a:pPr marL="852488" lvl="1"/>
            <a:r>
              <a:rPr lang="en-US" sz="2000" dirty="0">
                <a:solidFill>
                  <a:schemeClr val="tx1"/>
                </a:solidFill>
                <a:sym typeface="Arial"/>
                <a:rtl val="0"/>
              </a:rPr>
              <a:t>Requests </a:t>
            </a:r>
            <a:r>
              <a:rPr lang="en-US" sz="2000" b="1" dirty="0">
                <a:solidFill>
                  <a:schemeClr val="tx1"/>
                </a:solidFill>
                <a:sym typeface="Arial"/>
                <a:rtl val="0"/>
              </a:rPr>
              <a:t>25GB</a:t>
            </a:r>
            <a:r>
              <a:rPr lang="en-US" sz="2000" dirty="0">
                <a:solidFill>
                  <a:schemeClr val="tx1"/>
                </a:solidFill>
                <a:sym typeface="Arial"/>
                <a:rtl val="0"/>
              </a:rPr>
              <a:t> of memory</a:t>
            </a:r>
          </a:p>
          <a:p>
            <a:pPr marL="852488" lvl="1"/>
            <a:r>
              <a:rPr lang="en-US" sz="2000" dirty="0">
                <a:solidFill>
                  <a:schemeClr val="tx1"/>
                </a:solidFill>
                <a:sym typeface="Arial"/>
                <a:rtl val="0"/>
              </a:rPr>
              <a:t>Runs for </a:t>
            </a:r>
            <a:r>
              <a:rPr lang="en-US" sz="2000" b="1" dirty="0">
                <a:solidFill>
                  <a:schemeClr val="tx1"/>
                </a:solidFill>
                <a:sym typeface="Arial"/>
                <a:rtl val="0"/>
              </a:rPr>
              <a:t>5 minutes</a:t>
            </a:r>
          </a:p>
          <a:p>
            <a:pPr marL="852488" lvl="1"/>
            <a:r>
              <a:rPr lang="en-US" sz="2000" dirty="0">
                <a:solidFill>
                  <a:schemeClr val="tx1"/>
                </a:solidFill>
                <a:sym typeface="Arial"/>
                <a:rtl val="0"/>
              </a:rPr>
              <a:t>Creates .</a:t>
            </a:r>
            <a:r>
              <a:rPr lang="en-US" sz="2000" b="1" dirty="0">
                <a:solidFill>
                  <a:schemeClr val="tx1"/>
                </a:solidFill>
                <a:sym typeface="Arial"/>
                <a:rtl val="0"/>
              </a:rPr>
              <a:t>out and .err </a:t>
            </a:r>
            <a:r>
              <a:rPr lang="en-US" sz="2000" dirty="0">
                <a:solidFill>
                  <a:schemeClr val="tx1"/>
                </a:solidFill>
                <a:sym typeface="Arial"/>
                <a:rtl val="0"/>
              </a:rPr>
              <a:t>files</a:t>
            </a:r>
          </a:p>
          <a:p>
            <a:pPr marL="852488" lvl="1"/>
            <a:endParaRPr lang="en-US" sz="2000" dirty="0">
              <a:solidFill>
                <a:schemeClr val="tx1"/>
              </a:solidFill>
              <a:sym typeface="Arial"/>
              <a:rtl val="0"/>
            </a:endParaRPr>
          </a:p>
          <a:p>
            <a:pPr marL="852488" lvl="1"/>
            <a:endParaRPr lang="en-US" sz="2000" dirty="0">
              <a:solidFill>
                <a:schemeClr val="tx1"/>
              </a:solidFill>
              <a:sym typeface="Arial"/>
              <a:rtl val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sz="2400" b="0" i="0" u="none" strike="noStrike" cap="none" baseline="0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  <a:rtl val="0"/>
            </a:endParaRPr>
          </a:p>
        </p:txBody>
      </p:sp>
    </p:spTree>
    <p:extLst>
      <p:ext uri="{BB962C8B-B14F-4D97-AF65-F5344CB8AC3E}">
        <p14:creationId xmlns:p14="http://schemas.microsoft.com/office/powerpoint/2010/main" val="2723674198"/>
      </p:ext>
    </p:extLst>
  </p:cSld>
  <p:clrMapOvr>
    <a:masterClrMapping/>
  </p:clrMapOvr>
  <p:transition spd="slow">
    <p:cut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 txBox="1">
            <a:spLocks noGrp="1"/>
          </p:cNvSpPr>
          <p:nvPr>
            <p:ph type="title"/>
          </p:nvPr>
        </p:nvSpPr>
        <p:spPr>
          <a:xfrm>
            <a:off x="0" y="1078848"/>
            <a:ext cx="9144000" cy="838201"/>
          </a:xfrm>
          <a:prstGeom prst="rect">
            <a:avLst/>
          </a:prstGeom>
          <a:noFill/>
          <a:ln>
            <a:noFill/>
          </a:ln>
        </p:spPr>
        <p:txBody>
          <a:bodyPr lIns="64275" tIns="64275" rIns="64275" bIns="64275" anchor="ctr" anchorCtr="0">
            <a:noAutofit/>
          </a:bodyPr>
          <a:lstStyle/>
          <a:p>
            <a:pPr marL="0" marR="0" lvl="0" indent="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lang="en-US" sz="4000" b="1" dirty="0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  <a:rtl val="0"/>
              </a:rPr>
              <a:t>Hands On #2: Batch Scripting</a:t>
            </a:r>
            <a:endParaRPr lang="en-US" sz="4000" b="1" i="0" u="none" strike="noStrike" cap="none" baseline="0" dirty="0">
              <a:solidFill>
                <a:srgbClr val="990000"/>
              </a:solidFill>
              <a:latin typeface="Arial"/>
              <a:ea typeface="Arial"/>
              <a:cs typeface="Arial"/>
              <a:sym typeface="Arial"/>
              <a:rtl val="0"/>
            </a:endParaRPr>
          </a:p>
        </p:txBody>
      </p:sp>
      <p:sp>
        <p:nvSpPr>
          <p:cNvPr id="5" name="Shape 34"/>
          <p:cNvSpPr txBox="1">
            <a:spLocks noGrp="1"/>
          </p:cNvSpPr>
          <p:nvPr>
            <p:ph type="body" idx="1"/>
          </p:nvPr>
        </p:nvSpPr>
        <p:spPr>
          <a:xfrm>
            <a:off x="0" y="1752600"/>
            <a:ext cx="9005776" cy="5105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452438"/>
            <a:r>
              <a:rPr lang="en-US" sz="2400" dirty="0">
                <a:solidFill>
                  <a:schemeClr val="tx1"/>
                </a:solidFill>
                <a:sym typeface="Arial"/>
                <a:rtl val="0"/>
              </a:rPr>
              <a:t>Goal: Write a </a:t>
            </a:r>
            <a:r>
              <a:rPr lang="en-US" sz="2400" dirty="0" err="1">
                <a:solidFill>
                  <a:schemeClr val="tx1"/>
                </a:solidFill>
                <a:sym typeface="Arial"/>
                <a:rtl val="0"/>
              </a:rPr>
              <a:t>Slurm</a:t>
            </a:r>
            <a:r>
              <a:rPr lang="en-US" sz="2400" dirty="0">
                <a:solidFill>
                  <a:schemeClr val="tx1"/>
                </a:solidFill>
                <a:sym typeface="Arial"/>
                <a:rtl val="0"/>
              </a:rPr>
              <a:t> script that will </a:t>
            </a:r>
            <a:r>
              <a:rPr lang="en-US" sz="2400" b="1" dirty="0">
                <a:solidFill>
                  <a:schemeClr val="tx1"/>
                </a:solidFill>
                <a:sym typeface="Arial"/>
                <a:rtl val="0"/>
              </a:rPr>
              <a:t>copy</a:t>
            </a:r>
            <a:r>
              <a:rPr lang="en-US" sz="2400" dirty="0">
                <a:solidFill>
                  <a:schemeClr val="tx1"/>
                </a:solidFill>
                <a:sym typeface="Arial"/>
                <a:rtl val="0"/>
              </a:rPr>
              <a:t> the input data and R script over to a </a:t>
            </a:r>
            <a:r>
              <a:rPr lang="en-US" sz="2400" b="1" dirty="0">
                <a:solidFill>
                  <a:schemeClr val="tx1"/>
                </a:solidFill>
                <a:sym typeface="Arial"/>
                <a:rtl val="0"/>
              </a:rPr>
              <a:t>scratch directory</a:t>
            </a:r>
            <a:r>
              <a:rPr lang="en-US" sz="2400" dirty="0">
                <a:solidFill>
                  <a:schemeClr val="tx1"/>
                </a:solidFill>
                <a:sym typeface="Arial"/>
                <a:rtl val="0"/>
              </a:rPr>
              <a:t> and run the </a:t>
            </a:r>
            <a:r>
              <a:rPr lang="en-US" sz="2400" b="1" dirty="0">
                <a:solidFill>
                  <a:schemeClr val="tx1"/>
                </a:solidFill>
                <a:sym typeface="Arial"/>
                <a:rtl val="0"/>
              </a:rPr>
              <a:t>R script</a:t>
            </a:r>
            <a:r>
              <a:rPr lang="en-US" sz="2400" dirty="0">
                <a:solidFill>
                  <a:schemeClr val="tx1"/>
                </a:solidFill>
                <a:sym typeface="Arial"/>
                <a:rtl val="0"/>
              </a:rPr>
              <a:t>, meeting the following requirements:</a:t>
            </a:r>
          </a:p>
          <a:p>
            <a:pPr marL="852488" lvl="1"/>
            <a:r>
              <a:rPr lang="en-US" sz="2000" dirty="0">
                <a:solidFill>
                  <a:schemeClr val="tx1"/>
                </a:solidFill>
                <a:sym typeface="Arial"/>
                <a:rtl val="0"/>
              </a:rPr>
              <a:t>Submit to </a:t>
            </a:r>
            <a:r>
              <a:rPr lang="en-US" sz="2000" b="1" u="sng" dirty="0">
                <a:solidFill>
                  <a:schemeClr val="tx1"/>
                </a:solidFill>
                <a:sym typeface="Arial"/>
                <a:rtl val="0"/>
              </a:rPr>
              <a:t>owner nodes </a:t>
            </a:r>
            <a:r>
              <a:rPr lang="en-US" sz="2000" u="sng" dirty="0">
                <a:solidFill>
                  <a:schemeClr val="tx1"/>
                </a:solidFill>
                <a:sym typeface="Arial"/>
                <a:rtl val="0"/>
              </a:rPr>
              <a:t>on </a:t>
            </a:r>
            <a:r>
              <a:rPr lang="en-US" sz="2000" u="sng" dirty="0" err="1">
                <a:solidFill>
                  <a:schemeClr val="tx1"/>
                </a:solidFill>
                <a:sym typeface="Arial"/>
                <a:rtl val="0"/>
              </a:rPr>
              <a:t>Notchpeak</a:t>
            </a:r>
            <a:endParaRPr lang="en-US" sz="2000" u="sng" dirty="0">
              <a:solidFill>
                <a:schemeClr val="tx1"/>
              </a:solidFill>
              <a:sym typeface="Arial"/>
              <a:rtl val="0"/>
            </a:endParaRPr>
          </a:p>
          <a:p>
            <a:pPr marL="852488" lvl="1"/>
            <a:r>
              <a:rPr lang="en-US" sz="2000" dirty="0">
                <a:solidFill>
                  <a:schemeClr val="tx1"/>
                </a:solidFill>
                <a:sym typeface="Arial"/>
                <a:rtl val="0"/>
              </a:rPr>
              <a:t>Request </a:t>
            </a:r>
            <a:r>
              <a:rPr lang="en-US" sz="2000" b="1" dirty="0">
                <a:solidFill>
                  <a:schemeClr val="tx1"/>
                </a:solidFill>
                <a:sym typeface="Arial"/>
                <a:rtl val="0"/>
              </a:rPr>
              <a:t>1 CPU</a:t>
            </a:r>
          </a:p>
          <a:p>
            <a:pPr marL="852488" lvl="1"/>
            <a:r>
              <a:rPr lang="en-US" sz="2000" dirty="0">
                <a:solidFill>
                  <a:schemeClr val="tx1"/>
                </a:solidFill>
                <a:sym typeface="Arial"/>
                <a:rtl val="0"/>
              </a:rPr>
              <a:t>Requests </a:t>
            </a:r>
            <a:r>
              <a:rPr lang="en-US" sz="2000" b="1" dirty="0">
                <a:solidFill>
                  <a:schemeClr val="tx1"/>
                </a:solidFill>
                <a:sym typeface="Arial"/>
                <a:rtl val="0"/>
              </a:rPr>
              <a:t>25GB</a:t>
            </a:r>
            <a:r>
              <a:rPr lang="en-US" sz="2000" dirty="0">
                <a:solidFill>
                  <a:schemeClr val="tx1"/>
                </a:solidFill>
                <a:sym typeface="Arial"/>
                <a:rtl val="0"/>
              </a:rPr>
              <a:t> of memory</a:t>
            </a:r>
          </a:p>
          <a:p>
            <a:pPr marL="852488" lvl="1"/>
            <a:r>
              <a:rPr lang="en-US" sz="2000" dirty="0">
                <a:solidFill>
                  <a:schemeClr val="tx1"/>
                </a:solidFill>
                <a:sym typeface="Arial"/>
                <a:rtl val="0"/>
              </a:rPr>
              <a:t>Runs for </a:t>
            </a:r>
            <a:r>
              <a:rPr lang="en-US" sz="2000" b="1" dirty="0">
                <a:solidFill>
                  <a:schemeClr val="tx1"/>
                </a:solidFill>
                <a:sym typeface="Arial"/>
                <a:rtl val="0"/>
              </a:rPr>
              <a:t>5 minutes</a:t>
            </a:r>
          </a:p>
          <a:p>
            <a:pPr marL="852488" lvl="1"/>
            <a:r>
              <a:rPr lang="en-US" sz="2000" dirty="0">
                <a:solidFill>
                  <a:schemeClr val="tx1"/>
                </a:solidFill>
                <a:sym typeface="Arial"/>
                <a:rtl val="0"/>
              </a:rPr>
              <a:t>Creates .</a:t>
            </a:r>
            <a:r>
              <a:rPr lang="en-US" sz="2000" b="1" dirty="0">
                <a:solidFill>
                  <a:schemeClr val="tx1"/>
                </a:solidFill>
                <a:sym typeface="Arial"/>
                <a:rtl val="0"/>
              </a:rPr>
              <a:t>out and .err </a:t>
            </a:r>
            <a:r>
              <a:rPr lang="en-US" sz="2000" dirty="0">
                <a:solidFill>
                  <a:schemeClr val="tx1"/>
                </a:solidFill>
                <a:sym typeface="Arial"/>
                <a:rtl val="0"/>
              </a:rPr>
              <a:t>files</a:t>
            </a:r>
          </a:p>
          <a:p>
            <a:pPr marL="852488" lvl="1"/>
            <a:endParaRPr lang="en-US" sz="2000" dirty="0">
              <a:solidFill>
                <a:schemeClr val="tx1"/>
              </a:solidFill>
              <a:sym typeface="Arial"/>
              <a:rtl val="0"/>
            </a:endParaRPr>
          </a:p>
          <a:p>
            <a:pPr marL="852488" lvl="1"/>
            <a:endParaRPr lang="en-US" sz="2000" dirty="0">
              <a:solidFill>
                <a:schemeClr val="tx1"/>
              </a:solidFill>
              <a:sym typeface="Arial"/>
              <a:rtl val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sz="2400" b="0" i="0" u="none" strike="noStrike" cap="none" baseline="0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  <a:rtl val="0"/>
            </a:endParaRPr>
          </a:p>
        </p:txBody>
      </p:sp>
    </p:spTree>
    <p:extLst>
      <p:ext uri="{BB962C8B-B14F-4D97-AF65-F5344CB8AC3E}">
        <p14:creationId xmlns:p14="http://schemas.microsoft.com/office/powerpoint/2010/main" val="3919840884"/>
      </p:ext>
    </p:extLst>
  </p:cSld>
  <p:clrMapOvr>
    <a:masterClrMapping/>
  </p:clrMapOvr>
  <p:transition spd="slow">
    <p:cut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 txBox="1">
            <a:spLocks noGrp="1"/>
          </p:cNvSpPr>
          <p:nvPr>
            <p:ph type="title"/>
          </p:nvPr>
        </p:nvSpPr>
        <p:spPr>
          <a:xfrm>
            <a:off x="0" y="1078848"/>
            <a:ext cx="9144000" cy="838201"/>
          </a:xfrm>
          <a:prstGeom prst="rect">
            <a:avLst/>
          </a:prstGeom>
          <a:noFill/>
          <a:ln>
            <a:noFill/>
          </a:ln>
        </p:spPr>
        <p:txBody>
          <a:bodyPr lIns="64275" tIns="64275" rIns="64275" bIns="64275" anchor="ctr" anchorCtr="0">
            <a:noAutofit/>
          </a:bodyPr>
          <a:lstStyle/>
          <a:p>
            <a:pPr marL="0" marR="0" lvl="0" indent="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lang="en-US" sz="4000" b="1" dirty="0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  <a:rtl val="0"/>
              </a:rPr>
              <a:t>Overview of Talk</a:t>
            </a:r>
            <a:endParaRPr lang="en-US" sz="4000" b="1" i="0" u="none" strike="noStrike" cap="none" baseline="0" dirty="0">
              <a:solidFill>
                <a:srgbClr val="990000"/>
              </a:solidFill>
              <a:latin typeface="Arial"/>
              <a:ea typeface="Arial"/>
              <a:cs typeface="Arial"/>
              <a:sym typeface="Arial"/>
              <a:rtl val="0"/>
            </a:endParaRPr>
          </a:p>
        </p:txBody>
      </p:sp>
      <p:sp>
        <p:nvSpPr>
          <p:cNvPr id="5" name="Shape 34"/>
          <p:cNvSpPr txBox="1">
            <a:spLocks noGrp="1"/>
          </p:cNvSpPr>
          <p:nvPr>
            <p:ph type="body" idx="1"/>
          </p:nvPr>
        </p:nvSpPr>
        <p:spPr>
          <a:xfrm>
            <a:off x="0" y="1752600"/>
            <a:ext cx="9005776" cy="5105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452438"/>
            <a:r>
              <a:rPr lang="en-US" sz="2400" dirty="0">
                <a:solidFill>
                  <a:schemeClr val="tx1"/>
                </a:solidFill>
                <a:sym typeface="Arial"/>
                <a:rtl val="0"/>
              </a:rPr>
              <a:t>Overview</a:t>
            </a:r>
          </a:p>
          <a:p>
            <a:pPr marL="452438"/>
            <a:r>
              <a:rPr lang="en-US" sz="2400" dirty="0">
                <a:solidFill>
                  <a:schemeClr val="tx1"/>
                </a:solidFill>
                <a:sym typeface="Arial"/>
                <a:rtl val="0"/>
              </a:rPr>
              <a:t>Basics of a </a:t>
            </a:r>
            <a:r>
              <a:rPr lang="en-US" sz="2400" dirty="0" err="1">
                <a:solidFill>
                  <a:schemeClr val="tx1"/>
                </a:solidFill>
                <a:sym typeface="Arial"/>
                <a:rtl val="0"/>
              </a:rPr>
              <a:t>Slurm</a:t>
            </a:r>
            <a:r>
              <a:rPr lang="en-US" sz="2400" dirty="0">
                <a:solidFill>
                  <a:schemeClr val="tx1"/>
                </a:solidFill>
                <a:sym typeface="Arial"/>
                <a:rtl val="0"/>
              </a:rPr>
              <a:t> Script</a:t>
            </a:r>
          </a:p>
          <a:p>
            <a:pPr marL="452438"/>
            <a:r>
              <a:rPr lang="en-US" sz="2400" dirty="0">
                <a:solidFill>
                  <a:schemeClr val="tx1"/>
                </a:solidFill>
                <a:sym typeface="Arial"/>
                <a:rtl val="0"/>
              </a:rPr>
              <a:t>Getting Started</a:t>
            </a:r>
          </a:p>
          <a:p>
            <a:pPr marL="452438"/>
            <a:r>
              <a:rPr lang="en-US" sz="2400" dirty="0">
                <a:solidFill>
                  <a:schemeClr val="tx1"/>
                </a:solidFill>
                <a:sym typeface="Arial"/>
                <a:rtl val="0"/>
              </a:rPr>
              <a:t>Example Dataset</a:t>
            </a:r>
          </a:p>
          <a:p>
            <a:pPr marL="452438"/>
            <a:r>
              <a:rPr lang="en-US" sz="2400" dirty="0">
                <a:solidFill>
                  <a:schemeClr val="tx1"/>
                </a:solidFill>
                <a:sym typeface="Arial"/>
                <a:rtl val="0"/>
              </a:rPr>
              <a:t>Hands On: Batch Scripting</a:t>
            </a:r>
          </a:p>
          <a:p>
            <a:pPr marL="852488" lvl="1"/>
            <a:r>
              <a:rPr lang="en-US" sz="2000" dirty="0">
                <a:solidFill>
                  <a:schemeClr val="tx1"/>
                </a:solidFill>
                <a:sym typeface="Arial"/>
                <a:rtl val="0"/>
              </a:rPr>
              <a:t>#1: Submitting to </a:t>
            </a:r>
            <a:r>
              <a:rPr lang="en-US" sz="2000" dirty="0" err="1">
                <a:solidFill>
                  <a:schemeClr val="tx1"/>
                </a:solidFill>
                <a:sym typeface="Arial"/>
                <a:rtl val="0"/>
              </a:rPr>
              <a:t>Notchpeak</a:t>
            </a:r>
            <a:r>
              <a:rPr lang="en-US" sz="2000" dirty="0">
                <a:solidFill>
                  <a:schemeClr val="tx1"/>
                </a:solidFill>
                <a:sym typeface="Arial"/>
                <a:rtl val="0"/>
              </a:rPr>
              <a:t> Cluster</a:t>
            </a:r>
          </a:p>
          <a:p>
            <a:pPr marL="852488" lvl="1"/>
            <a:r>
              <a:rPr lang="en-US" sz="2000" dirty="0">
                <a:solidFill>
                  <a:schemeClr val="tx1"/>
                </a:solidFill>
                <a:sym typeface="Arial"/>
                <a:rtl val="0"/>
              </a:rPr>
              <a:t>#2: Submitting to Owner Nodes</a:t>
            </a:r>
          </a:p>
          <a:p>
            <a:pPr marL="452438"/>
            <a:r>
              <a:rPr lang="en-US" sz="2400" dirty="0">
                <a:solidFill>
                  <a:schemeClr val="accent2"/>
                </a:solidFill>
                <a:sym typeface="Arial"/>
                <a:rtl val="0"/>
              </a:rPr>
              <a:t>Hands On #3: Start an Interactive Job</a:t>
            </a:r>
          </a:p>
          <a:p>
            <a:pPr marL="452438"/>
            <a:r>
              <a:rPr lang="en-US" sz="2400" dirty="0">
                <a:solidFill>
                  <a:schemeClr val="tx1"/>
                </a:solidFill>
                <a:sym typeface="Arial"/>
                <a:rtl val="0"/>
              </a:rPr>
              <a:t>Hands On #4: Open OnDemand’s Job Composer</a:t>
            </a:r>
          </a:p>
        </p:txBody>
      </p:sp>
    </p:spTree>
    <p:extLst>
      <p:ext uri="{BB962C8B-B14F-4D97-AF65-F5344CB8AC3E}">
        <p14:creationId xmlns:p14="http://schemas.microsoft.com/office/powerpoint/2010/main" val="1923442357"/>
      </p:ext>
    </p:extLst>
  </p:cSld>
  <p:clrMapOvr>
    <a:masterClrMapping/>
  </p:clrMapOvr>
  <p:transition spd="slow">
    <p:cut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43000"/>
            <a:ext cx="8153400" cy="762000"/>
          </a:xfrm>
        </p:spPr>
        <p:txBody>
          <a:bodyPr/>
          <a:lstStyle/>
          <a:p>
            <a:pPr algn="ctr" eaLnBrk="1" hangingPunct="1"/>
            <a:r>
              <a:rPr lang="en-US" sz="4000" b="1" dirty="0">
                <a:solidFill>
                  <a:srgbClr val="990000"/>
                </a:solidFill>
                <a:latin typeface="+mn-lt"/>
              </a:rPr>
              <a:t>Running interactive batch jobs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47846" y="1909762"/>
            <a:ext cx="9048308" cy="4876800"/>
          </a:xfrm>
        </p:spPr>
        <p:txBody>
          <a:bodyPr/>
          <a:lstStyle/>
          <a:p>
            <a:r>
              <a:rPr lang="en-US" sz="2800" dirty="0"/>
              <a:t>An interactive command is launched through the </a:t>
            </a:r>
            <a:r>
              <a:rPr lang="en-US" sz="28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salloc</a:t>
            </a:r>
            <a:r>
              <a:rPr lang="en-US" sz="2800" dirty="0"/>
              <a:t> command</a:t>
            </a:r>
            <a:endParaRPr lang="en-US" sz="2700" b="1" i="1" dirty="0"/>
          </a:p>
        </p:txBody>
      </p:sp>
    </p:spTree>
    <p:extLst>
      <p:ext uri="{BB962C8B-B14F-4D97-AF65-F5344CB8AC3E}">
        <p14:creationId xmlns:p14="http://schemas.microsoft.com/office/powerpoint/2010/main" val="2235741211"/>
      </p:ext>
    </p:extLst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43000"/>
            <a:ext cx="8153400" cy="762000"/>
          </a:xfrm>
        </p:spPr>
        <p:txBody>
          <a:bodyPr/>
          <a:lstStyle/>
          <a:p>
            <a:pPr algn="ctr" eaLnBrk="1" hangingPunct="1"/>
            <a:r>
              <a:rPr lang="en-US" sz="4000" b="1" dirty="0">
                <a:solidFill>
                  <a:srgbClr val="990000"/>
                </a:solidFill>
                <a:latin typeface="+mn-lt"/>
              </a:rPr>
              <a:t>Running interactive batch jobs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-14377" y="1905000"/>
            <a:ext cx="10086754" cy="4876800"/>
          </a:xfrm>
        </p:spPr>
        <p:txBody>
          <a:bodyPr/>
          <a:lstStyle/>
          <a:p>
            <a:r>
              <a:rPr lang="en-US" sz="2800" dirty="0"/>
              <a:t>An interactive command is launched through the </a:t>
            </a:r>
            <a:r>
              <a:rPr lang="en-US" sz="28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salloc</a:t>
            </a:r>
            <a:r>
              <a:rPr lang="en-US" sz="2800" dirty="0"/>
              <a:t> command</a:t>
            </a:r>
            <a:br>
              <a:rPr lang="en-US" sz="1600" dirty="0"/>
            </a:br>
            <a:r>
              <a:rPr lang="en-US" sz="1800" dirty="0" err="1">
                <a:latin typeface="Courier" pitchFamily="49" charset="0"/>
              </a:rPr>
              <a:t>salloc</a:t>
            </a:r>
            <a:r>
              <a:rPr lang="en-US" sz="1800" dirty="0">
                <a:latin typeface="Courier" pitchFamily="49" charset="0"/>
              </a:rPr>
              <a:t> --time=8:00:00 -–</a:t>
            </a:r>
            <a:r>
              <a:rPr lang="en-US" sz="1800" dirty="0" err="1">
                <a:latin typeface="Courier" pitchFamily="49" charset="0"/>
              </a:rPr>
              <a:t>ntasks</a:t>
            </a:r>
            <a:r>
              <a:rPr lang="en-US" sz="1800" dirty="0">
                <a:latin typeface="Courier" pitchFamily="49" charset="0"/>
              </a:rPr>
              <a:t>=4 --nodes=1 –-mem=16G                    --account=&lt;account&gt; --partition=</a:t>
            </a:r>
            <a:r>
              <a:rPr lang="en-US" sz="1800" dirty="0" err="1">
                <a:latin typeface="Courier" pitchFamily="49" charset="0"/>
              </a:rPr>
              <a:t>kingspeak</a:t>
            </a:r>
            <a:r>
              <a:rPr lang="en-US" sz="1800" dirty="0">
                <a:latin typeface="Courier" pitchFamily="49" charset="0"/>
              </a:rPr>
              <a:t>-shared --</a:t>
            </a:r>
            <a:r>
              <a:rPr lang="en-US" sz="1800" dirty="0" err="1">
                <a:latin typeface="Courier" pitchFamily="49" charset="0"/>
              </a:rPr>
              <a:t>qos</a:t>
            </a:r>
            <a:r>
              <a:rPr lang="en-US" sz="1800" dirty="0">
                <a:latin typeface="Courier" pitchFamily="49" charset="0"/>
              </a:rPr>
              <a:t>=</a:t>
            </a:r>
            <a:r>
              <a:rPr lang="en-US" sz="1800" dirty="0" err="1">
                <a:latin typeface="Courier" pitchFamily="49" charset="0"/>
              </a:rPr>
              <a:t>kingspeak</a:t>
            </a:r>
            <a:r>
              <a:rPr lang="en-US" sz="1800" dirty="0">
                <a:latin typeface="Courier" pitchFamily="49" charset="0"/>
              </a:rPr>
              <a:t> </a:t>
            </a:r>
            <a:endParaRPr lang="en-US" sz="2000" dirty="0">
              <a:latin typeface="Courier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0966173"/>
      </p:ext>
    </p:extLst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-102339" y="1147762"/>
            <a:ext cx="9348677" cy="762000"/>
          </a:xfrm>
        </p:spPr>
        <p:txBody>
          <a:bodyPr/>
          <a:lstStyle/>
          <a:p>
            <a:pPr algn="ctr" eaLnBrk="1" hangingPunct="1"/>
            <a:r>
              <a:rPr lang="en-US" sz="4000" b="1" dirty="0">
                <a:solidFill>
                  <a:srgbClr val="990000"/>
                </a:solidFill>
                <a:latin typeface="+mn-lt"/>
              </a:rPr>
              <a:t>Hands On #3: Start an Interactive Job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47846" y="1909762"/>
            <a:ext cx="9048308" cy="4876800"/>
          </a:xfrm>
        </p:spPr>
        <p:txBody>
          <a:bodyPr/>
          <a:lstStyle/>
          <a:p>
            <a:r>
              <a:rPr lang="en-US" sz="2400" dirty="0"/>
              <a:t>Start an interactive session with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salloc</a:t>
            </a:r>
            <a:r>
              <a:rPr lang="en-US" sz="2400" dirty="0"/>
              <a:t> command and specify:</a:t>
            </a:r>
          </a:p>
          <a:p>
            <a:pPr lvl="1"/>
            <a:r>
              <a:rPr lang="en-US" sz="2400" b="1" dirty="0" err="1"/>
              <a:t>Notchpeak</a:t>
            </a:r>
            <a:r>
              <a:rPr lang="en-US" sz="2400" b="1" dirty="0"/>
              <a:t>-shared-short</a:t>
            </a:r>
            <a:r>
              <a:rPr lang="en-US" sz="2400" dirty="0"/>
              <a:t> partition and associated account</a:t>
            </a:r>
          </a:p>
          <a:p>
            <a:pPr lvl="1"/>
            <a:r>
              <a:rPr lang="en-US" sz="2400" b="1" dirty="0"/>
              <a:t>10 minutes time</a:t>
            </a:r>
          </a:p>
          <a:p>
            <a:r>
              <a:rPr lang="en-US" sz="2400" dirty="0"/>
              <a:t>Run the R script</a:t>
            </a:r>
          </a:p>
          <a:p>
            <a:r>
              <a:rPr lang="en-US" sz="2400" dirty="0"/>
              <a:t>Exit when R script has completed</a:t>
            </a:r>
          </a:p>
          <a:p>
            <a:pPr lvl="1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086021315"/>
      </p:ext>
    </p:extLst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-102339" y="1161873"/>
            <a:ext cx="9348677" cy="762000"/>
          </a:xfrm>
        </p:spPr>
        <p:txBody>
          <a:bodyPr/>
          <a:lstStyle/>
          <a:p>
            <a:pPr algn="ctr" eaLnBrk="1" hangingPunct="1"/>
            <a:r>
              <a:rPr lang="en-US" sz="4000" b="1" dirty="0">
                <a:solidFill>
                  <a:srgbClr val="990000"/>
                </a:solidFill>
                <a:latin typeface="+mn-lt"/>
              </a:rPr>
              <a:t>Hands On #3: Start an Interactive Job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47846" y="1909762"/>
            <a:ext cx="9048308" cy="528638"/>
          </a:xfrm>
        </p:spPr>
        <p:txBody>
          <a:bodyPr/>
          <a:lstStyle/>
          <a:p>
            <a:r>
              <a:rPr lang="en-US" sz="2400" dirty="0"/>
              <a:t>After </a:t>
            </a:r>
            <a:r>
              <a:rPr lang="en-US" sz="2400" i="1" dirty="0"/>
              <a:t>requesting</a:t>
            </a:r>
            <a:r>
              <a:rPr lang="en-US" sz="2400" dirty="0"/>
              <a:t> interactive node with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salloc</a:t>
            </a:r>
            <a:r>
              <a:rPr lang="en-US" sz="2400" dirty="0"/>
              <a:t>, you saw: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endParaRPr lang="en-US" sz="2400" dirty="0"/>
          </a:p>
          <a:p>
            <a:pPr marL="457200" lvl="1" indent="0">
              <a:buNone/>
            </a:pPr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</p:txBody>
      </p:sp>
      <p:pic>
        <p:nvPicPr>
          <p:cNvPr id="3" name="Picture 2" descr="A computer screen with white text&#10;&#10;Description automatically generated">
            <a:extLst>
              <a:ext uri="{FF2B5EF4-FFF2-40B4-BE49-F238E27FC236}">
                <a16:creationId xmlns:a16="http://schemas.microsoft.com/office/drawing/2014/main" id="{C3FEFDFA-C9F3-5111-6CC7-8D513CDA78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2352477"/>
            <a:ext cx="7632700" cy="1689100"/>
          </a:xfrm>
          <a:prstGeom prst="rect">
            <a:avLst/>
          </a:prstGeom>
        </p:spPr>
      </p:pic>
      <p:sp>
        <p:nvSpPr>
          <p:cNvPr id="4" name="Right Brace 3">
            <a:extLst>
              <a:ext uri="{FF2B5EF4-FFF2-40B4-BE49-F238E27FC236}">
                <a16:creationId xmlns:a16="http://schemas.microsoft.com/office/drawing/2014/main" id="{E7BA2B43-8EED-F4C3-258B-A307D5DD489E}"/>
              </a:ext>
            </a:extLst>
          </p:cNvPr>
          <p:cNvSpPr/>
          <p:nvPr/>
        </p:nvSpPr>
        <p:spPr bwMode="auto">
          <a:xfrm>
            <a:off x="4800600" y="2856266"/>
            <a:ext cx="304800" cy="528638"/>
          </a:xfrm>
          <a:prstGeom prst="rightBrac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CC7AE99D-5E40-7FFF-793D-53C3FF42C53E}"/>
              </a:ext>
            </a:extLst>
          </p:cNvPr>
          <p:cNvSpPr/>
          <p:nvPr/>
        </p:nvSpPr>
        <p:spPr bwMode="auto">
          <a:xfrm>
            <a:off x="4051653" y="3386034"/>
            <a:ext cx="304800" cy="528638"/>
          </a:xfrm>
          <a:prstGeom prst="rightBrac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0D33016-76B4-4F84-CD7F-83C265CDFB7F}"/>
              </a:ext>
            </a:extLst>
          </p:cNvPr>
          <p:cNvSpPr/>
          <p:nvPr/>
        </p:nvSpPr>
        <p:spPr bwMode="auto">
          <a:xfrm>
            <a:off x="152400" y="3733800"/>
            <a:ext cx="1968500" cy="297039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01F512-5554-EC55-597B-FF3394703ED2}"/>
              </a:ext>
            </a:extLst>
          </p:cNvPr>
          <p:cNvSpPr txBox="1"/>
          <p:nvPr/>
        </p:nvSpPr>
        <p:spPr>
          <a:xfrm>
            <a:off x="5143500" y="2856266"/>
            <a:ext cx="2603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solidFill>
                  <a:srgbClr val="FF0000"/>
                </a:solidFill>
              </a:rPr>
              <a:t>Slurm</a:t>
            </a:r>
            <a:r>
              <a:rPr lang="en-US" sz="1400" dirty="0">
                <a:solidFill>
                  <a:srgbClr val="FF0000"/>
                </a:solidFill>
              </a:rPr>
              <a:t> grants job ID, no node granted yet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BAD52B-DB15-0A92-15E6-440D0EBFAA4D}"/>
              </a:ext>
            </a:extLst>
          </p:cNvPr>
          <p:cNvSpPr txBox="1"/>
          <p:nvPr/>
        </p:nvSpPr>
        <p:spPr>
          <a:xfrm>
            <a:off x="4338814" y="3496465"/>
            <a:ext cx="26035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Node granted (notch081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3B6E82-4FC3-2E3F-2561-EB2C260B5085}"/>
              </a:ext>
            </a:extLst>
          </p:cNvPr>
          <p:cNvSpPr txBox="1"/>
          <p:nvPr/>
        </p:nvSpPr>
        <p:spPr>
          <a:xfrm>
            <a:off x="2201686" y="3733800"/>
            <a:ext cx="28987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Automatic ssh to node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986A00-02AE-EC14-B98A-3C77DE92FD10}"/>
              </a:ext>
            </a:extLst>
          </p:cNvPr>
          <p:cNvSpPr txBox="1"/>
          <p:nvPr/>
        </p:nvSpPr>
        <p:spPr>
          <a:xfrm>
            <a:off x="382512" y="4043943"/>
            <a:ext cx="794788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- This gets around Arbiter if you have an interactive script</a:t>
            </a:r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D028ED-BF2C-D74B-7626-3248EE4DAB63}"/>
              </a:ext>
            </a:extLst>
          </p:cNvPr>
          <p:cNvSpPr txBox="1"/>
          <p:nvPr/>
        </p:nvSpPr>
        <p:spPr>
          <a:xfrm>
            <a:off x="-76939" y="4470180"/>
            <a:ext cx="90483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400" dirty="0"/>
              <a:t>- This is a great way to open </a:t>
            </a:r>
            <a:r>
              <a:rPr lang="en-US" sz="2400" dirty="0" err="1"/>
              <a:t>Rstudio</a:t>
            </a:r>
            <a:r>
              <a:rPr lang="en-US" sz="2400" dirty="0"/>
              <a:t> sessions and other GUIs (through a </a:t>
            </a:r>
            <a:r>
              <a:rPr lang="en-US" sz="2400" b="1" dirty="0" err="1"/>
              <a:t>FastX</a:t>
            </a:r>
            <a:r>
              <a:rPr lang="en-US" sz="2400" b="1" dirty="0"/>
              <a:t> </a:t>
            </a:r>
            <a:r>
              <a:rPr lang="en-US" sz="2400" dirty="0"/>
              <a:t>session).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81981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/>
      <p:bldP spid="8" grpId="0"/>
      <p:bldP spid="9" grpId="0"/>
      <p:bldP spid="10" grpId="0"/>
      <p:bldP spid="11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screen with white text&#10;&#10;Description automatically generated">
            <a:extLst>
              <a:ext uri="{FF2B5EF4-FFF2-40B4-BE49-F238E27FC236}">
                <a16:creationId xmlns:a16="http://schemas.microsoft.com/office/drawing/2014/main" id="{B8B34EE1-13D5-81B2-1A83-9B8E587FF9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46"/>
          <a:stretch/>
        </p:blipFill>
        <p:spPr>
          <a:xfrm>
            <a:off x="259300" y="2334238"/>
            <a:ext cx="6783545" cy="1295400"/>
          </a:xfrm>
          <a:prstGeom prst="rect">
            <a:avLst/>
          </a:prstGeom>
        </p:spPr>
      </p:pic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-102339" y="1161873"/>
            <a:ext cx="9348677" cy="762000"/>
          </a:xfrm>
        </p:spPr>
        <p:txBody>
          <a:bodyPr/>
          <a:lstStyle/>
          <a:p>
            <a:pPr algn="ctr" eaLnBrk="1" hangingPunct="1"/>
            <a:r>
              <a:rPr lang="en-US" sz="4000" b="1" dirty="0">
                <a:solidFill>
                  <a:srgbClr val="990000"/>
                </a:solidFill>
                <a:latin typeface="+mn-lt"/>
              </a:rPr>
              <a:t>Hands On #3: Start an Interactive Job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47846" y="1909762"/>
            <a:ext cx="9048308" cy="528638"/>
          </a:xfrm>
        </p:spPr>
        <p:txBody>
          <a:bodyPr/>
          <a:lstStyle/>
          <a:p>
            <a:r>
              <a:rPr lang="en-US" sz="2400" dirty="0"/>
              <a:t>After </a:t>
            </a:r>
            <a:r>
              <a:rPr lang="en-US" sz="2400" i="1" dirty="0"/>
              <a:t>relinquishing</a:t>
            </a:r>
            <a:r>
              <a:rPr lang="en-US" sz="2400" dirty="0"/>
              <a:t> the interactive node, you saw: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endParaRPr lang="en-US" sz="24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</p:txBody>
      </p:sp>
      <p:sp>
        <p:nvSpPr>
          <p:cNvPr id="4" name="Right Brace 3">
            <a:extLst>
              <a:ext uri="{FF2B5EF4-FFF2-40B4-BE49-F238E27FC236}">
                <a16:creationId xmlns:a16="http://schemas.microsoft.com/office/drawing/2014/main" id="{E7BA2B43-8EED-F4C3-258B-A307D5DD489E}"/>
              </a:ext>
            </a:extLst>
          </p:cNvPr>
          <p:cNvSpPr/>
          <p:nvPr/>
        </p:nvSpPr>
        <p:spPr bwMode="auto">
          <a:xfrm>
            <a:off x="6598451" y="2730492"/>
            <a:ext cx="304800" cy="528638"/>
          </a:xfrm>
          <a:prstGeom prst="rightBrac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0D33016-76B4-4F84-CD7F-83C265CDFB7F}"/>
              </a:ext>
            </a:extLst>
          </p:cNvPr>
          <p:cNvSpPr/>
          <p:nvPr/>
        </p:nvSpPr>
        <p:spPr bwMode="auto">
          <a:xfrm>
            <a:off x="272248" y="3236161"/>
            <a:ext cx="3232951" cy="297039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01F512-5554-EC55-597B-FF3394703ED2}"/>
              </a:ext>
            </a:extLst>
          </p:cNvPr>
          <p:cNvSpPr txBox="1"/>
          <p:nvPr/>
        </p:nvSpPr>
        <p:spPr>
          <a:xfrm>
            <a:off x="7008978" y="2880130"/>
            <a:ext cx="2071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Job allocation revoked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3B6E82-4FC3-2E3F-2561-EB2C260B5085}"/>
              </a:ext>
            </a:extLst>
          </p:cNvPr>
          <p:cNvSpPr txBox="1"/>
          <p:nvPr/>
        </p:nvSpPr>
        <p:spPr>
          <a:xfrm>
            <a:off x="3981898" y="3243445"/>
            <a:ext cx="28987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Returned to login node</a:t>
            </a:r>
          </a:p>
        </p:txBody>
      </p:sp>
    </p:spTree>
    <p:extLst>
      <p:ext uri="{BB962C8B-B14F-4D97-AF65-F5344CB8AC3E}">
        <p14:creationId xmlns:p14="http://schemas.microsoft.com/office/powerpoint/2010/main" val="238079737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/>
      <p:bldP spid="9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 txBox="1">
            <a:spLocks noGrp="1"/>
          </p:cNvSpPr>
          <p:nvPr>
            <p:ph type="title"/>
          </p:nvPr>
        </p:nvSpPr>
        <p:spPr>
          <a:xfrm>
            <a:off x="0" y="1078848"/>
            <a:ext cx="9144000" cy="838201"/>
          </a:xfrm>
          <a:prstGeom prst="rect">
            <a:avLst/>
          </a:prstGeom>
          <a:noFill/>
          <a:ln>
            <a:noFill/>
          </a:ln>
        </p:spPr>
        <p:txBody>
          <a:bodyPr lIns="64275" tIns="64275" rIns="64275" bIns="64275" anchor="ctr" anchorCtr="0">
            <a:noAutofit/>
          </a:bodyPr>
          <a:lstStyle/>
          <a:p>
            <a:pPr marL="0" marR="0" lvl="0" indent="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lang="en-US" sz="4000" b="1" dirty="0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  <a:rtl val="0"/>
              </a:rPr>
              <a:t>Overview of Talk</a:t>
            </a:r>
            <a:endParaRPr lang="en-US" sz="4000" b="1" i="0" u="none" strike="noStrike" cap="none" baseline="0" dirty="0">
              <a:solidFill>
                <a:srgbClr val="990000"/>
              </a:solidFill>
              <a:latin typeface="Arial"/>
              <a:ea typeface="Arial"/>
              <a:cs typeface="Arial"/>
              <a:sym typeface="Arial"/>
              <a:rtl val="0"/>
            </a:endParaRPr>
          </a:p>
        </p:txBody>
      </p:sp>
      <p:sp>
        <p:nvSpPr>
          <p:cNvPr id="5" name="Shape 34"/>
          <p:cNvSpPr txBox="1">
            <a:spLocks noGrp="1"/>
          </p:cNvSpPr>
          <p:nvPr>
            <p:ph type="body" idx="1"/>
          </p:nvPr>
        </p:nvSpPr>
        <p:spPr>
          <a:xfrm>
            <a:off x="0" y="1752600"/>
            <a:ext cx="9005776" cy="5105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452438"/>
            <a:r>
              <a:rPr lang="en-US" sz="2400" dirty="0">
                <a:solidFill>
                  <a:schemeClr val="tx1"/>
                </a:solidFill>
                <a:sym typeface="Arial"/>
                <a:rtl val="0"/>
              </a:rPr>
              <a:t>Overview</a:t>
            </a:r>
          </a:p>
          <a:p>
            <a:pPr marL="452438"/>
            <a:r>
              <a:rPr lang="en-US" sz="2400" dirty="0">
                <a:solidFill>
                  <a:schemeClr val="tx1"/>
                </a:solidFill>
                <a:sym typeface="Arial"/>
                <a:rtl val="0"/>
              </a:rPr>
              <a:t>Basics of a </a:t>
            </a:r>
            <a:r>
              <a:rPr lang="en-US" sz="2400" dirty="0" err="1">
                <a:solidFill>
                  <a:schemeClr val="tx1"/>
                </a:solidFill>
                <a:sym typeface="Arial"/>
                <a:rtl val="0"/>
              </a:rPr>
              <a:t>Slurm</a:t>
            </a:r>
            <a:r>
              <a:rPr lang="en-US" sz="2400" dirty="0">
                <a:solidFill>
                  <a:schemeClr val="tx1"/>
                </a:solidFill>
                <a:sym typeface="Arial"/>
                <a:rtl val="0"/>
              </a:rPr>
              <a:t> Script</a:t>
            </a:r>
          </a:p>
          <a:p>
            <a:pPr marL="452438"/>
            <a:r>
              <a:rPr lang="en-US" sz="2400" dirty="0">
                <a:solidFill>
                  <a:schemeClr val="tx1"/>
                </a:solidFill>
                <a:sym typeface="Arial"/>
                <a:rtl val="0"/>
              </a:rPr>
              <a:t>Getting Started</a:t>
            </a:r>
          </a:p>
          <a:p>
            <a:pPr marL="452438"/>
            <a:r>
              <a:rPr lang="en-US" sz="2400" dirty="0">
                <a:solidFill>
                  <a:schemeClr val="tx1"/>
                </a:solidFill>
                <a:sym typeface="Arial"/>
                <a:rtl val="0"/>
              </a:rPr>
              <a:t>Example Dataset</a:t>
            </a:r>
          </a:p>
          <a:p>
            <a:pPr marL="452438"/>
            <a:r>
              <a:rPr lang="en-US" sz="2400" dirty="0">
                <a:solidFill>
                  <a:schemeClr val="tx1"/>
                </a:solidFill>
                <a:sym typeface="Arial"/>
                <a:rtl val="0"/>
              </a:rPr>
              <a:t>Hands On: Batch Scripting</a:t>
            </a:r>
          </a:p>
          <a:p>
            <a:pPr marL="852488" lvl="1"/>
            <a:r>
              <a:rPr lang="en-US" sz="2000" dirty="0">
                <a:solidFill>
                  <a:schemeClr val="tx1"/>
                </a:solidFill>
                <a:sym typeface="Arial"/>
                <a:rtl val="0"/>
              </a:rPr>
              <a:t>#1: Submitting to </a:t>
            </a:r>
            <a:r>
              <a:rPr lang="en-US" sz="2000" dirty="0" err="1">
                <a:solidFill>
                  <a:schemeClr val="tx1"/>
                </a:solidFill>
                <a:sym typeface="Arial"/>
                <a:rtl val="0"/>
              </a:rPr>
              <a:t>Notchpeak</a:t>
            </a:r>
            <a:r>
              <a:rPr lang="en-US" sz="2000" dirty="0">
                <a:solidFill>
                  <a:schemeClr val="tx1"/>
                </a:solidFill>
                <a:sym typeface="Arial"/>
                <a:rtl val="0"/>
              </a:rPr>
              <a:t> Cluster</a:t>
            </a:r>
          </a:p>
          <a:p>
            <a:pPr marL="852488" lvl="1"/>
            <a:r>
              <a:rPr lang="en-US" sz="2000" dirty="0">
                <a:solidFill>
                  <a:schemeClr val="tx1"/>
                </a:solidFill>
                <a:sym typeface="Arial"/>
                <a:rtl val="0"/>
              </a:rPr>
              <a:t>#2: Submitting to Owner Nodes</a:t>
            </a:r>
          </a:p>
          <a:p>
            <a:pPr marL="452438"/>
            <a:r>
              <a:rPr lang="en-US" sz="2400" dirty="0">
                <a:solidFill>
                  <a:schemeClr val="tx1"/>
                </a:solidFill>
                <a:sym typeface="Arial"/>
                <a:rtl val="0"/>
              </a:rPr>
              <a:t>Hands On #3: Start an Interactive Job</a:t>
            </a:r>
          </a:p>
          <a:p>
            <a:pPr marL="452438"/>
            <a:r>
              <a:rPr lang="en-US" sz="2400" dirty="0">
                <a:solidFill>
                  <a:schemeClr val="accent2"/>
                </a:solidFill>
                <a:sym typeface="Arial"/>
                <a:rtl val="0"/>
              </a:rPr>
              <a:t>Hands On #4: Open OnDemand’s Job Composer</a:t>
            </a:r>
          </a:p>
        </p:txBody>
      </p:sp>
    </p:spTree>
    <p:extLst>
      <p:ext uri="{BB962C8B-B14F-4D97-AF65-F5344CB8AC3E}">
        <p14:creationId xmlns:p14="http://schemas.microsoft.com/office/powerpoint/2010/main" val="193075106"/>
      </p:ext>
    </p:extLst>
  </p:cSld>
  <p:clrMapOvr>
    <a:masterClrMapping/>
  </p:clrMapOvr>
  <p:transition spd="slow">
    <p:cut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252523" y="1147762"/>
            <a:ext cx="8638954" cy="762000"/>
          </a:xfrm>
        </p:spPr>
        <p:txBody>
          <a:bodyPr/>
          <a:lstStyle/>
          <a:p>
            <a:pPr algn="ctr" eaLnBrk="1" hangingPunct="1"/>
            <a:r>
              <a:rPr lang="en-US" sz="4000" b="1" dirty="0">
                <a:solidFill>
                  <a:srgbClr val="990000"/>
                </a:solidFill>
                <a:latin typeface="+mn-lt"/>
              </a:rPr>
              <a:t>Open OnDemand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47846" y="1909762"/>
            <a:ext cx="9048308" cy="4876800"/>
          </a:xfrm>
        </p:spPr>
        <p:txBody>
          <a:bodyPr/>
          <a:lstStyle/>
          <a:p>
            <a:r>
              <a:rPr lang="en-US" sz="2400" dirty="0"/>
              <a:t>Open OnDemand has built-in tools available as a GUI</a:t>
            </a:r>
          </a:p>
          <a:p>
            <a:r>
              <a:rPr lang="en-US" sz="2400" dirty="0"/>
              <a:t>Great alternative for users who aren’t comfortable via command line</a:t>
            </a:r>
          </a:p>
          <a:p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049791664"/>
      </p:ext>
    </p:extLst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252523" y="1147762"/>
            <a:ext cx="8638954" cy="762000"/>
          </a:xfrm>
        </p:spPr>
        <p:txBody>
          <a:bodyPr/>
          <a:lstStyle/>
          <a:p>
            <a:pPr algn="ctr" eaLnBrk="1" hangingPunct="1"/>
            <a:r>
              <a:rPr lang="en-US" sz="4000" b="1" dirty="0">
                <a:solidFill>
                  <a:srgbClr val="990000"/>
                </a:solidFill>
                <a:latin typeface="+mn-lt"/>
              </a:rPr>
              <a:t>Hands On #4: Open OnDemand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47846" y="1909762"/>
            <a:ext cx="9048308" cy="452438"/>
          </a:xfrm>
        </p:spPr>
        <p:txBody>
          <a:bodyPr/>
          <a:lstStyle/>
          <a:p>
            <a:r>
              <a:rPr lang="en-US" sz="2400" dirty="0"/>
              <a:t>Navigate to </a:t>
            </a:r>
            <a:r>
              <a:rPr lang="en-US" sz="2400" b="1" dirty="0" err="1"/>
              <a:t>ondemand.chpc.utah.edu</a:t>
            </a:r>
            <a:endParaRPr lang="en-US" sz="2400" b="1" dirty="0"/>
          </a:p>
          <a:p>
            <a:r>
              <a:rPr lang="en-US" sz="2400" dirty="0"/>
              <a:t>Go to the ‘</a:t>
            </a:r>
            <a:r>
              <a:rPr lang="en-US" sz="2400" b="1" dirty="0"/>
              <a:t>Jobs</a:t>
            </a:r>
            <a:r>
              <a:rPr lang="en-US" sz="2400" dirty="0"/>
              <a:t>’ menu item</a:t>
            </a:r>
          </a:p>
          <a:p>
            <a:r>
              <a:rPr lang="en-US" sz="2400" dirty="0"/>
              <a:t>Click ‘</a:t>
            </a:r>
            <a:r>
              <a:rPr lang="en-US" sz="2400" b="1" dirty="0"/>
              <a:t>Job Composer</a:t>
            </a:r>
            <a:r>
              <a:rPr lang="en-US" sz="2400" dirty="0"/>
              <a:t>’</a:t>
            </a:r>
          </a:p>
          <a:p>
            <a:r>
              <a:rPr lang="en-US" sz="2400" dirty="0"/>
              <a:t>Click ‘</a:t>
            </a:r>
            <a:r>
              <a:rPr lang="en-US" sz="2400" b="1" dirty="0"/>
              <a:t>New Job</a:t>
            </a:r>
            <a:r>
              <a:rPr lang="en-US" sz="2400" dirty="0"/>
              <a:t>’ -&gt; ‘</a:t>
            </a:r>
            <a:r>
              <a:rPr lang="en-US" sz="2400" b="1" dirty="0"/>
              <a:t>From Specified Path</a:t>
            </a:r>
            <a:r>
              <a:rPr lang="en-US" sz="2400" dirty="0"/>
              <a:t>’</a:t>
            </a:r>
          </a:p>
          <a:p>
            <a:r>
              <a:rPr lang="en-US" sz="2400" dirty="0"/>
              <a:t>Input path that your </a:t>
            </a:r>
            <a:r>
              <a:rPr lang="en-US" sz="2400" dirty="0" err="1"/>
              <a:t>Slurm</a:t>
            </a:r>
            <a:r>
              <a:rPr lang="en-US" sz="2400" dirty="0"/>
              <a:t> script resides and </a:t>
            </a:r>
            <a:r>
              <a:rPr lang="en-US" sz="2400" b="1" dirty="0"/>
              <a:t>submit job</a:t>
            </a:r>
          </a:p>
          <a:p>
            <a:r>
              <a:rPr lang="en-US" sz="2400" b="1" dirty="0"/>
              <a:t>Cancel the job</a:t>
            </a:r>
          </a:p>
          <a:p>
            <a:pPr marL="0" indent="0">
              <a:buNone/>
            </a:pPr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184315868"/>
      </p:ext>
    </p:extLst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252523" y="1147762"/>
            <a:ext cx="8638954" cy="762000"/>
          </a:xfrm>
        </p:spPr>
        <p:txBody>
          <a:bodyPr/>
          <a:lstStyle/>
          <a:p>
            <a:pPr algn="ctr" eaLnBrk="1" hangingPunct="1"/>
            <a:r>
              <a:rPr lang="en-US" sz="4000" b="1" dirty="0">
                <a:solidFill>
                  <a:srgbClr val="990000"/>
                </a:solidFill>
                <a:latin typeface="+mn-lt"/>
              </a:rPr>
              <a:t>Hands On #4: Open OnDemand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47846" y="1909762"/>
            <a:ext cx="9048308" cy="4876800"/>
          </a:xfrm>
        </p:spPr>
        <p:txBody>
          <a:bodyPr/>
          <a:lstStyle/>
          <a:p>
            <a:r>
              <a:rPr lang="en-US" sz="2400" u="sng" dirty="0"/>
              <a:t>Creating a job template</a:t>
            </a:r>
          </a:p>
          <a:p>
            <a:pPr lvl="1"/>
            <a:r>
              <a:rPr lang="en-US" sz="2000" dirty="0"/>
              <a:t>CHPC provides several job templates</a:t>
            </a:r>
          </a:p>
          <a:p>
            <a:pPr lvl="1"/>
            <a:r>
              <a:rPr lang="en-US" sz="2000" dirty="0"/>
              <a:t>You can create your own template</a:t>
            </a:r>
          </a:p>
          <a:p>
            <a:pPr lvl="2"/>
            <a:r>
              <a:rPr lang="en-US" sz="1600" dirty="0"/>
              <a:t>Only accessible to you</a:t>
            </a:r>
            <a:endParaRPr lang="en-US" sz="2400" dirty="0"/>
          </a:p>
          <a:p>
            <a:r>
              <a:rPr lang="en-US" sz="2400" b="1" dirty="0"/>
              <a:t>Select job </a:t>
            </a:r>
            <a:r>
              <a:rPr lang="en-US" sz="2400" dirty="0"/>
              <a:t>that just ran</a:t>
            </a:r>
          </a:p>
          <a:p>
            <a:r>
              <a:rPr lang="en-US" sz="2400" dirty="0"/>
              <a:t>Click ‘</a:t>
            </a:r>
            <a:r>
              <a:rPr lang="en-US" sz="2400" b="1" dirty="0"/>
              <a:t>create template</a:t>
            </a:r>
            <a:r>
              <a:rPr lang="en-US" sz="2400" dirty="0"/>
              <a:t>’</a:t>
            </a:r>
          </a:p>
          <a:p>
            <a:r>
              <a:rPr lang="en-US" sz="2400" b="1" dirty="0"/>
              <a:t>Fill in fields</a:t>
            </a:r>
          </a:p>
          <a:p>
            <a:r>
              <a:rPr lang="en-US" sz="2400" dirty="0"/>
              <a:t>View your new </a:t>
            </a:r>
            <a:r>
              <a:rPr lang="en-US" sz="2400" dirty="0" err="1"/>
              <a:t>Slurm</a:t>
            </a:r>
            <a:r>
              <a:rPr lang="en-US" sz="2400" dirty="0"/>
              <a:t> template!</a:t>
            </a:r>
          </a:p>
          <a:p>
            <a:endParaRPr lang="en-US" sz="2400" dirty="0"/>
          </a:p>
          <a:p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550151731"/>
      </p:ext>
    </p:extLst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252523" y="1147762"/>
            <a:ext cx="8638954" cy="762000"/>
          </a:xfrm>
        </p:spPr>
        <p:txBody>
          <a:bodyPr/>
          <a:lstStyle/>
          <a:p>
            <a:pPr algn="ctr" eaLnBrk="1" hangingPunct="1"/>
            <a:r>
              <a:rPr lang="en-US" sz="4000" b="1" dirty="0">
                <a:solidFill>
                  <a:srgbClr val="990000"/>
                </a:solidFill>
                <a:latin typeface="+mn-lt"/>
              </a:rPr>
              <a:t>Hands On #4: Open OnDemand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47846" y="1909762"/>
            <a:ext cx="9048308" cy="4876800"/>
          </a:xfrm>
        </p:spPr>
        <p:txBody>
          <a:bodyPr/>
          <a:lstStyle/>
          <a:p>
            <a:r>
              <a:rPr lang="en-US" sz="2400" dirty="0"/>
              <a:t>Interested in learning more about Open OnDemand?</a:t>
            </a:r>
          </a:p>
          <a:p>
            <a:r>
              <a:rPr lang="en-US" sz="2400" dirty="0"/>
              <a:t>We give presentations on it every semester.</a:t>
            </a:r>
          </a:p>
          <a:p>
            <a:r>
              <a:rPr lang="en-US" sz="2400" dirty="0"/>
              <a:t>You can find slides and information here: </a:t>
            </a:r>
            <a:r>
              <a:rPr lang="en-US" sz="2400" dirty="0">
                <a:hlinkClick r:id="rId3"/>
              </a:rPr>
              <a:t>https://www.chpc.utah.edu/presentations/OpenOnDemand.php</a:t>
            </a:r>
            <a:endParaRPr lang="en-US" sz="2400"/>
          </a:p>
          <a:p>
            <a:pPr marL="0" indent="0">
              <a:buNone/>
            </a:pPr>
            <a:endParaRPr lang="en-US" sz="2400" dirty="0"/>
          </a:p>
          <a:p>
            <a:endParaRPr lang="en-US" sz="2400" dirty="0"/>
          </a:p>
          <a:p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928656804"/>
      </p:ext>
    </p:extLst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43000"/>
            <a:ext cx="8153400" cy="762000"/>
          </a:xfrm>
        </p:spPr>
        <p:txBody>
          <a:bodyPr/>
          <a:lstStyle/>
          <a:p>
            <a:pPr algn="ctr" eaLnBrk="1" hangingPunct="1"/>
            <a:r>
              <a:rPr lang="en-US" sz="4000" b="1" dirty="0" err="1">
                <a:solidFill>
                  <a:srgbClr val="990000"/>
                </a:solidFill>
                <a:latin typeface="+mn-lt"/>
              </a:rPr>
              <a:t>Slurm</a:t>
            </a:r>
            <a:r>
              <a:rPr lang="en-US" sz="4000" b="1" dirty="0">
                <a:solidFill>
                  <a:srgbClr val="990000"/>
                </a:solidFill>
                <a:latin typeface="+mn-lt"/>
              </a:rPr>
              <a:t> Documentation at CHPC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0" y="1909354"/>
            <a:ext cx="9144000" cy="4567646"/>
          </a:xfrm>
        </p:spPr>
        <p:txBody>
          <a:bodyPr/>
          <a:lstStyle/>
          <a:p>
            <a:pPr marL="0" indent="0">
              <a:buNone/>
            </a:pPr>
            <a:r>
              <a:rPr lang="en-US" sz="2200" dirty="0">
                <a:hlinkClick r:id="rId3"/>
              </a:rPr>
              <a:t>https://www.chpc.utah.edu/documentation/software/slurm.php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hlinkClick r:id="rId4"/>
              </a:rPr>
              <a:t>https://www.chpc.utah.edu/documentation/software/serial-jobs.php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hlinkClick r:id="rId5"/>
              </a:rPr>
              <a:t>https://www.chpc.utah.edu/documentation/software/node-sharing.php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hlinkClick r:id="rId6"/>
              </a:rPr>
              <a:t>https://www.chpc.utah.edu/usage/constraints/</a:t>
            </a:r>
            <a:r>
              <a:rPr lang="en-US" sz="2200" dirty="0"/>
              <a:t> </a:t>
            </a:r>
          </a:p>
          <a:p>
            <a:pPr marL="0" indent="0">
              <a:buNone/>
            </a:pPr>
            <a:r>
              <a:rPr lang="en-US" sz="2200" dirty="0">
                <a:hlinkClick r:id="rId7"/>
              </a:rPr>
              <a:t>https://www.chpc.utah.edu/documentation/guides/index.php#GenSlurm</a:t>
            </a:r>
            <a:r>
              <a:rPr lang="en-US" sz="2200" dirty="0"/>
              <a:t> 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990000"/>
                </a:solidFill>
              </a:rPr>
              <a:t>Other good documentation sources</a:t>
            </a:r>
          </a:p>
          <a:p>
            <a:pPr marL="0" indent="0">
              <a:buNone/>
            </a:pPr>
            <a:r>
              <a:rPr lang="en-US" sz="2200" dirty="0">
                <a:hlinkClick r:id="rId8"/>
              </a:rPr>
              <a:t>http://slurm.schedmd.com/documentation.html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hlinkClick r:id="rId9"/>
              </a:rPr>
              <a:t>http://slurm.schedmd.com/pdfs/summary.pdf</a:t>
            </a:r>
            <a:endParaRPr lang="en-US" sz="2200" dirty="0"/>
          </a:p>
          <a:p>
            <a:pPr marL="0" indent="0">
              <a:buNone/>
            </a:pPr>
            <a:r>
              <a:rPr lang="en-US" sz="2200" u="sng" dirty="0">
                <a:hlinkClick r:id="rId10"/>
              </a:rPr>
              <a:t>http://www.schedmd.com/slurmdocs/rosetta.pdf</a:t>
            </a:r>
            <a:r>
              <a:rPr lang="en-US" sz="2800" dirty="0"/>
              <a:t> </a:t>
            </a:r>
          </a:p>
          <a:p>
            <a:pPr marL="0" indent="0" eaLnBrk="1" hangingPunct="1"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66336807"/>
      </p:ext>
    </p:extLst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sz="4000" b="1" dirty="0">
                <a:solidFill>
                  <a:srgbClr val="990000"/>
                </a:solidFill>
                <a:latin typeface="+mn-lt"/>
              </a:rPr>
              <a:t>Getting Help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>
          <a:xfrm>
            <a:off x="76200" y="1981200"/>
            <a:ext cx="9067800" cy="4267200"/>
          </a:xfrm>
        </p:spPr>
        <p:txBody>
          <a:bodyPr/>
          <a:lstStyle/>
          <a:p>
            <a:pPr eaLnBrk="1" hangingPunct="1"/>
            <a:r>
              <a:rPr lang="en-US" sz="2800" dirty="0"/>
              <a:t>CHPC website documentation</a:t>
            </a:r>
          </a:p>
          <a:p>
            <a:pPr lvl="1" eaLnBrk="1" hangingPunct="1"/>
            <a:r>
              <a:rPr lang="en-US" sz="2400" dirty="0">
                <a:hlinkClick r:id="rId3"/>
              </a:rPr>
              <a:t>www.chpc.utah.edu</a:t>
            </a:r>
            <a:endParaRPr lang="en-US" sz="2400" dirty="0"/>
          </a:p>
          <a:p>
            <a:pPr lvl="2" eaLnBrk="1" hangingPunct="1"/>
            <a:r>
              <a:rPr lang="en-US" sz="2200" dirty="0"/>
              <a:t>Getting started guide, cluster usage guides, software manual pages, CHPC policies</a:t>
            </a:r>
          </a:p>
          <a:p>
            <a:pPr eaLnBrk="1" hangingPunct="1"/>
            <a:r>
              <a:rPr lang="en-US" sz="2800" dirty="0"/>
              <a:t>Email: </a:t>
            </a:r>
            <a:r>
              <a:rPr lang="en-US" sz="2800" dirty="0">
                <a:hlinkClick r:id="rId4"/>
              </a:rPr>
              <a:t>helpdesk@chpc.utah.edu</a:t>
            </a:r>
            <a:r>
              <a:rPr lang="en-US" sz="2800" dirty="0"/>
              <a:t> </a:t>
            </a:r>
          </a:p>
          <a:p>
            <a:pPr eaLnBrk="1" hangingPunct="1"/>
            <a:r>
              <a:rPr lang="en-US" sz="2800" dirty="0"/>
              <a:t>Help Desk: 405 INSCC</a:t>
            </a:r>
          </a:p>
          <a:p>
            <a:pPr eaLnBrk="1" hangingPunct="1"/>
            <a:r>
              <a:rPr lang="en-US" sz="2800" dirty="0"/>
              <a:t>We use </a:t>
            </a:r>
            <a:r>
              <a:rPr lang="en-US" sz="2800" dirty="0">
                <a:hlinkClick r:id="rId5"/>
              </a:rPr>
              <a:t>chpc-hpc-users@lists.utah.edu</a:t>
            </a:r>
            <a:r>
              <a:rPr lang="en-US" sz="2800" dirty="0"/>
              <a:t> for sending messages to users</a:t>
            </a:r>
          </a:p>
          <a:p>
            <a:pPr marL="0" indent="0" eaLnBrk="1" hangingPunct="1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42098590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Web Style Gray">
  <a:themeElements>
    <a:clrScheme name="">
      <a:dk1>
        <a:srgbClr val="545454"/>
      </a:dk1>
      <a:lt1>
        <a:srgbClr val="FFFFFF"/>
      </a:lt1>
      <a:dk2>
        <a:srgbClr val="545454"/>
      </a:dk2>
      <a:lt2>
        <a:srgbClr val="808080"/>
      </a:lt2>
      <a:accent1>
        <a:srgbClr val="DC9A4C"/>
      </a:accent1>
      <a:accent2>
        <a:srgbClr val="7F1603"/>
      </a:accent2>
      <a:accent3>
        <a:srgbClr val="FFFFFF"/>
      </a:accent3>
      <a:accent4>
        <a:srgbClr val="464646"/>
      </a:accent4>
      <a:accent5>
        <a:srgbClr val="EBCAB2"/>
      </a:accent5>
      <a:accent6>
        <a:srgbClr val="721302"/>
      </a:accent6>
      <a:hlink>
        <a:srgbClr val="687435"/>
      </a:hlink>
      <a:folHlink>
        <a:srgbClr val="677B85"/>
      </a:folHlink>
    </a:clrScheme>
    <a:fontScheme name="Blank Presentation">
      <a:majorFont>
        <a:latin typeface="Times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Arial" charset="0"/>
            <a:cs typeface="Arial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44390</TotalTime>
  <Words>6328</Words>
  <Application>Microsoft Macintosh PowerPoint</Application>
  <PresentationFormat>On-screen Show (4:3)</PresentationFormat>
  <Paragraphs>1007</Paragraphs>
  <Slides>55</Slides>
  <Notes>54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2" baseType="lpstr">
      <vt:lpstr>Arial</vt:lpstr>
      <vt:lpstr>Arial (Body)</vt:lpstr>
      <vt:lpstr>Consolas</vt:lpstr>
      <vt:lpstr>Courier</vt:lpstr>
      <vt:lpstr>Times</vt:lpstr>
      <vt:lpstr>Wingdings</vt:lpstr>
      <vt:lpstr>Web Style Gray</vt:lpstr>
      <vt:lpstr>Running Jobs at the CHPC with Slurm</vt:lpstr>
      <vt:lpstr>Overview of Talk</vt:lpstr>
      <vt:lpstr>Overview of Talk</vt:lpstr>
      <vt:lpstr>Re-cap of Resources</vt:lpstr>
      <vt:lpstr>What is Slurm?</vt:lpstr>
      <vt:lpstr>What is Slurm …and why use it? </vt:lpstr>
      <vt:lpstr>PowerPoint Presentation</vt:lpstr>
      <vt:lpstr>PowerPoint Presentation</vt:lpstr>
      <vt:lpstr>Overview of Talk</vt:lpstr>
      <vt:lpstr>PowerPoint Presentation</vt:lpstr>
      <vt:lpstr>PowerPoint Presentation</vt:lpstr>
      <vt:lpstr>Preparing a Slurm Job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SLURM Environment Variables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Basic SLURM commands </vt:lpstr>
      <vt:lpstr>Basic SLURM commands </vt:lpstr>
      <vt:lpstr>Basic SLURM commands </vt:lpstr>
      <vt:lpstr>Overview of Talk</vt:lpstr>
      <vt:lpstr>Getting Started</vt:lpstr>
      <vt:lpstr>Overview of Talk</vt:lpstr>
      <vt:lpstr>Example Dataset</vt:lpstr>
      <vt:lpstr>data_visualization.r</vt:lpstr>
      <vt:lpstr>Overview of Talk</vt:lpstr>
      <vt:lpstr>Overview of Talk</vt:lpstr>
      <vt:lpstr>Hands On #1: Batch Scripting</vt:lpstr>
      <vt:lpstr>Overview of Talk</vt:lpstr>
      <vt:lpstr>Hands On #2: Batch Scripting</vt:lpstr>
      <vt:lpstr>Hands On #2: Batch Scripting</vt:lpstr>
      <vt:lpstr>Overview of Talk</vt:lpstr>
      <vt:lpstr>Running interactive batch jobs</vt:lpstr>
      <vt:lpstr>Running interactive batch jobs</vt:lpstr>
      <vt:lpstr>Hands On #3: Start an Interactive Job</vt:lpstr>
      <vt:lpstr>Hands On #3: Start an Interactive Job</vt:lpstr>
      <vt:lpstr>Hands On #3: Start an Interactive Job</vt:lpstr>
      <vt:lpstr>Overview of Talk</vt:lpstr>
      <vt:lpstr>Open OnDemand</vt:lpstr>
      <vt:lpstr>Hands On #4: Open OnDemand</vt:lpstr>
      <vt:lpstr>Hands On #4: Open OnDemand</vt:lpstr>
      <vt:lpstr>Hands On #4: Open OnDemand</vt:lpstr>
      <vt:lpstr>Slurm Documentation at CHPC</vt:lpstr>
      <vt:lpstr>Getting Help</vt:lpstr>
    </vt:vector>
  </TitlesOfParts>
  <Company>University of Utah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CHPC</dc:title>
  <dc:creator>Julia D. Harrison</dc:creator>
  <cp:lastModifiedBy>Ashley Dederich</cp:lastModifiedBy>
  <cp:revision>849</cp:revision>
  <cp:lastPrinted>2009-09-10T16:21:29Z</cp:lastPrinted>
  <dcterms:created xsi:type="dcterms:W3CDTF">2009-09-09T14:21:18Z</dcterms:created>
  <dcterms:modified xsi:type="dcterms:W3CDTF">2025-01-14T23:53:58Z</dcterms:modified>
</cp:coreProperties>
</file>